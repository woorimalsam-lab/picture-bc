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Noto Sans KR" panose="020B0200000000000000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394448" y="1929854"/>
            <a:ext cx="34029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E67E22"/>
                </a:solidFill>
                <a:latin typeface="Noto Sans KR"/>
                <a:ea typeface="Noto Sans KR"/>
                <a:cs typeface="Noto Sans KR"/>
                <a:sym typeface="Noto Sans KR"/>
              </a:rPr>
              <a:t>부천 토론교육 연구회 2단계</a:t>
            </a:r>
            <a:endParaRPr sz="1700"/>
          </a:p>
        </p:txBody>
      </p:sp>
      <p:sp>
        <p:nvSpPr>
          <p:cNvPr id="86" name="Google Shape;86;p13"/>
          <p:cNvSpPr txBox="1"/>
          <p:nvPr/>
        </p:nvSpPr>
        <p:spPr>
          <a:xfrm>
            <a:off x="3195637" y="2474565"/>
            <a:ext cx="58007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그림책으로 여는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따뜻한 토론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88900" y="4745215"/>
            <a:ext cx="4870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7F8C8D"/>
                </a:solidFill>
                <a:latin typeface="Noto Sans KR"/>
                <a:ea typeface="Noto Sans KR"/>
                <a:cs typeface="Noto Sans KR"/>
                <a:sym typeface="Noto Sans KR"/>
              </a:rPr>
              <a:t>공감과 성장을 위한 그림책 읽기와 토론 전략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25" y="-782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725" y="1843496"/>
            <a:ext cx="5143500" cy="259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5225" y="1843496"/>
            <a:ext cx="5143500" cy="25961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71725" y="2224496"/>
            <a:ext cx="46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논증적 말하기의 기본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71725" y="2795996"/>
            <a:ext cx="43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토론은 단순한 말하기가 아닙니다. 논증은 이유와 근거를 바탕으로 자신의 주장을 펼치는 고도의 지적 활동입니다.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96225" y="2224496"/>
            <a:ext cx="46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교사의 전문성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96225" y="2795996"/>
            <a:ext cx="43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반론과 재반론을 이끌어내기 위해 교사는 다양한 토론 기법을 숙지하고 적절한 논제를 설정해야 합니다.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토론은 과연 어렵기만 할까?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81175"/>
            <a:ext cx="4589264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781175"/>
            <a:ext cx="4589264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922702" y="2436911"/>
            <a:ext cx="5507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텍스트와 그림의 대위적 관계</a:t>
            </a:r>
            <a:endParaRPr sz="1800"/>
          </a:p>
        </p:txBody>
      </p:sp>
      <p:sp>
        <p:nvSpPr>
          <p:cNvPr id="108" name="Google Shape;108;p15"/>
          <p:cNvSpPr txBox="1"/>
          <p:nvPr/>
        </p:nvSpPr>
        <p:spPr>
          <a:xfrm>
            <a:off x="5606075" y="2981625"/>
            <a:ext cx="64488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그림책은 글과 그림이 서로를 단순히 반복하지 않고 보완하는 융합체. </a:t>
            </a:r>
            <a:endParaRPr sz="1650" b="0" i="0" u="none" strike="noStrike" cap="none">
              <a:solidFill>
                <a:srgbClr val="34495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독자의 연령과 방향에 따라 깊이 있는 선정이 가능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922764" y="4196655"/>
            <a:ext cx="5507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마음 열기</a:t>
            </a:r>
            <a:endParaRPr sz="1800"/>
          </a:p>
        </p:txBody>
      </p:sp>
      <p:sp>
        <p:nvSpPr>
          <p:cNvPr id="110" name="Google Shape;110;p15"/>
          <p:cNvSpPr txBox="1"/>
          <p:nvPr/>
        </p:nvSpPr>
        <p:spPr>
          <a:xfrm>
            <a:off x="5606075" y="4741375"/>
            <a:ext cx="5507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치열한 논리보다는 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그림책에 대한 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느낌과 감정을 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공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유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endParaRPr sz="1650" b="0" i="0" u="none" strike="noStrike" cap="none">
              <a:solidFill>
                <a:srgbClr val="34495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학생들의 생각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과 감정을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경청하려는 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자세가 필요함.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그림책 토론은 쉽고 친근합니다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59533"/>
            <a:ext cx="3365450" cy="292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59533"/>
            <a:ext cx="3365450" cy="292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59533"/>
            <a:ext cx="3365450" cy="292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59359" y="2754808"/>
            <a:ext cx="370582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87902" y="3421558"/>
            <a:ext cx="29136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부담 없는 대화</a:t>
            </a:r>
            <a:endParaRPr sz="1800"/>
          </a:p>
        </p:txBody>
      </p:sp>
      <p:sp>
        <p:nvSpPr>
          <p:cNvPr id="122" name="Google Shape;122;p16"/>
          <p:cNvSpPr txBox="1"/>
          <p:nvPr/>
        </p:nvSpPr>
        <p:spPr>
          <a:xfrm>
            <a:off x="835742" y="3878758"/>
            <a:ext cx="34375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치열한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논쟁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대신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자신의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이야기를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편안하게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꺼낼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있습니다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800"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0560" y="2754808"/>
            <a:ext cx="370582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39102" y="3421558"/>
            <a:ext cx="29136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지지와 격려</a:t>
            </a:r>
            <a:endParaRPr sz="1800"/>
          </a:p>
        </p:txBody>
      </p:sp>
      <p:sp>
        <p:nvSpPr>
          <p:cNvPr id="125" name="Google Shape;125;p16"/>
          <p:cNvSpPr txBox="1"/>
          <p:nvPr/>
        </p:nvSpPr>
        <p:spPr>
          <a:xfrm>
            <a:off x="4422724" y="3878758"/>
            <a:ext cx="349224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경청하는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동료들로부터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격려를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받으며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대화의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즐거움을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느낍니다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800" dirty="0"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61760" y="2754808"/>
            <a:ext cx="370582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290303" y="3421558"/>
            <a:ext cx="29136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발견의 기쁨</a:t>
            </a:r>
            <a:endParaRPr sz="1800"/>
          </a:p>
        </p:txBody>
      </p:sp>
      <p:sp>
        <p:nvSpPr>
          <p:cNvPr id="128" name="Google Shape;128;p16"/>
          <p:cNvSpPr txBox="1"/>
          <p:nvPr/>
        </p:nvSpPr>
        <p:spPr>
          <a:xfrm>
            <a:off x="8064400" y="3878758"/>
            <a:ext cx="3365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타인의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시선을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의미를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발견하는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재미가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있습니다</a:t>
            </a:r>
            <a:r>
              <a:rPr lang="en-US" sz="2000" b="0" i="0" u="none" strike="noStrike" cap="none" dirty="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80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그림책 토론은 왜 재미있을까?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3215639" y="1918394"/>
            <a:ext cx="576072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BF7"/>
                </a:solidFill>
                <a:latin typeface="Arial"/>
                <a:ea typeface="Arial"/>
                <a:cs typeface="Arial"/>
                <a:sym typeface="Arial"/>
              </a:rPr>
              <a:t>실전! 그림책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DFBF7"/>
                </a:solidFill>
                <a:latin typeface="Arial"/>
                <a:ea typeface="Arial"/>
                <a:cs typeface="Arial"/>
                <a:sym typeface="Arial"/>
              </a:rPr>
              <a:t> 어떻게 읽어야 할까?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619750" y="3861494"/>
            <a:ext cx="9525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901380" y="4394894"/>
            <a:ext cx="43890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표지부터 마지막 장까지, 질문을 품고 읽는 기술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2764" y="1781175"/>
            <a:ext cx="550723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143000" y="2135100"/>
            <a:ext cx="4678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앞표지와 뒤표지 함께 읽기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책 전체의 의미를 온전히 파악하기 위한 필수 과정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143000" y="3378696"/>
            <a:ext cx="42084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맞히기 활동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제목을 가린 채 그림만 보고 내용을 상상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해 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호기심을 유발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함.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143000" y="4622300"/>
            <a:ext cx="47361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정보 공유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 글·그림 작가와 출판사를 소개하며 배경 지식을 넓</a:t>
            </a:r>
            <a:r>
              <a:rPr lang="en-US" sz="1650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힘.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표지에서 시작하는 탐색</a:t>
            </a:r>
            <a:endParaRPr/>
          </a:p>
        </p:txBody>
      </p:sp>
      <p:pic>
        <p:nvPicPr>
          <p:cNvPr id="148" name="Google Shape;14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135088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78696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22303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8450" y="106575"/>
            <a:ext cx="5426250" cy="65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5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125" y="1785425"/>
            <a:ext cx="9268800" cy="43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379100" y="2543375"/>
            <a:ext cx="851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"그림은 글의 보조 수단이 아닌 독자적인 서사입니다."</a:t>
            </a:r>
            <a:endParaRPr sz="3000"/>
          </a:p>
        </p:txBody>
      </p:sp>
      <p:sp>
        <p:nvSpPr>
          <p:cNvPr id="159" name="Google Shape;159;p19"/>
          <p:cNvSpPr txBox="1"/>
          <p:nvPr/>
        </p:nvSpPr>
        <p:spPr>
          <a:xfrm>
            <a:off x="2398953" y="3505350"/>
            <a:ext cx="69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개인적인 경험을 그림과 연결하며 공감대 형성하기</a:t>
            </a:r>
            <a:endParaRPr sz="2400"/>
          </a:p>
        </p:txBody>
      </p:sp>
      <p:sp>
        <p:nvSpPr>
          <p:cNvPr id="160" name="Google Shape;160;p19"/>
          <p:cNvSpPr txBox="1"/>
          <p:nvPr/>
        </p:nvSpPr>
        <p:spPr>
          <a:xfrm>
            <a:off x="2398953" y="4078625"/>
            <a:ext cx="663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그림 속의 숨은 상징과 메타포를 함께 찾아보기</a:t>
            </a:r>
            <a:endParaRPr sz="2400"/>
          </a:p>
        </p:txBody>
      </p:sp>
      <p:sp>
        <p:nvSpPr>
          <p:cNvPr id="161" name="Google Shape;161;p19"/>
          <p:cNvSpPr txBox="1"/>
          <p:nvPr/>
        </p:nvSpPr>
        <p:spPr>
          <a:xfrm>
            <a:off x="2398952" y="4651925"/>
            <a:ext cx="6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장면 전환에 따른 감정의 변화를 세밀하게 관찰하기</a:t>
            </a:r>
            <a:endParaRPr sz="2400"/>
          </a:p>
        </p:txBody>
      </p:sp>
      <p:sp>
        <p:nvSpPr>
          <p:cNvPr id="162" name="Google Shape;162;p19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그림이 갖는 의미 파악하기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7938" y="3505348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7938" y="4078634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7938" y="4651920"/>
            <a:ext cx="16311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3775710" y="1918394"/>
            <a:ext cx="464058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BF7"/>
                </a:solidFill>
                <a:latin typeface="Arial"/>
                <a:ea typeface="Arial"/>
                <a:cs typeface="Arial"/>
                <a:sym typeface="Arial"/>
              </a:rPr>
              <a:t>그림책 토론으로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DFBF7"/>
                </a:solidFill>
                <a:latin typeface="Arial"/>
                <a:ea typeface="Arial"/>
                <a:cs typeface="Arial"/>
                <a:sym typeface="Arial"/>
              </a:rPr>
              <a:t> 얻게 되는 것들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619750" y="3861494"/>
            <a:ext cx="9525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930013" y="4394894"/>
            <a:ext cx="657778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학생들과</a:t>
            </a:r>
            <a:r>
              <a:rPr lang="en-US" sz="2800" dirty="0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교사가</a:t>
            </a:r>
            <a:r>
              <a:rPr lang="en-US" sz="2800" dirty="0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함께</a:t>
            </a:r>
            <a:r>
              <a:rPr lang="en-US" sz="2800" dirty="0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배우고</a:t>
            </a:r>
            <a:r>
              <a:rPr lang="en-US" sz="2800" dirty="0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성장하는</a:t>
            </a:r>
            <a:r>
              <a:rPr lang="en-US" sz="2800" dirty="0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dirty="0" err="1">
                <a:solidFill>
                  <a:srgbClr val="BDC3C7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93801"/>
            <a:ext cx="5143500" cy="2260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93801"/>
            <a:ext cx="5143500" cy="22609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143000" y="3174801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자존감 (Self-esteem)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143000" y="3746301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토론을 통해 자신을 다시 관찰하고 받아들이며, 스스로를 존중하는 힘을 기릅니다.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667500" y="3174801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공감력 (Empathy)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667500" y="3746301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나를 넘어 타인의 차이를 인식하고 다름을 인정하며, 진정으로 소통하는 법을 배웁니다.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나를 존중하고 너와 연결되기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3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15026"/>
            <a:ext cx="5143500" cy="2260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175" y="1415026"/>
            <a:ext cx="5143500" cy="2260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143000" y="1594551"/>
            <a:ext cx="46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사고력 (Thinking Skill)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143000" y="2215364"/>
            <a:ext cx="43815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느낌을 넘어 텍스트와 대화를 통해 논리적이고 입체적인 사고를 확장합니다.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337175" y="1632576"/>
            <a:ext cx="46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문제 해결력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446675" y="2210364"/>
            <a:ext cx="43815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oto Sans KR"/>
                <a:ea typeface="Noto Sans KR"/>
                <a:cs typeface="Noto Sans KR"/>
                <a:sym typeface="Noto Sans KR"/>
              </a:rPr>
              <a:t>삶 속의 문제를 발견하고 이를 해결할 수 있는 과정을 탐색하며 실천 의지를 다집니다.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생각하는 힘과 문제 해결</a:t>
            </a:r>
            <a:endParaRPr/>
          </a:p>
        </p:txBody>
      </p:sp>
      <p:pic>
        <p:nvPicPr>
          <p:cNvPr id="198" name="Google Shape;1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9500" y="4102375"/>
            <a:ext cx="5938975" cy="22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3473475" y="4370176"/>
            <a:ext cx="46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67E22"/>
                </a:solidFill>
              </a:rPr>
              <a:t>공동체 의식의 함양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3509400" y="5051519"/>
            <a:ext cx="10668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나와 너의 이야기를 넘어 우리의 이야기에 관심을 갖게 되며,</a:t>
            </a:r>
            <a:br>
              <a:rPr lang="en-US"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궁극적으로 함께 살아가는 가치를 깨닫게 됩니다.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와이드스크린</PresentationFormat>
  <Paragraphs>47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수연 김</cp:lastModifiedBy>
  <cp:revision>1</cp:revision>
  <dcterms:modified xsi:type="dcterms:W3CDTF">2026-04-08T15:05:08Z</dcterms:modified>
</cp:coreProperties>
</file>