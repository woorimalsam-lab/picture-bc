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Noto Sans KR" panose="020B0200000000000000" pitchFamily="50" charset="-12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FD05FF-A029-43AC-A30D-3B3ADABD3D9E}">
  <a:tblStyle styleId="{6DFD05FF-A029-43AC-A30D-3B3ADABD3D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02cfee7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de02cfee7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02cfee7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e02cfee7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80010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22222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그림책(브리타 테켄트럽의 ‘빨간 벽’) 토론하기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1394370"/>
            <a:ext cx="1120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'빨간 벽'과 함께하는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이유 찾기 토론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737520"/>
            <a:ext cx="952500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061370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자존감을 높이고 내면의 두려움의 벽을 허무는 여정</a:t>
            </a:r>
            <a:endParaRPr sz="1700" b="1"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33402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심원고_김수연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22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586412" y="2226022"/>
            <a:ext cx="10191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STEP 01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400425" y="2919412"/>
            <a:ext cx="566070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마음 열기: 관찰과 추론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0" y="3824287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838575" y="4205287"/>
            <a:ext cx="45148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겉표지 속 동물들의 내면을 들여다봅니다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1440" y="1128116"/>
            <a:ext cx="12283440" cy="4906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" name="Google Shape;105;p15"/>
          <p:cNvGraphicFramePr/>
          <p:nvPr/>
        </p:nvGraphicFramePr>
        <p:xfrm>
          <a:off x="152400" y="152400"/>
          <a:ext cx="36957000" cy="411450"/>
        </p:xfrm>
        <a:graphic>
          <a:graphicData uri="http://schemas.openxmlformats.org/drawingml/2006/table">
            <a:tbl>
              <a:tblPr>
                <a:noFill/>
                <a:tableStyleId>{6DFD05FF-A029-43AC-A30D-3B3ADABD3D9E}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3850">
                <a:tc gridSpan="1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그림책 겉표지 보고 등장하는 동물의 내면을 대략 추론해보기</a:t>
                      </a:r>
                      <a:endParaRPr sz="15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319498"/>
            <a:ext cx="50482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 '빨간 벽' 소개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62000" y="215637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"빨간 벽은 항상 그곳에 있었어요."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62000" y="2651670"/>
            <a:ext cx="50482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이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책은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꼬마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생쥐가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마을을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둘러싼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거대한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빨간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벽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너머를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궁금해하며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시작됩니다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우리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모두의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마음속에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있는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'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두려움'과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'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선입견'을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상징하는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이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벽을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본래의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나를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찾는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과정을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탐구합니다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066800" y="4561683"/>
            <a:ext cx="4438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질문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나를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가두고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있는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'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빨간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벽'을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넘어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본래의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나를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찾으려면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필요할까요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70645"/>
            <a:ext cx="50482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70645"/>
            <a:ext cx="50482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등장 동물의 마음 관찰하기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057275" y="2365920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관찰 가이드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057274" y="2813595"/>
            <a:ext cx="46805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겉표지를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가만히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살펴보고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등장하는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동물들의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표정과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몸짓을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세밀하게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관찰해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보세요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6667500" y="2356395"/>
            <a:ext cx="47005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내면 추론하기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667500" y="280407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동물들의 내면(마음 상태)은 어떠할지 적어봅시다.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667500" y="3394620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( 생쥐 )의 마음: ____________________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667500" y="3794670"/>
            <a:ext cx="44767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667500" y="4089945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( 사자 )의 마음: ____________________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667500" y="4489995"/>
            <a:ext cx="44767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667500" y="4785270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( 곰 )의 마음: ____________________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667500" y="5185320"/>
            <a:ext cx="44767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42307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390650" y="3613695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꼬마 생쥐의 호기심 어린 눈빛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390650" y="4108995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사자와 곰의 굳게 다문 입술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390650" y="4604295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동물들의 움츠러든 어깨 모양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2413545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365655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415185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464715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등장 동물의 마음 </a:t>
            </a:r>
            <a:r>
              <a:rPr lang="en-US" sz="33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질문하기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62000" y="571500"/>
            <a:ext cx="76200" cy="5028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150" y="571500"/>
            <a:ext cx="5890924" cy="671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800" y="1240575"/>
            <a:ext cx="4802350" cy="5690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22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586412" y="2226022"/>
            <a:ext cx="10191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STEP 02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3138487" y="2919412"/>
            <a:ext cx="6210776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만들기: 탐구와 공감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715000" y="3824287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048125" y="4205287"/>
            <a:ext cx="40957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닫힌 마음과 두려움의 벽에 대한 질문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642395"/>
            <a:ext cx="10668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03945"/>
            <a:ext cx="33654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1803945"/>
            <a:ext cx="33654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1803945"/>
            <a:ext cx="3365599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두려움에 주목한 질문 생성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066800" y="5137695"/>
            <a:ext cx="10058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[활동]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나만의 질문을 만들어 보세요: ____________________________________________________?</a:t>
            </a:r>
            <a:endParaRPr/>
          </a:p>
        </p:txBody>
      </p:sp>
      <p:pic>
        <p:nvPicPr>
          <p:cNvPr id="175" name="Google Shape;17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96417" y="219447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987902" y="2765970"/>
            <a:ext cx="29136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닫힌 마음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057275" y="3261270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사자와 곰은 왜 벽 너머를 궁금해하지 않을까요?</a:t>
            </a:r>
            <a:endParaRPr/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47618" y="219447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39102" y="2765970"/>
            <a:ext cx="29136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두려움의 실체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708475" y="3261270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동물들이 벽 너머에 대해 느끼는 공포는 어디서 온 걸까요?</a:t>
            </a:r>
            <a:endParaRPr/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98967" y="219447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290299" y="2765970"/>
            <a:ext cx="291380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대화의 단절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359675" y="3261270"/>
            <a:ext cx="2775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생쥐의 질문에 동물들은 왜 화를 내거나 회피할까요?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22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5586412" y="2226022"/>
            <a:ext cx="10191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STEP 03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3057525" y="2919412"/>
            <a:ext cx="638079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이유 찾기 토론: 심층 탐구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0" y="3824287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838575" y="4205287"/>
            <a:ext cx="45148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연속적인 질문을 통해 본질에 다가갑니다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84945"/>
            <a:ext cx="50482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4945"/>
            <a:ext cx="50482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46995"/>
            <a:ext cx="5048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346995"/>
            <a:ext cx="50482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그럴까? 심층 토론 구조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762000" y="506149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※ 토론을 통해 내면의 상처, 두려움, 불안감이 자연스럽게 드러나게 됩니다.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62000" y="2413545"/>
            <a:ext cx="53006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생각하는 이유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762000" y="285169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질문에 대해 스스로 논증적 근거를 찾아봅니다.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81750" y="2413545"/>
            <a:ext cx="53006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경청과 발견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381750" y="285169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상대방의 의견을 듣고 새롭게 알게 된 사실을 정리합니다.</a:t>
            </a:r>
            <a:endParaRPr/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451645"/>
            <a:ext cx="138707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2451645"/>
            <a:ext cx="138707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22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586412" y="2226022"/>
            <a:ext cx="10191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STEP 04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795587" y="2919412"/>
            <a:ext cx="6930866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내 안의 벽 알아차리기: 성찰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715000" y="3824287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4095750" y="4205287"/>
            <a:ext cx="4000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나를 가두고 있는 '빨간 벽' 마주하기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18618"/>
            <a:ext cx="5048250" cy="270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나의 빨간 벽은 무엇인가요?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7665987" y="3032968"/>
            <a:ext cx="2479774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[솔직한 마주함]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나열식으로도 괜찮습니다.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나를 가두는 벽의 이름들을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적어보세요.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1095375" y="2671018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실패에 대한 두려움: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"하면 안 될 거야"라는 부정적 예단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1095375" y="3166318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타인의 시선: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남들이 나를 어떻게 볼까 하는 불안감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095375" y="3661618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과거의 상처: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다시 아플까 봐 시도하지 못하는 마음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095375" y="4156918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변화에 대한 거부: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익숙한 지금이 안전하다는 착각</a:t>
            </a:r>
            <a:endParaRPr/>
          </a:p>
        </p:txBody>
      </p:sp>
      <p:pic>
        <p:nvPicPr>
          <p:cNvPr id="233" name="Google Shape;23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0435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9965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69495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19025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4250" y="68580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22200"/>
            <a:ext cx="5663926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952500" y="762000"/>
            <a:ext cx="5328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변화된 나의 모습 </a:t>
            </a:r>
            <a:r>
              <a:rPr lang="en-US" sz="2900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2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글+그림)</a:t>
            </a:r>
            <a:endParaRPr sz="1000"/>
          </a:p>
        </p:txBody>
      </p:sp>
      <p:sp>
        <p:nvSpPr>
          <p:cNvPr id="244" name="Google Shape;244;p25"/>
          <p:cNvSpPr/>
          <p:nvPr/>
        </p:nvSpPr>
        <p:spPr>
          <a:xfrm>
            <a:off x="762000" y="762000"/>
            <a:ext cx="76200" cy="50289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431375" y="1836400"/>
            <a:ext cx="626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벽 너머로 나아갔을 때, 당신의 세상은 어떻게 변할까요?</a:t>
            </a:r>
            <a:endParaRPr sz="2000"/>
          </a:p>
        </p:txBody>
      </p:sp>
      <p:sp>
        <p:nvSpPr>
          <p:cNvPr id="246" name="Google Shape;246;p25"/>
          <p:cNvSpPr txBox="1"/>
          <p:nvPr/>
        </p:nvSpPr>
        <p:spPr>
          <a:xfrm>
            <a:off x="1066800" y="3017500"/>
            <a:ext cx="50823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[다섯 줄 프리 라이팅]</a:t>
            </a:r>
            <a:b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 의식의 흐름대로 자유롭게 정리해 보세요.</a:t>
            </a:r>
            <a:endParaRPr sz="1800"/>
          </a:p>
        </p:txBody>
      </p:sp>
      <p:sp>
        <p:nvSpPr>
          <p:cNvPr id="247" name="Google Shape;247;p25"/>
          <p:cNvSpPr txBox="1"/>
          <p:nvPr/>
        </p:nvSpPr>
        <p:spPr>
          <a:xfrm>
            <a:off x="762000" y="4557990"/>
            <a:ext cx="48006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4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자존감 높이기</a:t>
            </a:r>
            <a:endParaRPr sz="2400"/>
          </a:p>
        </p:txBody>
      </p:sp>
      <p:sp>
        <p:nvSpPr>
          <p:cNvPr id="248" name="Google Shape;248;p25"/>
          <p:cNvSpPr txBox="1"/>
          <p:nvPr/>
        </p:nvSpPr>
        <p:spPr>
          <a:xfrm>
            <a:off x="762000" y="5063800"/>
            <a:ext cx="58710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변화된 나에게 보내는 편지, 내가 추구하는 가치를 적어보며 자신을 인식하고 객관화</a:t>
            </a:r>
            <a:r>
              <a:rPr lang="en-US" sz="240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하기.</a:t>
            </a:r>
            <a:endParaRPr sz="2300"/>
          </a:p>
        </p:txBody>
      </p:sp>
      <p:pic>
        <p:nvPicPr>
          <p:cNvPr id="249" name="Google Shape;24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65290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7625" y="182475"/>
            <a:ext cx="5082224" cy="65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25" y="37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495300" y="571500"/>
            <a:ext cx="11201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그림책 토론이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50" b="1" i="0" u="none" strike="noStrike" cap="none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우리에게 남기는 것들</a:t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5619750" y="2228850"/>
            <a:ext cx="952500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213975" y="2850500"/>
            <a:ext cx="393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22222"/>
                </a:solidFill>
                <a:latin typeface="Noto Sans KR"/>
                <a:ea typeface="Noto Sans KR"/>
                <a:cs typeface="Noto Sans KR"/>
                <a:sym typeface="Noto Sans KR"/>
              </a:rPr>
              <a:t>자존감</a:t>
            </a:r>
            <a:endParaRPr sz="2600"/>
          </a:p>
        </p:txBody>
      </p:sp>
      <p:sp>
        <p:nvSpPr>
          <p:cNvPr id="259" name="Google Shape;259;p26"/>
          <p:cNvSpPr txBox="1"/>
          <p:nvPr/>
        </p:nvSpPr>
        <p:spPr>
          <a:xfrm>
            <a:off x="307625" y="3281659"/>
            <a:ext cx="374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자신을 알아가고 수용하기</a:t>
            </a:r>
            <a:endParaRPr sz="2600"/>
          </a:p>
        </p:txBody>
      </p:sp>
      <p:sp>
        <p:nvSpPr>
          <p:cNvPr id="260" name="Google Shape;260;p26"/>
          <p:cNvSpPr txBox="1"/>
          <p:nvPr/>
        </p:nvSpPr>
        <p:spPr>
          <a:xfrm>
            <a:off x="4277980" y="2850500"/>
            <a:ext cx="393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22222"/>
                </a:solidFill>
                <a:latin typeface="Noto Sans KR"/>
                <a:ea typeface="Noto Sans KR"/>
                <a:cs typeface="Noto Sans KR"/>
                <a:sym typeface="Noto Sans KR"/>
              </a:rPr>
              <a:t>공감력</a:t>
            </a:r>
            <a:endParaRPr sz="2600"/>
          </a:p>
        </p:txBody>
      </p:sp>
      <p:sp>
        <p:nvSpPr>
          <p:cNvPr id="261" name="Google Shape;261;p26"/>
          <p:cNvSpPr txBox="1"/>
          <p:nvPr/>
        </p:nvSpPr>
        <p:spPr>
          <a:xfrm>
            <a:off x="4371629" y="3281659"/>
            <a:ext cx="374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타인과의 차이를 인정하기</a:t>
            </a:r>
            <a:endParaRPr sz="2600"/>
          </a:p>
        </p:txBody>
      </p:sp>
      <p:sp>
        <p:nvSpPr>
          <p:cNvPr id="262" name="Google Shape;262;p26"/>
          <p:cNvSpPr txBox="1"/>
          <p:nvPr/>
        </p:nvSpPr>
        <p:spPr>
          <a:xfrm>
            <a:off x="8341979" y="2850500"/>
            <a:ext cx="393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22222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해결력</a:t>
            </a:r>
            <a:endParaRPr sz="2600"/>
          </a:p>
        </p:txBody>
      </p:sp>
      <p:sp>
        <p:nvSpPr>
          <p:cNvPr id="263" name="Google Shape;263;p26"/>
          <p:cNvSpPr txBox="1"/>
          <p:nvPr/>
        </p:nvSpPr>
        <p:spPr>
          <a:xfrm>
            <a:off x="8435632" y="3281659"/>
            <a:ext cx="374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삶의 해법을 찾아가기</a:t>
            </a:r>
            <a:endParaRPr sz="2600"/>
          </a:p>
        </p:txBody>
      </p:sp>
      <p:sp>
        <p:nvSpPr>
          <p:cNvPr id="264" name="Google Shape;264;p26"/>
          <p:cNvSpPr txBox="1"/>
          <p:nvPr/>
        </p:nvSpPr>
        <p:spPr>
          <a:xfrm>
            <a:off x="4053430" y="5415225"/>
            <a:ext cx="393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22222"/>
                </a:solidFill>
                <a:latin typeface="Noto Sans KR"/>
                <a:ea typeface="Noto Sans KR"/>
                <a:cs typeface="Noto Sans KR"/>
                <a:sym typeface="Noto Sans KR"/>
              </a:rPr>
              <a:t>실습해 볼까요?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와이드스크린</PresentationFormat>
  <Paragraphs>68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수연 김</cp:lastModifiedBy>
  <cp:revision>1</cp:revision>
  <dcterms:modified xsi:type="dcterms:W3CDTF">2026-04-08T15:02:38Z</dcterms:modified>
</cp:coreProperties>
</file>