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Tlab 모던라이프 Bold" charset="1" panose="020B0803000000000000"/>
      <p:regular r:id="rId27"/>
    </p:embeddedFont>
    <p:embeddedFont>
      <p:font typeface="Tlab 모던라이프 Medium" charset="1" panose="020B0603000000000000"/>
      <p:regular r:id="rId28"/>
    </p:embeddedFont>
    <p:embeddedFont>
      <p:font typeface="Tlab 모던라운드 Bold" charset="1" panose="020C0803000000000000"/>
      <p:regular r:id="rId29"/>
    </p:embeddedFont>
    <p:embeddedFont>
      <p:font typeface="Gotham" charset="1" panose="00000000000000000000"/>
      <p:regular r:id="rId30"/>
    </p:embeddedFont>
    <p:embeddedFont>
      <p:font typeface="Tlab 모던라운드 Medium" charset="1" panose="020C0603000000000000"/>
      <p:regular r:id="rId31"/>
    </p:embeddedFont>
    <p:embeddedFont>
      <p:font typeface="TDTD잉크" charset="1" panose="02000503000000000000"/>
      <p:regular r:id="rId32"/>
    </p:embeddedFont>
    <p:embeddedFont>
      <p:font typeface="Tlab 모던라운드 Light" charset="1" panose="020C0303000000000000"/>
      <p:regular r:id="rId33"/>
    </p:embeddedFont>
    <p:embeddedFont>
      <p:font typeface="Canva Sans" charset="1" panose="020B0503030501040103"/>
      <p:regular r:id="rId34"/>
    </p:embeddedFont>
    <p:embeddedFont>
      <p:font typeface="Black Bones" charset="1" panose="02000500000000000000"/>
      <p:regular r:id="rId35"/>
    </p:embeddedFont>
    <p:embeddedFont>
      <p:font typeface="210 빛글" charset="1" panose="02020603020101020101"/>
      <p:regular r:id="rId36"/>
    </p:embeddedFont>
    <p:embeddedFont>
      <p:font typeface="Tlab 모던라이프 Light" charset="1" panose="020B0303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27.png" Type="http://schemas.openxmlformats.org/officeDocument/2006/relationships/image"/><Relationship Id="rId15" Target="../media/image2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12" Target="../media/image51.png" Type="http://schemas.openxmlformats.org/officeDocument/2006/relationships/image"/><Relationship Id="rId13" Target="../media/image5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53.png" Type="http://schemas.openxmlformats.org/officeDocument/2006/relationships/image"/><Relationship Id="rId9" Target="../media/image54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55.png" Type="http://schemas.openxmlformats.org/officeDocument/2006/relationships/image"/><Relationship Id="rId9" Target="../media/image56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96130"/>
            <a:ext cx="1827704" cy="1804442"/>
          </a:xfrm>
          <a:custGeom>
            <a:avLst/>
            <a:gdLst/>
            <a:ahLst/>
            <a:cxnLst/>
            <a:rect r="r" b="b" t="t" l="l"/>
            <a:pathLst>
              <a:path h="1804442" w="1827704">
                <a:moveTo>
                  <a:pt x="0" y="0"/>
                </a:moveTo>
                <a:lnTo>
                  <a:pt x="1827704" y="0"/>
                </a:lnTo>
                <a:lnTo>
                  <a:pt x="1827704" y="1804442"/>
                </a:lnTo>
                <a:lnTo>
                  <a:pt x="0" y="1804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85639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2968" y="8022696"/>
            <a:ext cx="1874402" cy="1919779"/>
          </a:xfrm>
          <a:custGeom>
            <a:avLst/>
            <a:gdLst/>
            <a:ahLst/>
            <a:cxnLst/>
            <a:rect r="r" b="b" t="t" l="l"/>
            <a:pathLst>
              <a:path h="1919779" w="1874402">
                <a:moveTo>
                  <a:pt x="0" y="0"/>
                </a:moveTo>
                <a:lnTo>
                  <a:pt x="1874402" y="0"/>
                </a:lnTo>
                <a:lnTo>
                  <a:pt x="1874402" y="1919779"/>
                </a:lnTo>
                <a:lnTo>
                  <a:pt x="0" y="19197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98089" y="720772"/>
            <a:ext cx="15381143" cy="8845456"/>
            <a:chOff x="0" y="0"/>
            <a:chExt cx="4051001" cy="23296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83789" y="720772"/>
            <a:ext cx="15381143" cy="8845456"/>
            <a:chOff x="0" y="0"/>
            <a:chExt cx="4051001" cy="23296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53428" y="720772"/>
            <a:ext cx="15381143" cy="8845456"/>
            <a:chOff x="0" y="0"/>
            <a:chExt cx="4051001" cy="23296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45308" y="2264304"/>
            <a:ext cx="1038862" cy="5758393"/>
            <a:chOff x="0" y="0"/>
            <a:chExt cx="1385149" cy="7677857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924175" y="1031052"/>
              <a:ext cx="460953" cy="460747"/>
              <a:chOff x="0" y="0"/>
              <a:chExt cx="848212" cy="847833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924155" y="0"/>
              <a:ext cx="460993" cy="460787"/>
              <a:chOff x="0" y="0"/>
              <a:chExt cx="848212" cy="84783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924175" y="2062064"/>
              <a:ext cx="460953" cy="460747"/>
              <a:chOff x="0" y="0"/>
              <a:chExt cx="848212" cy="84783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924179" y="3093076"/>
              <a:ext cx="460946" cy="460740"/>
              <a:chOff x="0" y="0"/>
              <a:chExt cx="848212" cy="847833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924183" y="4124081"/>
              <a:ext cx="460938" cy="460731"/>
              <a:chOff x="0" y="0"/>
              <a:chExt cx="848212" cy="847833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924187" y="5155077"/>
              <a:ext cx="460930" cy="460724"/>
              <a:chOff x="0" y="0"/>
              <a:chExt cx="848212" cy="847833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924167" y="6186066"/>
              <a:ext cx="460969" cy="460763"/>
              <a:chOff x="0" y="0"/>
              <a:chExt cx="848212" cy="847833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924167" y="7217094"/>
              <a:ext cx="460969" cy="460763"/>
              <a:chOff x="0" y="0"/>
              <a:chExt cx="848212" cy="847833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0" y="1121915"/>
              <a:ext cx="1198526" cy="261915"/>
              <a:chOff x="0" y="0"/>
              <a:chExt cx="238885" cy="52204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89481"/>
              <a:ext cx="1198526" cy="261915"/>
              <a:chOff x="0" y="0"/>
              <a:chExt cx="238885" cy="52204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2154349"/>
              <a:ext cx="1198526" cy="261915"/>
              <a:chOff x="0" y="0"/>
              <a:chExt cx="238885" cy="52204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0" y="3186782"/>
              <a:ext cx="1198526" cy="261915"/>
              <a:chOff x="0" y="0"/>
              <a:chExt cx="238885" cy="52204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0" y="4219216"/>
              <a:ext cx="1198526" cy="261915"/>
              <a:chOff x="0" y="0"/>
              <a:chExt cx="238885" cy="52204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0" y="5251650"/>
              <a:ext cx="1198526" cy="261915"/>
              <a:chOff x="0" y="0"/>
              <a:chExt cx="238885" cy="52204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0" y="6284084"/>
              <a:ext cx="1198526" cy="261915"/>
              <a:chOff x="0" y="0"/>
              <a:chExt cx="238885" cy="52204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1" id="61"/>
            <p:cNvGrpSpPr/>
            <p:nvPr/>
          </p:nvGrpSpPr>
          <p:grpSpPr>
            <a:xfrm rot="0">
              <a:off x="0" y="7316518"/>
              <a:ext cx="1198526" cy="261915"/>
              <a:chOff x="0" y="0"/>
              <a:chExt cx="238885" cy="52204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</p:grpSp>
      <p:sp>
        <p:nvSpPr>
          <p:cNvPr name="Freeform 64" id="64"/>
          <p:cNvSpPr/>
          <p:nvPr/>
        </p:nvSpPr>
        <p:spPr>
          <a:xfrm flipH="false" flipV="false" rot="0">
            <a:off x="3884407" y="2330140"/>
            <a:ext cx="1076199" cy="684283"/>
          </a:xfrm>
          <a:custGeom>
            <a:avLst/>
            <a:gdLst/>
            <a:ahLst/>
            <a:cxnLst/>
            <a:rect r="r" b="b" t="t" l="l"/>
            <a:pathLst>
              <a:path h="684283" w="1076199">
                <a:moveTo>
                  <a:pt x="0" y="0"/>
                </a:moveTo>
                <a:lnTo>
                  <a:pt x="1076199" y="0"/>
                </a:lnTo>
                <a:lnTo>
                  <a:pt x="1076199" y="684283"/>
                </a:lnTo>
                <a:lnTo>
                  <a:pt x="0" y="684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14640142" y="1916685"/>
            <a:ext cx="1715216" cy="2195477"/>
          </a:xfrm>
          <a:custGeom>
            <a:avLst/>
            <a:gdLst/>
            <a:ahLst/>
            <a:cxnLst/>
            <a:rect r="r" b="b" t="t" l="l"/>
            <a:pathLst>
              <a:path h="2195477" w="1715216">
                <a:moveTo>
                  <a:pt x="0" y="0"/>
                </a:moveTo>
                <a:lnTo>
                  <a:pt x="1715216" y="0"/>
                </a:lnTo>
                <a:lnTo>
                  <a:pt x="1715216" y="2195477"/>
                </a:lnTo>
                <a:lnTo>
                  <a:pt x="0" y="219547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true" flipV="false" rot="0">
            <a:off x="2478956" y="6872950"/>
            <a:ext cx="2174496" cy="2169059"/>
          </a:xfrm>
          <a:custGeom>
            <a:avLst/>
            <a:gdLst/>
            <a:ahLst/>
            <a:cxnLst/>
            <a:rect r="r" b="b" t="t" l="l"/>
            <a:pathLst>
              <a:path h="2169059" w="2174496">
                <a:moveTo>
                  <a:pt x="2174495" y="0"/>
                </a:moveTo>
                <a:lnTo>
                  <a:pt x="0" y="0"/>
                </a:lnTo>
                <a:lnTo>
                  <a:pt x="0" y="2169059"/>
                </a:lnTo>
                <a:lnTo>
                  <a:pt x="2174495" y="2169059"/>
                </a:lnTo>
                <a:lnTo>
                  <a:pt x="2174495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7" id="67"/>
          <p:cNvSpPr txBox="true"/>
          <p:nvPr/>
        </p:nvSpPr>
        <p:spPr>
          <a:xfrm rot="0">
            <a:off x="3696564" y="3051769"/>
            <a:ext cx="11155593" cy="2956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b="true" sz="8499" spc="-594">
                <a:solidFill>
                  <a:srgbClr val="2D2D2D"/>
                </a:solidFill>
                <a:latin typeface="Tlab 모던라이프 Bold"/>
                <a:ea typeface="Tlab 모던라이프 Bold"/>
                <a:cs typeface="Tlab 모던라이프 Bold"/>
                <a:sym typeface="Tlab 모던라이프 Bold"/>
              </a:rPr>
              <a:t>반론은 상대의 성벽을 </a:t>
            </a:r>
          </a:p>
          <a:p>
            <a:pPr algn="ctr">
              <a:lnSpc>
                <a:spcPts val="11899"/>
              </a:lnSpc>
              <a:spcBef>
                <a:spcPct val="0"/>
              </a:spcBef>
            </a:pPr>
            <a:r>
              <a:rPr lang="en-US" b="true" sz="8499" spc="-594">
                <a:solidFill>
                  <a:srgbClr val="2D2D2D"/>
                </a:solidFill>
                <a:latin typeface="Tlab 모던라이프 Bold"/>
                <a:ea typeface="Tlab 모던라이프 Bold"/>
                <a:cs typeface="Tlab 모던라이프 Bold"/>
                <a:sym typeface="Tlab 모던라이프 Bold"/>
              </a:rPr>
              <a:t>허무는 것이다.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942552" y="1158208"/>
            <a:ext cx="4037509" cy="906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 spc="-400">
                <a:solidFill>
                  <a:srgbClr val="000000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Chapter 6.</a:t>
            </a:r>
          </a:p>
        </p:txBody>
      </p:sp>
      <p:sp>
        <p:nvSpPr>
          <p:cNvPr name="AutoShape 69" id="69"/>
          <p:cNvSpPr/>
          <p:nvPr/>
        </p:nvSpPr>
        <p:spPr>
          <a:xfrm>
            <a:off x="4000283" y="4283765"/>
            <a:ext cx="10287435" cy="0"/>
          </a:xfrm>
          <a:prstGeom prst="line">
            <a:avLst/>
          </a:prstGeom>
          <a:ln cap="flat" w="19050">
            <a:solidFill>
              <a:srgbClr val="DAC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0" id="70"/>
          <p:cNvSpPr/>
          <p:nvPr/>
        </p:nvSpPr>
        <p:spPr>
          <a:xfrm>
            <a:off x="4000283" y="3150151"/>
            <a:ext cx="10287435" cy="0"/>
          </a:xfrm>
          <a:prstGeom prst="line">
            <a:avLst/>
          </a:prstGeom>
          <a:ln cap="flat" w="19050">
            <a:solidFill>
              <a:srgbClr val="DAC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1" id="71"/>
          <p:cNvSpPr/>
          <p:nvPr/>
        </p:nvSpPr>
        <p:spPr>
          <a:xfrm>
            <a:off x="4000283" y="4610769"/>
            <a:ext cx="10287435" cy="0"/>
          </a:xfrm>
          <a:prstGeom prst="line">
            <a:avLst/>
          </a:prstGeom>
          <a:ln cap="flat" w="19050">
            <a:solidFill>
              <a:srgbClr val="DAC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2" id="72"/>
          <p:cNvSpPr/>
          <p:nvPr/>
        </p:nvSpPr>
        <p:spPr>
          <a:xfrm>
            <a:off x="4000283" y="6134037"/>
            <a:ext cx="10287435" cy="0"/>
          </a:xfrm>
          <a:prstGeom prst="line">
            <a:avLst/>
          </a:prstGeom>
          <a:ln cap="flat" w="19050">
            <a:solidFill>
              <a:srgbClr val="DAC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3" id="73"/>
          <p:cNvSpPr/>
          <p:nvPr/>
        </p:nvSpPr>
        <p:spPr>
          <a:xfrm flipV="true">
            <a:off x="4568695" y="2830493"/>
            <a:ext cx="0" cy="3765004"/>
          </a:xfrm>
          <a:prstGeom prst="line">
            <a:avLst/>
          </a:prstGeom>
          <a:ln cap="flat" w="19050">
            <a:solidFill>
              <a:srgbClr val="DAC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4" id="74"/>
          <p:cNvSpPr/>
          <p:nvPr/>
        </p:nvSpPr>
        <p:spPr>
          <a:xfrm flipV="true">
            <a:off x="13724806" y="2830493"/>
            <a:ext cx="0" cy="3765004"/>
          </a:xfrm>
          <a:prstGeom prst="line">
            <a:avLst/>
          </a:prstGeom>
          <a:ln cap="flat" w="19050">
            <a:solidFill>
              <a:srgbClr val="DAC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5" id="75"/>
          <p:cNvSpPr/>
          <p:nvPr/>
        </p:nvSpPr>
        <p:spPr>
          <a:xfrm flipH="false" flipV="false" rot="236323">
            <a:off x="12994026" y="6041868"/>
            <a:ext cx="1024424" cy="981138"/>
          </a:xfrm>
          <a:custGeom>
            <a:avLst/>
            <a:gdLst/>
            <a:ahLst/>
            <a:cxnLst/>
            <a:rect r="r" b="b" t="t" l="l"/>
            <a:pathLst>
              <a:path h="981138" w="1024424">
                <a:moveTo>
                  <a:pt x="0" y="0"/>
                </a:moveTo>
                <a:lnTo>
                  <a:pt x="1024423" y="0"/>
                </a:lnTo>
                <a:lnTo>
                  <a:pt x="1024423" y="981138"/>
                </a:lnTo>
                <a:lnTo>
                  <a:pt x="0" y="98113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6" id="76"/>
          <p:cNvSpPr txBox="true"/>
          <p:nvPr/>
        </p:nvSpPr>
        <p:spPr>
          <a:xfrm rot="0">
            <a:off x="4000283" y="6796750"/>
            <a:ext cx="10287435" cy="500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 spc="-167">
                <a:solidFill>
                  <a:srgbClr val="6D6D6D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오미경(김포신곡중)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85639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22968" y="8022696"/>
            <a:ext cx="1874402" cy="1919779"/>
          </a:xfrm>
          <a:custGeom>
            <a:avLst/>
            <a:gdLst/>
            <a:ahLst/>
            <a:cxnLst/>
            <a:rect r="r" b="b" t="t" l="l"/>
            <a:pathLst>
              <a:path h="1919779" w="1874402">
                <a:moveTo>
                  <a:pt x="0" y="0"/>
                </a:moveTo>
                <a:lnTo>
                  <a:pt x="1874402" y="0"/>
                </a:lnTo>
                <a:lnTo>
                  <a:pt x="1874402" y="1919779"/>
                </a:lnTo>
                <a:lnTo>
                  <a:pt x="0" y="191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96130"/>
            <a:ext cx="1827704" cy="1804442"/>
          </a:xfrm>
          <a:custGeom>
            <a:avLst/>
            <a:gdLst/>
            <a:ahLst/>
            <a:cxnLst/>
            <a:rect r="r" b="b" t="t" l="l"/>
            <a:pathLst>
              <a:path h="1804442" w="1827704">
                <a:moveTo>
                  <a:pt x="0" y="0"/>
                </a:moveTo>
                <a:lnTo>
                  <a:pt x="1827704" y="0"/>
                </a:lnTo>
                <a:lnTo>
                  <a:pt x="1827704" y="1804442"/>
                </a:lnTo>
                <a:lnTo>
                  <a:pt x="0" y="18044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98089" y="720772"/>
            <a:ext cx="15381143" cy="8845456"/>
            <a:chOff x="0" y="0"/>
            <a:chExt cx="4051001" cy="23296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83789" y="720772"/>
            <a:ext cx="15381143" cy="8845456"/>
            <a:chOff x="0" y="0"/>
            <a:chExt cx="4051001" cy="23296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53428" y="720772"/>
            <a:ext cx="15381143" cy="8845456"/>
            <a:chOff x="0" y="0"/>
            <a:chExt cx="4051001" cy="23296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45308" y="2264304"/>
            <a:ext cx="1038862" cy="5758393"/>
            <a:chOff x="0" y="0"/>
            <a:chExt cx="1385149" cy="7677857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924175" y="1031052"/>
              <a:ext cx="460953" cy="460747"/>
              <a:chOff x="0" y="0"/>
              <a:chExt cx="848212" cy="847833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924155" y="0"/>
              <a:ext cx="460993" cy="460787"/>
              <a:chOff x="0" y="0"/>
              <a:chExt cx="848212" cy="84783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924175" y="2062064"/>
              <a:ext cx="460953" cy="460747"/>
              <a:chOff x="0" y="0"/>
              <a:chExt cx="848212" cy="84783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924179" y="3093076"/>
              <a:ext cx="460946" cy="460740"/>
              <a:chOff x="0" y="0"/>
              <a:chExt cx="848212" cy="847833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924183" y="4124081"/>
              <a:ext cx="460938" cy="460731"/>
              <a:chOff x="0" y="0"/>
              <a:chExt cx="848212" cy="847833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924187" y="5155077"/>
              <a:ext cx="460930" cy="460724"/>
              <a:chOff x="0" y="0"/>
              <a:chExt cx="848212" cy="847833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924167" y="6186066"/>
              <a:ext cx="460969" cy="460763"/>
              <a:chOff x="0" y="0"/>
              <a:chExt cx="848212" cy="847833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924167" y="7217094"/>
              <a:ext cx="460969" cy="460763"/>
              <a:chOff x="0" y="0"/>
              <a:chExt cx="848212" cy="847833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0" y="1121915"/>
              <a:ext cx="1198526" cy="261915"/>
              <a:chOff x="0" y="0"/>
              <a:chExt cx="238885" cy="52204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89481"/>
              <a:ext cx="1198526" cy="261915"/>
              <a:chOff x="0" y="0"/>
              <a:chExt cx="238885" cy="52204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2154349"/>
              <a:ext cx="1198526" cy="261915"/>
              <a:chOff x="0" y="0"/>
              <a:chExt cx="238885" cy="52204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0" y="3186782"/>
              <a:ext cx="1198526" cy="261915"/>
              <a:chOff x="0" y="0"/>
              <a:chExt cx="238885" cy="52204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0" y="4219216"/>
              <a:ext cx="1198526" cy="261915"/>
              <a:chOff x="0" y="0"/>
              <a:chExt cx="238885" cy="52204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0" y="5251650"/>
              <a:ext cx="1198526" cy="261915"/>
              <a:chOff x="0" y="0"/>
              <a:chExt cx="238885" cy="52204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0" y="6284084"/>
              <a:ext cx="1198526" cy="261915"/>
              <a:chOff x="0" y="0"/>
              <a:chExt cx="238885" cy="52204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1" id="61"/>
            <p:cNvGrpSpPr/>
            <p:nvPr/>
          </p:nvGrpSpPr>
          <p:grpSpPr>
            <a:xfrm rot="0">
              <a:off x="0" y="7316518"/>
              <a:ext cx="1198526" cy="261915"/>
              <a:chOff x="0" y="0"/>
              <a:chExt cx="238885" cy="52204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</p:grpSp>
      <p:grpSp>
        <p:nvGrpSpPr>
          <p:cNvPr name="Group 64" id="64"/>
          <p:cNvGrpSpPr/>
          <p:nvPr/>
        </p:nvGrpSpPr>
        <p:grpSpPr>
          <a:xfrm rot="0">
            <a:off x="2166795" y="1324644"/>
            <a:ext cx="14443732" cy="1497847"/>
            <a:chOff x="0" y="0"/>
            <a:chExt cx="3804110" cy="39449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804110" cy="394495"/>
            </a:xfrm>
            <a:custGeom>
              <a:avLst/>
              <a:gdLst/>
              <a:ahLst/>
              <a:cxnLst/>
              <a:rect r="r" b="b" t="t" l="l"/>
              <a:pathLst>
                <a:path h="394495" w="3804110">
                  <a:moveTo>
                    <a:pt x="13400" y="0"/>
                  </a:moveTo>
                  <a:lnTo>
                    <a:pt x="3790710" y="0"/>
                  </a:lnTo>
                  <a:cubicBezTo>
                    <a:pt x="3794264" y="0"/>
                    <a:pt x="3797672" y="1412"/>
                    <a:pt x="3800185" y="3925"/>
                  </a:cubicBezTo>
                  <a:cubicBezTo>
                    <a:pt x="3802699" y="6438"/>
                    <a:pt x="3804110" y="9846"/>
                    <a:pt x="3804110" y="13400"/>
                  </a:cubicBezTo>
                  <a:lnTo>
                    <a:pt x="3804110" y="381095"/>
                  </a:lnTo>
                  <a:cubicBezTo>
                    <a:pt x="3804110" y="384649"/>
                    <a:pt x="3802699" y="388057"/>
                    <a:pt x="3800185" y="390570"/>
                  </a:cubicBezTo>
                  <a:cubicBezTo>
                    <a:pt x="3797672" y="393083"/>
                    <a:pt x="3794264" y="394495"/>
                    <a:pt x="3790710" y="394495"/>
                  </a:cubicBezTo>
                  <a:lnTo>
                    <a:pt x="13400" y="394495"/>
                  </a:lnTo>
                  <a:cubicBezTo>
                    <a:pt x="9846" y="394495"/>
                    <a:pt x="6438" y="393083"/>
                    <a:pt x="3925" y="390570"/>
                  </a:cubicBezTo>
                  <a:cubicBezTo>
                    <a:pt x="1412" y="388057"/>
                    <a:pt x="0" y="384649"/>
                    <a:pt x="0" y="381095"/>
                  </a:cubicBezTo>
                  <a:lnTo>
                    <a:pt x="0" y="13400"/>
                  </a:lnTo>
                  <a:cubicBezTo>
                    <a:pt x="0" y="9846"/>
                    <a:pt x="1412" y="6438"/>
                    <a:pt x="3925" y="3925"/>
                  </a:cubicBezTo>
                  <a:cubicBezTo>
                    <a:pt x="6438" y="1412"/>
                    <a:pt x="9846" y="0"/>
                    <a:pt x="13400" y="0"/>
                  </a:cubicBezTo>
                  <a:close/>
                </a:path>
              </a:pathLst>
            </a:custGeom>
            <a:solidFill>
              <a:srgbClr val="FEFBED"/>
            </a:solidFill>
            <a:ln cap="rnd">
              <a:noFill/>
              <a:prstDash val="dash"/>
              <a:round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3804110" cy="451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AutoShape 67" id="67"/>
          <p:cNvSpPr/>
          <p:nvPr/>
        </p:nvSpPr>
        <p:spPr>
          <a:xfrm>
            <a:off x="3161442" y="3419572"/>
            <a:ext cx="12553723" cy="0"/>
          </a:xfrm>
          <a:prstGeom prst="line">
            <a:avLst/>
          </a:prstGeom>
          <a:ln cap="flat" w="19050">
            <a:solidFill>
              <a:srgbClr val="DAC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8" id="68"/>
          <p:cNvSpPr/>
          <p:nvPr/>
        </p:nvSpPr>
        <p:spPr>
          <a:xfrm>
            <a:off x="3247085" y="6309860"/>
            <a:ext cx="12553723" cy="0"/>
          </a:xfrm>
          <a:prstGeom prst="line">
            <a:avLst/>
          </a:prstGeom>
          <a:ln cap="flat" w="19050">
            <a:solidFill>
              <a:srgbClr val="DAC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9" id="69"/>
          <p:cNvSpPr/>
          <p:nvPr/>
        </p:nvSpPr>
        <p:spPr>
          <a:xfrm>
            <a:off x="3161442" y="8356071"/>
            <a:ext cx="12553723" cy="0"/>
          </a:xfrm>
          <a:prstGeom prst="line">
            <a:avLst/>
          </a:prstGeom>
          <a:ln cap="flat" w="19050">
            <a:solidFill>
              <a:srgbClr val="DAC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0" id="70"/>
          <p:cNvSpPr/>
          <p:nvPr/>
        </p:nvSpPr>
        <p:spPr>
          <a:xfrm flipH="false" flipV="false" rot="0">
            <a:off x="14623402" y="7276879"/>
            <a:ext cx="1874920" cy="1981421"/>
          </a:xfrm>
          <a:custGeom>
            <a:avLst/>
            <a:gdLst/>
            <a:ahLst/>
            <a:cxnLst/>
            <a:rect r="r" b="b" t="t" l="l"/>
            <a:pathLst>
              <a:path h="1981421" w="1874920">
                <a:moveTo>
                  <a:pt x="0" y="0"/>
                </a:moveTo>
                <a:lnTo>
                  <a:pt x="1874920" y="0"/>
                </a:lnTo>
                <a:lnTo>
                  <a:pt x="1874920" y="1981421"/>
                </a:lnTo>
                <a:lnTo>
                  <a:pt x="0" y="19814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1" id="71"/>
          <p:cNvSpPr txBox="true"/>
          <p:nvPr/>
        </p:nvSpPr>
        <p:spPr>
          <a:xfrm rot="0">
            <a:off x="7456940" y="1551598"/>
            <a:ext cx="3634842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0"/>
              </a:lnSpc>
              <a:spcBef>
                <a:spcPct val="0"/>
              </a:spcBef>
            </a:pPr>
            <a:r>
              <a:rPr lang="en-US" b="true" sz="5400">
                <a:solidFill>
                  <a:srgbClr val="2D2D2D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질문 3가지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3652173" y="5221492"/>
            <a:ext cx="3292270" cy="108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4"/>
              </a:lnSpc>
            </a:pPr>
            <a:r>
              <a:rPr lang="en-US" b="true" sz="3400" spc="-238">
                <a:solidFill>
                  <a:srgbClr val="2D2D2D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반론은 어떻게 </a:t>
            </a:r>
          </a:p>
          <a:p>
            <a:pPr algn="ctr">
              <a:lnSpc>
                <a:spcPts val="4284"/>
              </a:lnSpc>
            </a:pPr>
            <a:r>
              <a:rPr lang="en-US" b="true" sz="3400" spc="-238">
                <a:solidFill>
                  <a:srgbClr val="2D2D2D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이루어지나요?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4607569" y="3827859"/>
            <a:ext cx="1381478" cy="536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4"/>
              </a:lnSpc>
            </a:pPr>
            <a:r>
              <a:rPr lang="en-US" sz="3400">
                <a:solidFill>
                  <a:srgbClr val="A7A7A7"/>
                </a:solidFill>
                <a:latin typeface="Gotham"/>
                <a:ea typeface="Gotham"/>
                <a:cs typeface="Gotham"/>
                <a:sym typeface="Gotham"/>
              </a:rPr>
              <a:t>19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8747565" y="3827859"/>
            <a:ext cx="1381478" cy="536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4"/>
              </a:lnSpc>
            </a:pPr>
            <a:r>
              <a:rPr lang="en-US" sz="3400">
                <a:solidFill>
                  <a:srgbClr val="A7A7A7"/>
                </a:solidFill>
                <a:latin typeface="Gotham"/>
                <a:ea typeface="Gotham"/>
                <a:cs typeface="Gotham"/>
                <a:sym typeface="Gotham"/>
              </a:rPr>
              <a:t>20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2885542" y="3827859"/>
            <a:ext cx="1381478" cy="536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4"/>
              </a:lnSpc>
            </a:pPr>
            <a:r>
              <a:rPr lang="en-US" sz="3400">
                <a:solidFill>
                  <a:srgbClr val="A7A7A7"/>
                </a:solidFill>
                <a:latin typeface="Gotham"/>
                <a:ea typeface="Gotham"/>
                <a:cs typeface="Gotham"/>
                <a:sym typeface="Gotham"/>
              </a:rPr>
              <a:t>21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7656882" y="4663699"/>
            <a:ext cx="3463556" cy="1631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4"/>
              </a:lnSpc>
            </a:pPr>
            <a:r>
              <a:rPr lang="en-US" b="true" sz="3400" spc="-238">
                <a:solidFill>
                  <a:srgbClr val="2D2D2D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반론을 하는 </a:t>
            </a:r>
          </a:p>
          <a:p>
            <a:pPr algn="ctr">
              <a:lnSpc>
                <a:spcPts val="4284"/>
              </a:lnSpc>
            </a:pPr>
            <a:r>
              <a:rPr lang="en-US" b="true" sz="3400" spc="-238">
                <a:solidFill>
                  <a:srgbClr val="2D2D2D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구체적인 방법은</a:t>
            </a:r>
          </a:p>
          <a:p>
            <a:pPr algn="ctr">
              <a:lnSpc>
                <a:spcPts val="4284"/>
              </a:lnSpc>
            </a:pPr>
            <a:r>
              <a:rPr lang="en-US" b="true" sz="3400" spc="-238">
                <a:solidFill>
                  <a:srgbClr val="2D2D2D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 어떤 것이 있나요?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1930146" y="4678642"/>
            <a:ext cx="3292270" cy="1631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4"/>
              </a:lnSpc>
            </a:pPr>
            <a:r>
              <a:rPr lang="en-US" b="true" sz="3400" spc="-238">
                <a:solidFill>
                  <a:srgbClr val="2D2D2D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오류를 찾아내면 </a:t>
            </a:r>
          </a:p>
          <a:p>
            <a:pPr algn="ctr">
              <a:lnSpc>
                <a:spcPts val="4284"/>
              </a:lnSpc>
            </a:pPr>
            <a:r>
              <a:rPr lang="en-US" b="true" sz="3400" spc="-238">
                <a:solidFill>
                  <a:srgbClr val="2D2D2D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반론을 </a:t>
            </a:r>
          </a:p>
          <a:p>
            <a:pPr algn="ctr">
              <a:lnSpc>
                <a:spcPts val="4284"/>
              </a:lnSpc>
            </a:pPr>
            <a:r>
              <a:rPr lang="en-US" b="true" sz="3400" spc="-238">
                <a:solidFill>
                  <a:srgbClr val="2D2D2D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잘할 수 있나요?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85639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22968" y="8022696"/>
            <a:ext cx="1874402" cy="1919779"/>
          </a:xfrm>
          <a:custGeom>
            <a:avLst/>
            <a:gdLst/>
            <a:ahLst/>
            <a:cxnLst/>
            <a:rect r="r" b="b" t="t" l="l"/>
            <a:pathLst>
              <a:path h="1919779" w="1874402">
                <a:moveTo>
                  <a:pt x="0" y="0"/>
                </a:moveTo>
                <a:lnTo>
                  <a:pt x="1874402" y="0"/>
                </a:lnTo>
                <a:lnTo>
                  <a:pt x="1874402" y="1919779"/>
                </a:lnTo>
                <a:lnTo>
                  <a:pt x="0" y="191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96130"/>
            <a:ext cx="1827704" cy="1804442"/>
          </a:xfrm>
          <a:custGeom>
            <a:avLst/>
            <a:gdLst/>
            <a:ahLst/>
            <a:cxnLst/>
            <a:rect r="r" b="b" t="t" l="l"/>
            <a:pathLst>
              <a:path h="1804442" w="1827704">
                <a:moveTo>
                  <a:pt x="0" y="0"/>
                </a:moveTo>
                <a:lnTo>
                  <a:pt x="1827704" y="0"/>
                </a:lnTo>
                <a:lnTo>
                  <a:pt x="1827704" y="1804442"/>
                </a:lnTo>
                <a:lnTo>
                  <a:pt x="0" y="18044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98089" y="720772"/>
            <a:ext cx="15381143" cy="8845456"/>
            <a:chOff x="0" y="0"/>
            <a:chExt cx="4051001" cy="23296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83789" y="720772"/>
            <a:ext cx="15381143" cy="8845456"/>
            <a:chOff x="0" y="0"/>
            <a:chExt cx="4051001" cy="23296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53428" y="720772"/>
            <a:ext cx="15381143" cy="8845456"/>
            <a:chOff x="0" y="0"/>
            <a:chExt cx="4051001" cy="23296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45308" y="2264304"/>
            <a:ext cx="1038862" cy="5758393"/>
            <a:chOff x="0" y="0"/>
            <a:chExt cx="1385149" cy="7677857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924175" y="1031052"/>
              <a:ext cx="460953" cy="460747"/>
              <a:chOff x="0" y="0"/>
              <a:chExt cx="848212" cy="847833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924155" y="0"/>
              <a:ext cx="460993" cy="460787"/>
              <a:chOff x="0" y="0"/>
              <a:chExt cx="848212" cy="84783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924175" y="2062064"/>
              <a:ext cx="460953" cy="460747"/>
              <a:chOff x="0" y="0"/>
              <a:chExt cx="848212" cy="84783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924179" y="3093076"/>
              <a:ext cx="460946" cy="460740"/>
              <a:chOff x="0" y="0"/>
              <a:chExt cx="848212" cy="847833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924183" y="4124081"/>
              <a:ext cx="460938" cy="460731"/>
              <a:chOff x="0" y="0"/>
              <a:chExt cx="848212" cy="847833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924187" y="5155077"/>
              <a:ext cx="460930" cy="460724"/>
              <a:chOff x="0" y="0"/>
              <a:chExt cx="848212" cy="847833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924167" y="6186066"/>
              <a:ext cx="460969" cy="460763"/>
              <a:chOff x="0" y="0"/>
              <a:chExt cx="848212" cy="847833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924167" y="7217094"/>
              <a:ext cx="460969" cy="460763"/>
              <a:chOff x="0" y="0"/>
              <a:chExt cx="848212" cy="847833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0" y="1121915"/>
              <a:ext cx="1198526" cy="261915"/>
              <a:chOff x="0" y="0"/>
              <a:chExt cx="238885" cy="52204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89481"/>
              <a:ext cx="1198526" cy="261915"/>
              <a:chOff x="0" y="0"/>
              <a:chExt cx="238885" cy="52204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2154349"/>
              <a:ext cx="1198526" cy="261915"/>
              <a:chOff x="0" y="0"/>
              <a:chExt cx="238885" cy="52204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0" y="3186782"/>
              <a:ext cx="1198526" cy="261915"/>
              <a:chOff x="0" y="0"/>
              <a:chExt cx="238885" cy="52204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0" y="4219216"/>
              <a:ext cx="1198526" cy="261915"/>
              <a:chOff x="0" y="0"/>
              <a:chExt cx="238885" cy="52204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0" y="5251650"/>
              <a:ext cx="1198526" cy="261915"/>
              <a:chOff x="0" y="0"/>
              <a:chExt cx="238885" cy="52204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0" y="6284084"/>
              <a:ext cx="1198526" cy="261915"/>
              <a:chOff x="0" y="0"/>
              <a:chExt cx="238885" cy="52204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1" id="61"/>
            <p:cNvGrpSpPr/>
            <p:nvPr/>
          </p:nvGrpSpPr>
          <p:grpSpPr>
            <a:xfrm rot="0">
              <a:off x="0" y="7316518"/>
              <a:ext cx="1198526" cy="261915"/>
              <a:chOff x="0" y="0"/>
              <a:chExt cx="238885" cy="52204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</p:grpSp>
      <p:sp>
        <p:nvSpPr>
          <p:cNvPr name="AutoShape 64" id="64"/>
          <p:cNvSpPr/>
          <p:nvPr/>
        </p:nvSpPr>
        <p:spPr>
          <a:xfrm>
            <a:off x="3161442" y="3419572"/>
            <a:ext cx="12553723" cy="0"/>
          </a:xfrm>
          <a:prstGeom prst="line">
            <a:avLst/>
          </a:prstGeom>
          <a:ln cap="flat" w="19050">
            <a:solidFill>
              <a:srgbClr val="DAC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>
            <a:off x="3247085" y="6309860"/>
            <a:ext cx="12553723" cy="0"/>
          </a:xfrm>
          <a:prstGeom prst="line">
            <a:avLst/>
          </a:prstGeom>
          <a:ln cap="flat" w="19050">
            <a:solidFill>
              <a:srgbClr val="DAC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>
            <a:off x="3161442" y="8356071"/>
            <a:ext cx="12553723" cy="0"/>
          </a:xfrm>
          <a:prstGeom prst="line">
            <a:avLst/>
          </a:prstGeom>
          <a:ln cap="flat" w="19050">
            <a:solidFill>
              <a:srgbClr val="DAC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7" id="67"/>
          <p:cNvSpPr/>
          <p:nvPr/>
        </p:nvSpPr>
        <p:spPr>
          <a:xfrm flipH="false" flipV="false" rot="0">
            <a:off x="14623402" y="7276879"/>
            <a:ext cx="1874920" cy="1981421"/>
          </a:xfrm>
          <a:custGeom>
            <a:avLst/>
            <a:gdLst/>
            <a:ahLst/>
            <a:cxnLst/>
            <a:rect r="r" b="b" t="t" l="l"/>
            <a:pathLst>
              <a:path h="1981421" w="1874920">
                <a:moveTo>
                  <a:pt x="0" y="0"/>
                </a:moveTo>
                <a:lnTo>
                  <a:pt x="1874920" y="0"/>
                </a:lnTo>
                <a:lnTo>
                  <a:pt x="1874920" y="1981421"/>
                </a:lnTo>
                <a:lnTo>
                  <a:pt x="0" y="19814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8" id="68"/>
          <p:cNvSpPr txBox="true"/>
          <p:nvPr/>
        </p:nvSpPr>
        <p:spPr>
          <a:xfrm rot="0">
            <a:off x="4574457" y="3753276"/>
            <a:ext cx="9727692" cy="188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5400" b="true">
                <a:solidFill>
                  <a:srgbClr val="2D2D2D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질문 19. </a:t>
            </a:r>
          </a:p>
          <a:p>
            <a:pPr algn="ctr">
              <a:lnSpc>
                <a:spcPts val="7560"/>
              </a:lnSpc>
              <a:spcBef>
                <a:spcPct val="0"/>
              </a:spcBef>
            </a:pPr>
            <a:r>
              <a:rPr lang="en-US" b="true" sz="5400">
                <a:solidFill>
                  <a:srgbClr val="2D2D2D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반론은 </a:t>
            </a:r>
            <a:r>
              <a:rPr lang="en-US" b="true" sz="5400" u="sng">
                <a:solidFill>
                  <a:srgbClr val="2D2D2D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어떻게</a:t>
            </a:r>
            <a:r>
              <a:rPr lang="en-US" b="true" sz="5400">
                <a:solidFill>
                  <a:srgbClr val="2D2D2D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 이루어지나요?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96130"/>
            <a:ext cx="1827704" cy="1804442"/>
          </a:xfrm>
          <a:custGeom>
            <a:avLst/>
            <a:gdLst/>
            <a:ahLst/>
            <a:cxnLst/>
            <a:rect r="r" b="b" t="t" l="l"/>
            <a:pathLst>
              <a:path h="1804442" w="1827704">
                <a:moveTo>
                  <a:pt x="0" y="0"/>
                </a:moveTo>
                <a:lnTo>
                  <a:pt x="1827704" y="0"/>
                </a:lnTo>
                <a:lnTo>
                  <a:pt x="1827704" y="1804442"/>
                </a:lnTo>
                <a:lnTo>
                  <a:pt x="0" y="1804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85639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2968" y="8022696"/>
            <a:ext cx="1874402" cy="1919779"/>
          </a:xfrm>
          <a:custGeom>
            <a:avLst/>
            <a:gdLst/>
            <a:ahLst/>
            <a:cxnLst/>
            <a:rect r="r" b="b" t="t" l="l"/>
            <a:pathLst>
              <a:path h="1919779" w="1874402">
                <a:moveTo>
                  <a:pt x="0" y="0"/>
                </a:moveTo>
                <a:lnTo>
                  <a:pt x="1874402" y="0"/>
                </a:lnTo>
                <a:lnTo>
                  <a:pt x="1874402" y="1919779"/>
                </a:lnTo>
                <a:lnTo>
                  <a:pt x="0" y="19197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98089" y="720772"/>
            <a:ext cx="15381143" cy="8845456"/>
            <a:chOff x="0" y="0"/>
            <a:chExt cx="4051001" cy="23296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83789" y="720772"/>
            <a:ext cx="15381143" cy="8845456"/>
            <a:chOff x="0" y="0"/>
            <a:chExt cx="4051001" cy="23296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53428" y="720772"/>
            <a:ext cx="15381143" cy="8845456"/>
            <a:chOff x="0" y="0"/>
            <a:chExt cx="4051001" cy="23296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216438" y="916974"/>
            <a:ext cx="14443732" cy="1497847"/>
            <a:chOff x="0" y="0"/>
            <a:chExt cx="3804110" cy="39449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04110" cy="394495"/>
            </a:xfrm>
            <a:custGeom>
              <a:avLst/>
              <a:gdLst/>
              <a:ahLst/>
              <a:cxnLst/>
              <a:rect r="r" b="b" t="t" l="l"/>
              <a:pathLst>
                <a:path h="394495" w="3804110">
                  <a:moveTo>
                    <a:pt x="13400" y="0"/>
                  </a:moveTo>
                  <a:lnTo>
                    <a:pt x="3790710" y="0"/>
                  </a:lnTo>
                  <a:cubicBezTo>
                    <a:pt x="3794264" y="0"/>
                    <a:pt x="3797672" y="1412"/>
                    <a:pt x="3800185" y="3925"/>
                  </a:cubicBezTo>
                  <a:cubicBezTo>
                    <a:pt x="3802699" y="6438"/>
                    <a:pt x="3804110" y="9846"/>
                    <a:pt x="3804110" y="13400"/>
                  </a:cubicBezTo>
                  <a:lnTo>
                    <a:pt x="3804110" y="381095"/>
                  </a:lnTo>
                  <a:cubicBezTo>
                    <a:pt x="3804110" y="384649"/>
                    <a:pt x="3802699" y="388057"/>
                    <a:pt x="3800185" y="390570"/>
                  </a:cubicBezTo>
                  <a:cubicBezTo>
                    <a:pt x="3797672" y="393083"/>
                    <a:pt x="3794264" y="394495"/>
                    <a:pt x="3790710" y="394495"/>
                  </a:cubicBezTo>
                  <a:lnTo>
                    <a:pt x="13400" y="394495"/>
                  </a:lnTo>
                  <a:cubicBezTo>
                    <a:pt x="9846" y="394495"/>
                    <a:pt x="6438" y="393083"/>
                    <a:pt x="3925" y="390570"/>
                  </a:cubicBezTo>
                  <a:cubicBezTo>
                    <a:pt x="1412" y="388057"/>
                    <a:pt x="0" y="384649"/>
                    <a:pt x="0" y="381095"/>
                  </a:cubicBezTo>
                  <a:lnTo>
                    <a:pt x="0" y="13400"/>
                  </a:lnTo>
                  <a:cubicBezTo>
                    <a:pt x="0" y="9846"/>
                    <a:pt x="1412" y="6438"/>
                    <a:pt x="3925" y="3925"/>
                  </a:cubicBezTo>
                  <a:cubicBezTo>
                    <a:pt x="6438" y="1412"/>
                    <a:pt x="9846" y="0"/>
                    <a:pt x="13400" y="0"/>
                  </a:cubicBezTo>
                  <a:close/>
                </a:path>
              </a:pathLst>
            </a:custGeom>
            <a:solidFill>
              <a:srgbClr val="FEFBED"/>
            </a:solidFill>
            <a:ln cap="rnd">
              <a:noFill/>
              <a:prstDash val="dash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804110" cy="451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45308" y="2264304"/>
            <a:ext cx="1038862" cy="5758393"/>
            <a:chOff x="0" y="0"/>
            <a:chExt cx="1385149" cy="7677857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924175" y="1031052"/>
              <a:ext cx="460953" cy="460747"/>
              <a:chOff x="0" y="0"/>
              <a:chExt cx="848212" cy="84783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924155" y="0"/>
              <a:ext cx="460993" cy="460787"/>
              <a:chOff x="0" y="0"/>
              <a:chExt cx="848212" cy="84783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924175" y="2062064"/>
              <a:ext cx="460953" cy="460747"/>
              <a:chOff x="0" y="0"/>
              <a:chExt cx="848212" cy="847833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924179" y="3093076"/>
              <a:ext cx="460946" cy="460740"/>
              <a:chOff x="0" y="0"/>
              <a:chExt cx="848212" cy="847833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924183" y="4124081"/>
              <a:ext cx="460938" cy="460731"/>
              <a:chOff x="0" y="0"/>
              <a:chExt cx="848212" cy="847833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924187" y="5155077"/>
              <a:ext cx="460930" cy="460724"/>
              <a:chOff x="0" y="0"/>
              <a:chExt cx="848212" cy="847833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924167" y="6186066"/>
              <a:ext cx="460969" cy="460763"/>
              <a:chOff x="0" y="0"/>
              <a:chExt cx="848212" cy="847833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924167" y="7217094"/>
              <a:ext cx="460969" cy="460763"/>
              <a:chOff x="0" y="0"/>
              <a:chExt cx="848212" cy="847833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1121915"/>
              <a:ext cx="1198526" cy="261915"/>
              <a:chOff x="0" y="0"/>
              <a:chExt cx="238885" cy="52204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89481"/>
              <a:ext cx="1198526" cy="261915"/>
              <a:chOff x="0" y="0"/>
              <a:chExt cx="238885" cy="52204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0" y="2154349"/>
              <a:ext cx="1198526" cy="261915"/>
              <a:chOff x="0" y="0"/>
              <a:chExt cx="238885" cy="52204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0" y="3186782"/>
              <a:ext cx="1198526" cy="261915"/>
              <a:chOff x="0" y="0"/>
              <a:chExt cx="238885" cy="52204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0" y="4219216"/>
              <a:ext cx="1198526" cy="261915"/>
              <a:chOff x="0" y="0"/>
              <a:chExt cx="238885" cy="52204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0" y="5251650"/>
              <a:ext cx="1198526" cy="261915"/>
              <a:chOff x="0" y="0"/>
              <a:chExt cx="238885" cy="52204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1" id="61"/>
            <p:cNvGrpSpPr/>
            <p:nvPr/>
          </p:nvGrpSpPr>
          <p:grpSpPr>
            <a:xfrm rot="0">
              <a:off x="0" y="6284084"/>
              <a:ext cx="1198526" cy="261915"/>
              <a:chOff x="0" y="0"/>
              <a:chExt cx="238885" cy="52204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0" y="7316518"/>
              <a:ext cx="1198526" cy="261915"/>
              <a:chOff x="0" y="0"/>
              <a:chExt cx="238885" cy="52204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</p:grpSp>
      <p:grpSp>
        <p:nvGrpSpPr>
          <p:cNvPr name="Group 67" id="67"/>
          <p:cNvGrpSpPr/>
          <p:nvPr/>
        </p:nvGrpSpPr>
        <p:grpSpPr>
          <a:xfrm rot="0">
            <a:off x="4167408" y="3188911"/>
            <a:ext cx="10541790" cy="1778084"/>
            <a:chOff x="0" y="0"/>
            <a:chExt cx="2776439" cy="46830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776439" cy="468302"/>
            </a:xfrm>
            <a:custGeom>
              <a:avLst/>
              <a:gdLst/>
              <a:ahLst/>
              <a:cxnLst/>
              <a:rect r="r" b="b" t="t" l="l"/>
              <a:pathLst>
                <a:path h="468302" w="2776439">
                  <a:moveTo>
                    <a:pt x="14688" y="0"/>
                  </a:moveTo>
                  <a:lnTo>
                    <a:pt x="2761751" y="0"/>
                  </a:lnTo>
                  <a:cubicBezTo>
                    <a:pt x="2765646" y="0"/>
                    <a:pt x="2769382" y="1547"/>
                    <a:pt x="2772137" y="4302"/>
                  </a:cubicBezTo>
                  <a:cubicBezTo>
                    <a:pt x="2774891" y="7057"/>
                    <a:pt x="2776439" y="10793"/>
                    <a:pt x="2776439" y="14688"/>
                  </a:cubicBezTo>
                  <a:lnTo>
                    <a:pt x="2776439" y="453614"/>
                  </a:lnTo>
                  <a:cubicBezTo>
                    <a:pt x="2776439" y="461726"/>
                    <a:pt x="2769863" y="468302"/>
                    <a:pt x="2761751" y="468302"/>
                  </a:cubicBezTo>
                  <a:lnTo>
                    <a:pt x="14688" y="468302"/>
                  </a:lnTo>
                  <a:cubicBezTo>
                    <a:pt x="10793" y="468302"/>
                    <a:pt x="7057" y="466755"/>
                    <a:pt x="4302" y="464000"/>
                  </a:cubicBezTo>
                  <a:cubicBezTo>
                    <a:pt x="1547" y="461245"/>
                    <a:pt x="0" y="457509"/>
                    <a:pt x="0" y="453614"/>
                  </a:cubicBezTo>
                  <a:lnTo>
                    <a:pt x="0" y="14688"/>
                  </a:lnTo>
                  <a:cubicBezTo>
                    <a:pt x="0" y="6576"/>
                    <a:pt x="6576" y="0"/>
                    <a:pt x="14688" y="0"/>
                  </a:cubicBezTo>
                  <a:close/>
                </a:path>
              </a:pathLst>
            </a:custGeom>
            <a:solidFill>
              <a:srgbClr val="EDF8FF"/>
            </a:solidFill>
            <a:ln w="28575" cap="sq">
              <a:solidFill>
                <a:srgbClr val="2D2D2D"/>
              </a:solidFill>
              <a:prstDash val="dash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2776439" cy="506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06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4167408" y="5100345"/>
            <a:ext cx="10541790" cy="1778084"/>
            <a:chOff x="0" y="0"/>
            <a:chExt cx="2776439" cy="46830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776439" cy="468302"/>
            </a:xfrm>
            <a:custGeom>
              <a:avLst/>
              <a:gdLst/>
              <a:ahLst/>
              <a:cxnLst/>
              <a:rect r="r" b="b" t="t" l="l"/>
              <a:pathLst>
                <a:path h="468302" w="2776439">
                  <a:moveTo>
                    <a:pt x="14688" y="0"/>
                  </a:moveTo>
                  <a:lnTo>
                    <a:pt x="2761751" y="0"/>
                  </a:lnTo>
                  <a:cubicBezTo>
                    <a:pt x="2765646" y="0"/>
                    <a:pt x="2769382" y="1547"/>
                    <a:pt x="2772137" y="4302"/>
                  </a:cubicBezTo>
                  <a:cubicBezTo>
                    <a:pt x="2774891" y="7057"/>
                    <a:pt x="2776439" y="10793"/>
                    <a:pt x="2776439" y="14688"/>
                  </a:cubicBezTo>
                  <a:lnTo>
                    <a:pt x="2776439" y="453614"/>
                  </a:lnTo>
                  <a:cubicBezTo>
                    <a:pt x="2776439" y="461726"/>
                    <a:pt x="2769863" y="468302"/>
                    <a:pt x="2761751" y="468302"/>
                  </a:cubicBezTo>
                  <a:lnTo>
                    <a:pt x="14688" y="468302"/>
                  </a:lnTo>
                  <a:cubicBezTo>
                    <a:pt x="10793" y="468302"/>
                    <a:pt x="7057" y="466755"/>
                    <a:pt x="4302" y="464000"/>
                  </a:cubicBezTo>
                  <a:cubicBezTo>
                    <a:pt x="1547" y="461245"/>
                    <a:pt x="0" y="457509"/>
                    <a:pt x="0" y="453614"/>
                  </a:cubicBezTo>
                  <a:lnTo>
                    <a:pt x="0" y="14688"/>
                  </a:lnTo>
                  <a:cubicBezTo>
                    <a:pt x="0" y="6576"/>
                    <a:pt x="6576" y="0"/>
                    <a:pt x="14688" y="0"/>
                  </a:cubicBezTo>
                  <a:close/>
                </a:path>
              </a:pathLst>
            </a:custGeom>
            <a:solidFill>
              <a:srgbClr val="EDF8FF"/>
            </a:solidFill>
            <a:ln w="28575" cap="sq">
              <a:solidFill>
                <a:srgbClr val="2D2D2D"/>
              </a:solidFill>
              <a:prstDash val="dash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2776439" cy="506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06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167408" y="7011779"/>
            <a:ext cx="10541790" cy="1778084"/>
            <a:chOff x="0" y="0"/>
            <a:chExt cx="2776439" cy="46830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776439" cy="468302"/>
            </a:xfrm>
            <a:custGeom>
              <a:avLst/>
              <a:gdLst/>
              <a:ahLst/>
              <a:cxnLst/>
              <a:rect r="r" b="b" t="t" l="l"/>
              <a:pathLst>
                <a:path h="468302" w="2776439">
                  <a:moveTo>
                    <a:pt x="14688" y="0"/>
                  </a:moveTo>
                  <a:lnTo>
                    <a:pt x="2761751" y="0"/>
                  </a:lnTo>
                  <a:cubicBezTo>
                    <a:pt x="2765646" y="0"/>
                    <a:pt x="2769382" y="1547"/>
                    <a:pt x="2772137" y="4302"/>
                  </a:cubicBezTo>
                  <a:cubicBezTo>
                    <a:pt x="2774891" y="7057"/>
                    <a:pt x="2776439" y="10793"/>
                    <a:pt x="2776439" y="14688"/>
                  </a:cubicBezTo>
                  <a:lnTo>
                    <a:pt x="2776439" y="453614"/>
                  </a:lnTo>
                  <a:cubicBezTo>
                    <a:pt x="2776439" y="461726"/>
                    <a:pt x="2769863" y="468302"/>
                    <a:pt x="2761751" y="468302"/>
                  </a:cubicBezTo>
                  <a:lnTo>
                    <a:pt x="14688" y="468302"/>
                  </a:lnTo>
                  <a:cubicBezTo>
                    <a:pt x="10793" y="468302"/>
                    <a:pt x="7057" y="466755"/>
                    <a:pt x="4302" y="464000"/>
                  </a:cubicBezTo>
                  <a:cubicBezTo>
                    <a:pt x="1547" y="461245"/>
                    <a:pt x="0" y="457509"/>
                    <a:pt x="0" y="453614"/>
                  </a:cubicBezTo>
                  <a:lnTo>
                    <a:pt x="0" y="14688"/>
                  </a:lnTo>
                  <a:cubicBezTo>
                    <a:pt x="0" y="6576"/>
                    <a:pt x="6576" y="0"/>
                    <a:pt x="14688" y="0"/>
                  </a:cubicBezTo>
                  <a:close/>
                </a:path>
              </a:pathLst>
            </a:custGeom>
            <a:solidFill>
              <a:srgbClr val="EDF8FF"/>
            </a:solidFill>
            <a:ln w="28575" cap="sq">
              <a:solidFill>
                <a:srgbClr val="2D2D2D"/>
              </a:solidFill>
              <a:prstDash val="dash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2776439" cy="506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06"/>
                </a:lnSpc>
              </a:pPr>
            </a:p>
          </p:txBody>
        </p:sp>
      </p:grpSp>
      <p:sp>
        <p:nvSpPr>
          <p:cNvPr name="Freeform 76" id="76"/>
          <p:cNvSpPr/>
          <p:nvPr/>
        </p:nvSpPr>
        <p:spPr>
          <a:xfrm flipH="false" flipV="false" rot="0">
            <a:off x="13630734" y="7212833"/>
            <a:ext cx="2032366" cy="1984097"/>
          </a:xfrm>
          <a:custGeom>
            <a:avLst/>
            <a:gdLst/>
            <a:ahLst/>
            <a:cxnLst/>
            <a:rect r="r" b="b" t="t" l="l"/>
            <a:pathLst>
              <a:path h="1984097" w="2032366">
                <a:moveTo>
                  <a:pt x="0" y="0"/>
                </a:moveTo>
                <a:lnTo>
                  <a:pt x="2032366" y="0"/>
                </a:lnTo>
                <a:lnTo>
                  <a:pt x="2032366" y="1984097"/>
                </a:lnTo>
                <a:lnTo>
                  <a:pt x="0" y="19840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true" flipV="false" rot="0">
            <a:off x="2998833" y="2668538"/>
            <a:ext cx="2018885" cy="2049630"/>
          </a:xfrm>
          <a:custGeom>
            <a:avLst/>
            <a:gdLst/>
            <a:ahLst/>
            <a:cxnLst/>
            <a:rect r="r" b="b" t="t" l="l"/>
            <a:pathLst>
              <a:path h="2049630" w="2018885">
                <a:moveTo>
                  <a:pt x="2018885" y="0"/>
                </a:moveTo>
                <a:lnTo>
                  <a:pt x="0" y="0"/>
                </a:lnTo>
                <a:lnTo>
                  <a:pt x="0" y="2049630"/>
                </a:lnTo>
                <a:lnTo>
                  <a:pt x="2018885" y="2049630"/>
                </a:lnTo>
                <a:lnTo>
                  <a:pt x="2018885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6678418" y="5936254"/>
            <a:ext cx="4028858" cy="144367"/>
          </a:xfrm>
          <a:custGeom>
            <a:avLst/>
            <a:gdLst/>
            <a:ahLst/>
            <a:cxnLst/>
            <a:rect r="r" b="b" t="t" l="l"/>
            <a:pathLst>
              <a:path h="144367" w="4028858">
                <a:moveTo>
                  <a:pt x="0" y="0"/>
                </a:moveTo>
                <a:lnTo>
                  <a:pt x="4028858" y="0"/>
                </a:lnTo>
                <a:lnTo>
                  <a:pt x="4028858" y="144367"/>
                </a:lnTo>
                <a:lnTo>
                  <a:pt x="0" y="14436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9853811" y="3584174"/>
            <a:ext cx="2613164" cy="987558"/>
          </a:xfrm>
          <a:custGeom>
            <a:avLst/>
            <a:gdLst/>
            <a:ahLst/>
            <a:cxnLst/>
            <a:rect r="r" b="b" t="t" l="l"/>
            <a:pathLst>
              <a:path h="987558" w="2613164">
                <a:moveTo>
                  <a:pt x="0" y="0"/>
                </a:moveTo>
                <a:lnTo>
                  <a:pt x="2613164" y="0"/>
                </a:lnTo>
                <a:lnTo>
                  <a:pt x="2613164" y="987558"/>
                </a:lnTo>
                <a:lnTo>
                  <a:pt x="0" y="9875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0" id="80"/>
          <p:cNvSpPr txBox="true"/>
          <p:nvPr/>
        </p:nvSpPr>
        <p:spPr>
          <a:xfrm rot="0">
            <a:off x="5245873" y="3674056"/>
            <a:ext cx="8384860" cy="722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 spc="-294">
                <a:solidFill>
                  <a:srgbClr val="2D83CA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상대측의 주장 무력화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4548265" y="1226478"/>
            <a:ext cx="9780077" cy="773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b="true" sz="4400" spc="-308">
                <a:solidFill>
                  <a:srgbClr val="2D2D2D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질문 19.  반론은 어떻게 이루어지나요?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5245873" y="5305492"/>
            <a:ext cx="8384860" cy="722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 spc="-294">
                <a:solidFill>
                  <a:srgbClr val="000000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상대측의 논증에 대한 반론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4939089" y="7497554"/>
            <a:ext cx="8998429" cy="722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 spc="-294">
                <a:solidFill>
                  <a:srgbClr val="2D83CA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상대 무너뜨리기, 자기 측의 주장 강화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5245873" y="6090756"/>
            <a:ext cx="8384860" cy="441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 spc="-125">
                <a:solidFill>
                  <a:srgbClr val="6D6D6D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새로운 주장x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85639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96130"/>
            <a:ext cx="1827704" cy="1804442"/>
          </a:xfrm>
          <a:custGeom>
            <a:avLst/>
            <a:gdLst/>
            <a:ahLst/>
            <a:cxnLst/>
            <a:rect r="r" b="b" t="t" l="l"/>
            <a:pathLst>
              <a:path h="1804442" w="1827704">
                <a:moveTo>
                  <a:pt x="0" y="0"/>
                </a:moveTo>
                <a:lnTo>
                  <a:pt x="1827704" y="0"/>
                </a:lnTo>
                <a:lnTo>
                  <a:pt x="1827704" y="1804442"/>
                </a:lnTo>
                <a:lnTo>
                  <a:pt x="0" y="1804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2968" y="8022696"/>
            <a:ext cx="1874402" cy="1919779"/>
          </a:xfrm>
          <a:custGeom>
            <a:avLst/>
            <a:gdLst/>
            <a:ahLst/>
            <a:cxnLst/>
            <a:rect r="r" b="b" t="t" l="l"/>
            <a:pathLst>
              <a:path h="1919779" w="1874402">
                <a:moveTo>
                  <a:pt x="0" y="0"/>
                </a:moveTo>
                <a:lnTo>
                  <a:pt x="1874402" y="0"/>
                </a:lnTo>
                <a:lnTo>
                  <a:pt x="1874402" y="1919779"/>
                </a:lnTo>
                <a:lnTo>
                  <a:pt x="0" y="19197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98089" y="720772"/>
            <a:ext cx="15381143" cy="8845456"/>
            <a:chOff x="0" y="0"/>
            <a:chExt cx="4051001" cy="23296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83789" y="720772"/>
            <a:ext cx="15381143" cy="8845456"/>
            <a:chOff x="0" y="0"/>
            <a:chExt cx="4051001" cy="23296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53428" y="720772"/>
            <a:ext cx="15381143" cy="8845456"/>
            <a:chOff x="0" y="0"/>
            <a:chExt cx="4051001" cy="23296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216438" y="916974"/>
            <a:ext cx="14443732" cy="1497847"/>
            <a:chOff x="0" y="0"/>
            <a:chExt cx="3804110" cy="39449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04110" cy="394495"/>
            </a:xfrm>
            <a:custGeom>
              <a:avLst/>
              <a:gdLst/>
              <a:ahLst/>
              <a:cxnLst/>
              <a:rect r="r" b="b" t="t" l="l"/>
              <a:pathLst>
                <a:path h="394495" w="3804110">
                  <a:moveTo>
                    <a:pt x="13400" y="0"/>
                  </a:moveTo>
                  <a:lnTo>
                    <a:pt x="3790710" y="0"/>
                  </a:lnTo>
                  <a:cubicBezTo>
                    <a:pt x="3794264" y="0"/>
                    <a:pt x="3797672" y="1412"/>
                    <a:pt x="3800185" y="3925"/>
                  </a:cubicBezTo>
                  <a:cubicBezTo>
                    <a:pt x="3802699" y="6438"/>
                    <a:pt x="3804110" y="9846"/>
                    <a:pt x="3804110" y="13400"/>
                  </a:cubicBezTo>
                  <a:lnTo>
                    <a:pt x="3804110" y="381095"/>
                  </a:lnTo>
                  <a:cubicBezTo>
                    <a:pt x="3804110" y="384649"/>
                    <a:pt x="3802699" y="388057"/>
                    <a:pt x="3800185" y="390570"/>
                  </a:cubicBezTo>
                  <a:cubicBezTo>
                    <a:pt x="3797672" y="393083"/>
                    <a:pt x="3794264" y="394495"/>
                    <a:pt x="3790710" y="394495"/>
                  </a:cubicBezTo>
                  <a:lnTo>
                    <a:pt x="13400" y="394495"/>
                  </a:lnTo>
                  <a:cubicBezTo>
                    <a:pt x="9846" y="394495"/>
                    <a:pt x="6438" y="393083"/>
                    <a:pt x="3925" y="390570"/>
                  </a:cubicBezTo>
                  <a:cubicBezTo>
                    <a:pt x="1412" y="388057"/>
                    <a:pt x="0" y="384649"/>
                    <a:pt x="0" y="381095"/>
                  </a:cubicBezTo>
                  <a:lnTo>
                    <a:pt x="0" y="13400"/>
                  </a:lnTo>
                  <a:cubicBezTo>
                    <a:pt x="0" y="9846"/>
                    <a:pt x="1412" y="6438"/>
                    <a:pt x="3925" y="3925"/>
                  </a:cubicBezTo>
                  <a:cubicBezTo>
                    <a:pt x="6438" y="1412"/>
                    <a:pt x="9846" y="0"/>
                    <a:pt x="13400" y="0"/>
                  </a:cubicBezTo>
                  <a:close/>
                </a:path>
              </a:pathLst>
            </a:custGeom>
            <a:solidFill>
              <a:srgbClr val="FEFBED"/>
            </a:solidFill>
            <a:ln cap="rnd">
              <a:noFill/>
              <a:prstDash val="dash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804110" cy="451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45308" y="2264304"/>
            <a:ext cx="1038862" cy="5758393"/>
            <a:chOff x="0" y="0"/>
            <a:chExt cx="1385149" cy="7677857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924175" y="1031052"/>
              <a:ext cx="460953" cy="460747"/>
              <a:chOff x="0" y="0"/>
              <a:chExt cx="848212" cy="84783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924155" y="0"/>
              <a:ext cx="460993" cy="460787"/>
              <a:chOff x="0" y="0"/>
              <a:chExt cx="848212" cy="84783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924175" y="2062064"/>
              <a:ext cx="460953" cy="460747"/>
              <a:chOff x="0" y="0"/>
              <a:chExt cx="848212" cy="847833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924179" y="3093076"/>
              <a:ext cx="460946" cy="460740"/>
              <a:chOff x="0" y="0"/>
              <a:chExt cx="848212" cy="847833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924183" y="4124081"/>
              <a:ext cx="460938" cy="460731"/>
              <a:chOff x="0" y="0"/>
              <a:chExt cx="848212" cy="847833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924187" y="5155077"/>
              <a:ext cx="460930" cy="460724"/>
              <a:chOff x="0" y="0"/>
              <a:chExt cx="848212" cy="847833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924167" y="6186066"/>
              <a:ext cx="460969" cy="460763"/>
              <a:chOff x="0" y="0"/>
              <a:chExt cx="848212" cy="847833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924167" y="7217094"/>
              <a:ext cx="460969" cy="460763"/>
              <a:chOff x="0" y="0"/>
              <a:chExt cx="848212" cy="847833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1121915"/>
              <a:ext cx="1198526" cy="261915"/>
              <a:chOff x="0" y="0"/>
              <a:chExt cx="238885" cy="52204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89481"/>
              <a:ext cx="1198526" cy="261915"/>
              <a:chOff x="0" y="0"/>
              <a:chExt cx="238885" cy="52204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0" y="2154349"/>
              <a:ext cx="1198526" cy="261915"/>
              <a:chOff x="0" y="0"/>
              <a:chExt cx="238885" cy="52204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0" y="3186782"/>
              <a:ext cx="1198526" cy="261915"/>
              <a:chOff x="0" y="0"/>
              <a:chExt cx="238885" cy="52204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0" y="4219216"/>
              <a:ext cx="1198526" cy="261915"/>
              <a:chOff x="0" y="0"/>
              <a:chExt cx="238885" cy="52204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0" y="5251650"/>
              <a:ext cx="1198526" cy="261915"/>
              <a:chOff x="0" y="0"/>
              <a:chExt cx="238885" cy="52204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1" id="61"/>
            <p:cNvGrpSpPr/>
            <p:nvPr/>
          </p:nvGrpSpPr>
          <p:grpSpPr>
            <a:xfrm rot="0">
              <a:off x="0" y="6284084"/>
              <a:ext cx="1198526" cy="261915"/>
              <a:chOff x="0" y="0"/>
              <a:chExt cx="238885" cy="52204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0" y="7316518"/>
              <a:ext cx="1198526" cy="261915"/>
              <a:chOff x="0" y="0"/>
              <a:chExt cx="238885" cy="52204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</p:grpSp>
      <p:grpSp>
        <p:nvGrpSpPr>
          <p:cNvPr name="Group 67" id="67"/>
          <p:cNvGrpSpPr/>
          <p:nvPr/>
        </p:nvGrpSpPr>
        <p:grpSpPr>
          <a:xfrm rot="0">
            <a:off x="3628045" y="3942307"/>
            <a:ext cx="4813720" cy="4813720"/>
            <a:chOff x="0" y="0"/>
            <a:chExt cx="812800" cy="812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EDF8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0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513389" y="3546447"/>
            <a:ext cx="5209580" cy="5209580"/>
            <a:chOff x="0" y="0"/>
            <a:chExt cx="812800" cy="8128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EDF8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0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3920306" y="2703865"/>
            <a:ext cx="11035996" cy="854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 spc="-349">
                <a:solidFill>
                  <a:srgbClr val="2D83CA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검증-“공격”-비판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4548265" y="1226478"/>
            <a:ext cx="9780077" cy="773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 spc="-307">
                <a:solidFill>
                  <a:srgbClr val="2D2D2D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(1) 반론의 개념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2407718" y="4524920"/>
            <a:ext cx="6736282" cy="3610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3196" spc="-159">
                <a:solidFill>
                  <a:srgbClr val="2D2D2D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입론에서 찬성 측이 준비하고 정리한</a:t>
            </a:r>
            <a:r>
              <a:rPr lang="en-US" b="true" sz="3196" spc="-159">
                <a:solidFill>
                  <a:srgbClr val="2D2D2D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 </a:t>
            </a:r>
          </a:p>
          <a:p>
            <a:pPr algn="ctr">
              <a:lnSpc>
                <a:spcPts val="4059"/>
              </a:lnSpc>
            </a:pPr>
            <a:r>
              <a:rPr lang="en-US" b="true" sz="3196" spc="-159" u="sng">
                <a:solidFill>
                  <a:srgbClr val="2D2D2D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주장과 근거, 연결 고리,</a:t>
            </a:r>
            <a:r>
              <a:rPr lang="en-US" b="true" sz="3196" spc="-159" u="sng">
                <a:solidFill>
                  <a:srgbClr val="2D2D2D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 사례</a:t>
            </a:r>
            <a:r>
              <a:rPr lang="en-US" b="true" sz="3196" spc="-159">
                <a:solidFill>
                  <a:srgbClr val="2D2D2D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를 가지고 </a:t>
            </a:r>
          </a:p>
          <a:p>
            <a:pPr algn="ctr">
              <a:lnSpc>
                <a:spcPts val="4059"/>
              </a:lnSpc>
            </a:pPr>
            <a:r>
              <a:rPr lang="en-US" b="true" sz="3196" spc="-159">
                <a:solidFill>
                  <a:srgbClr val="2D2D2D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양측의 생각과 의견이 </a:t>
            </a:r>
          </a:p>
          <a:p>
            <a:pPr algn="ctr">
              <a:lnSpc>
                <a:spcPts val="4059"/>
              </a:lnSpc>
            </a:pPr>
            <a:r>
              <a:rPr lang="en-US" b="true" sz="3196" spc="-159">
                <a:solidFill>
                  <a:srgbClr val="2D2D2D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처음으로 만나서 연결되는 부분</a:t>
            </a:r>
          </a:p>
          <a:p>
            <a:pPr algn="ctr">
              <a:lnSpc>
                <a:spcPts val="4059"/>
              </a:lnSpc>
            </a:pPr>
            <a:r>
              <a:rPr lang="en-US" b="true" sz="3196" spc="-159">
                <a:solidFill>
                  <a:srgbClr val="2D2D2D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-&gt; 실제로 상대측과 역동적으로 </a:t>
            </a:r>
          </a:p>
          <a:p>
            <a:pPr algn="ctr">
              <a:lnSpc>
                <a:spcPts val="4059"/>
              </a:lnSpc>
            </a:pPr>
            <a:r>
              <a:rPr lang="en-US" b="true" sz="3196" spc="-159">
                <a:solidFill>
                  <a:srgbClr val="FF5757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충돌</a:t>
            </a:r>
            <a:r>
              <a:rPr lang="en-US" b="true" sz="3196" spc="-159">
                <a:solidFill>
                  <a:srgbClr val="2D2D2D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하는 부분</a:t>
            </a:r>
          </a:p>
          <a:p>
            <a:pPr algn="ctr">
              <a:lnSpc>
                <a:spcPts val="4059"/>
              </a:lnSpc>
            </a:pPr>
          </a:p>
        </p:txBody>
      </p:sp>
      <p:sp>
        <p:nvSpPr>
          <p:cNvPr name="TextBox 76" id="76"/>
          <p:cNvSpPr txBox="true"/>
          <p:nvPr/>
        </p:nvSpPr>
        <p:spPr>
          <a:xfrm rot="0">
            <a:off x="9711223" y="4525051"/>
            <a:ext cx="6591724" cy="3610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132" indent="-345066" lvl="1">
              <a:lnSpc>
                <a:spcPts val="4059"/>
              </a:lnSpc>
              <a:buFont typeface="Arial"/>
              <a:buChar char="•"/>
            </a:pPr>
            <a:r>
              <a:rPr lang="en-US" b="true" sz="3196" spc="-159">
                <a:solidFill>
                  <a:srgbClr val="2D2D2D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사전 준비 X</a:t>
            </a:r>
          </a:p>
          <a:p>
            <a:pPr algn="l" marL="690132" indent="-345066" lvl="1">
              <a:lnSpc>
                <a:spcPts val="4059"/>
              </a:lnSpc>
              <a:buFont typeface="Arial"/>
              <a:buChar char="•"/>
            </a:pPr>
            <a:r>
              <a:rPr lang="en-US" b="true" sz="3196" spc="-159">
                <a:solidFill>
                  <a:srgbClr val="2D2D2D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순발력, 순간적 판단력 요구</a:t>
            </a:r>
          </a:p>
          <a:p>
            <a:pPr algn="l" marL="690132" indent="-345066" lvl="1">
              <a:lnSpc>
                <a:spcPts val="4059"/>
              </a:lnSpc>
              <a:buFont typeface="Arial"/>
              <a:buChar char="•"/>
            </a:pPr>
            <a:r>
              <a:rPr lang="en-US" b="true" sz="3196" spc="-159">
                <a:solidFill>
                  <a:srgbClr val="FF5757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토론</a:t>
            </a:r>
            <a:r>
              <a:rPr lang="en-US" b="true" sz="3196" spc="-159">
                <a:solidFill>
                  <a:srgbClr val="FF5757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의 중심: 반론 대결</a:t>
            </a:r>
          </a:p>
          <a:p>
            <a:pPr algn="l" marL="690132" indent="-345066" lvl="1">
              <a:lnSpc>
                <a:spcPts val="4059"/>
              </a:lnSpc>
              <a:buFont typeface="Arial"/>
              <a:buChar char="•"/>
            </a:pPr>
            <a:r>
              <a:rPr lang="en-US" b="true" sz="3196" spc="-159">
                <a:solidFill>
                  <a:srgbClr val="2D2D2D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자기측 강점 강화, 상대측 약점 비판</a:t>
            </a:r>
          </a:p>
          <a:p>
            <a:pPr algn="l">
              <a:lnSpc>
                <a:spcPts val="4059"/>
              </a:lnSpc>
            </a:pPr>
            <a:r>
              <a:rPr lang="en-US" sz="3196" spc="-159" b="true">
                <a:solidFill>
                  <a:srgbClr val="2D2D2D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 -&gt; </a:t>
            </a:r>
            <a:r>
              <a:rPr lang="en-US" sz="3196" spc="-159" b="true">
                <a:solidFill>
                  <a:srgbClr val="FF5757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토론을 가장 역동적이고 흥미 있게 </a:t>
            </a:r>
          </a:p>
          <a:p>
            <a:pPr algn="l">
              <a:lnSpc>
                <a:spcPts val="4059"/>
              </a:lnSpc>
            </a:pPr>
            <a:r>
              <a:rPr lang="en-US" sz="3196" spc="-159" b="true">
                <a:solidFill>
                  <a:srgbClr val="FF5757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       만드는 핵심 요소</a:t>
            </a:r>
          </a:p>
          <a:p>
            <a:pPr algn="l">
              <a:lnSpc>
                <a:spcPts val="4059"/>
              </a:lnSpc>
            </a:pPr>
          </a:p>
        </p:txBody>
      </p:sp>
      <p:grpSp>
        <p:nvGrpSpPr>
          <p:cNvPr name="Group 77" id="77"/>
          <p:cNvGrpSpPr/>
          <p:nvPr/>
        </p:nvGrpSpPr>
        <p:grpSpPr>
          <a:xfrm rot="0">
            <a:off x="2084170" y="2628442"/>
            <a:ext cx="2710759" cy="2515058"/>
            <a:chOff x="0" y="0"/>
            <a:chExt cx="3614345" cy="3353410"/>
          </a:xfrm>
        </p:grpSpPr>
        <p:sp>
          <p:nvSpPr>
            <p:cNvPr name="Freeform 78" id="78"/>
            <p:cNvSpPr/>
            <p:nvPr/>
          </p:nvSpPr>
          <p:spPr>
            <a:xfrm flipH="false" flipV="false" rot="-1521969">
              <a:off x="362121" y="506213"/>
              <a:ext cx="2890103" cy="2340984"/>
            </a:xfrm>
            <a:custGeom>
              <a:avLst/>
              <a:gdLst/>
              <a:ahLst/>
              <a:cxnLst/>
              <a:rect r="r" b="b" t="t" l="l"/>
              <a:pathLst>
                <a:path h="2340984" w="2890103">
                  <a:moveTo>
                    <a:pt x="0" y="0"/>
                  </a:moveTo>
                  <a:lnTo>
                    <a:pt x="2890103" y="0"/>
                  </a:lnTo>
                  <a:lnTo>
                    <a:pt x="2890103" y="2340984"/>
                  </a:lnTo>
                  <a:lnTo>
                    <a:pt x="0" y="234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9" id="79"/>
            <p:cNvGrpSpPr/>
            <p:nvPr/>
          </p:nvGrpSpPr>
          <p:grpSpPr>
            <a:xfrm rot="0">
              <a:off x="715219" y="1139136"/>
              <a:ext cx="1606255" cy="1075138"/>
              <a:chOff x="0" y="0"/>
              <a:chExt cx="4411560" cy="2952855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4411560" cy="2851255"/>
              </a:xfrm>
              <a:custGeom>
                <a:avLst/>
                <a:gdLst/>
                <a:ahLst/>
                <a:cxnLst/>
                <a:rect r="r" b="b" t="t" l="l"/>
                <a:pathLst>
                  <a:path h="2851255" w="4411560">
                    <a:moveTo>
                      <a:pt x="0" y="0"/>
                    </a:moveTo>
                    <a:lnTo>
                      <a:pt x="4411560" y="0"/>
                    </a:lnTo>
                    <a:lnTo>
                      <a:pt x="4411560" y="2851255"/>
                    </a:lnTo>
                    <a:lnTo>
                      <a:pt x="0" y="2851255"/>
                    </a:lnTo>
                    <a:close/>
                  </a:path>
                </a:pathLst>
              </a:custGeom>
              <a:solidFill>
                <a:srgbClr val="FFFFFB"/>
              </a:solidFill>
            </p:spPr>
          </p:sp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4411560" cy="2952855"/>
              </a:xfrm>
              <a:custGeom>
                <a:avLst/>
                <a:gdLst/>
                <a:ahLst/>
                <a:cxnLst/>
                <a:rect r="r" b="b" t="t" l="l"/>
                <a:pathLst>
                  <a:path h="2952855" w="4411560">
                    <a:moveTo>
                      <a:pt x="0" y="2851255"/>
                    </a:moveTo>
                    <a:lnTo>
                      <a:pt x="4411560" y="2851255"/>
                    </a:lnTo>
                    <a:lnTo>
                      <a:pt x="4284560" y="2952855"/>
                    </a:lnTo>
                    <a:cubicBezTo>
                      <a:pt x="4284560" y="2952855"/>
                      <a:pt x="3293960" y="2876655"/>
                      <a:pt x="3192360" y="2876655"/>
                    </a:cubicBezTo>
                    <a:lnTo>
                      <a:pt x="1219200" y="2876655"/>
                    </a:lnTo>
                    <a:cubicBezTo>
                      <a:pt x="1117600" y="2876655"/>
                      <a:pt x="127000" y="2952855"/>
                      <a:pt x="127000" y="2952855"/>
                    </a:cubicBezTo>
                    <a:lnTo>
                      <a:pt x="0" y="2851255"/>
                    </a:lnTo>
                    <a:lnTo>
                      <a:pt x="0" y="0"/>
                    </a:lnTo>
                    <a:lnTo>
                      <a:pt x="4411560" y="0"/>
                    </a:lnTo>
                    <a:lnTo>
                      <a:pt x="4411560" y="2851255"/>
                    </a:lnTo>
                    <a:lnTo>
                      <a:pt x="12700" y="2851255"/>
                    </a:lnTo>
                    <a:lnTo>
                      <a:pt x="12700" y="2838555"/>
                    </a:lnTo>
                    <a:lnTo>
                      <a:pt x="4398860" y="2838555"/>
                    </a:lnTo>
                    <a:lnTo>
                      <a:pt x="4398860" y="12700"/>
                    </a:lnTo>
                    <a:lnTo>
                      <a:pt x="12700" y="12700"/>
                    </a:lnTo>
                    <a:lnTo>
                      <a:pt x="12700" y="2851255"/>
                    </a:lnTo>
                  </a:path>
                </a:pathLst>
              </a:custGeom>
              <a:solidFill>
                <a:srgbClr val="394C60">
                  <a:alpha val="784"/>
                </a:srgbClr>
              </a:solidFill>
            </p:spPr>
          </p:sp>
          <p:sp>
            <p:nvSpPr>
              <p:cNvPr name="TextBox 82" id="82"/>
              <p:cNvSpPr txBox="true"/>
              <p:nvPr/>
            </p:nvSpPr>
            <p:spPr>
              <a:xfrm>
                <a:off x="0" y="28575"/>
                <a:ext cx="4411560" cy="2822680"/>
              </a:xfrm>
              <a:prstGeom prst="rect">
                <a:avLst/>
              </a:prstGeom>
            </p:spPr>
            <p:txBody>
              <a:bodyPr anchor="t" rtlCol="false" tIns="73985" lIns="73985" bIns="73985" rIns="73985"/>
              <a:lstStyle/>
              <a:p>
                <a:pPr algn="ctr">
                  <a:lnSpc>
                    <a:spcPts val="2385"/>
                  </a:lnSpc>
                </a:pPr>
                <a:r>
                  <a:rPr lang="en-US" sz="2293">
                    <a:solidFill>
                      <a:srgbClr val="000000"/>
                    </a:solidFill>
                    <a:latin typeface="TDTD잉크"/>
                    <a:ea typeface="TDTD잉크"/>
                    <a:cs typeface="TDTD잉크"/>
                    <a:sym typeface="TDTD잉크"/>
                  </a:rPr>
                  <a:t>논증 구성요소</a:t>
                </a: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85639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96130"/>
            <a:ext cx="1827704" cy="1804442"/>
          </a:xfrm>
          <a:custGeom>
            <a:avLst/>
            <a:gdLst/>
            <a:ahLst/>
            <a:cxnLst/>
            <a:rect r="r" b="b" t="t" l="l"/>
            <a:pathLst>
              <a:path h="1804442" w="1827704">
                <a:moveTo>
                  <a:pt x="0" y="0"/>
                </a:moveTo>
                <a:lnTo>
                  <a:pt x="1827704" y="0"/>
                </a:lnTo>
                <a:lnTo>
                  <a:pt x="1827704" y="1804442"/>
                </a:lnTo>
                <a:lnTo>
                  <a:pt x="0" y="1804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2968" y="8022696"/>
            <a:ext cx="1874402" cy="1919779"/>
          </a:xfrm>
          <a:custGeom>
            <a:avLst/>
            <a:gdLst/>
            <a:ahLst/>
            <a:cxnLst/>
            <a:rect r="r" b="b" t="t" l="l"/>
            <a:pathLst>
              <a:path h="1919779" w="1874402">
                <a:moveTo>
                  <a:pt x="0" y="0"/>
                </a:moveTo>
                <a:lnTo>
                  <a:pt x="1874402" y="0"/>
                </a:lnTo>
                <a:lnTo>
                  <a:pt x="1874402" y="1919779"/>
                </a:lnTo>
                <a:lnTo>
                  <a:pt x="0" y="19197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98089" y="720772"/>
            <a:ext cx="15381143" cy="8845456"/>
            <a:chOff x="0" y="0"/>
            <a:chExt cx="4051001" cy="23296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83789" y="720772"/>
            <a:ext cx="15381143" cy="8845456"/>
            <a:chOff x="0" y="0"/>
            <a:chExt cx="4051001" cy="23296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64739" y="720772"/>
            <a:ext cx="15381143" cy="8845456"/>
            <a:chOff x="0" y="0"/>
            <a:chExt cx="4051001" cy="23296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216438" y="916974"/>
            <a:ext cx="14443732" cy="1497847"/>
            <a:chOff x="0" y="0"/>
            <a:chExt cx="3804110" cy="39449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04110" cy="394495"/>
            </a:xfrm>
            <a:custGeom>
              <a:avLst/>
              <a:gdLst/>
              <a:ahLst/>
              <a:cxnLst/>
              <a:rect r="r" b="b" t="t" l="l"/>
              <a:pathLst>
                <a:path h="394495" w="3804110">
                  <a:moveTo>
                    <a:pt x="13400" y="0"/>
                  </a:moveTo>
                  <a:lnTo>
                    <a:pt x="3790710" y="0"/>
                  </a:lnTo>
                  <a:cubicBezTo>
                    <a:pt x="3794264" y="0"/>
                    <a:pt x="3797672" y="1412"/>
                    <a:pt x="3800185" y="3925"/>
                  </a:cubicBezTo>
                  <a:cubicBezTo>
                    <a:pt x="3802699" y="6438"/>
                    <a:pt x="3804110" y="9846"/>
                    <a:pt x="3804110" y="13400"/>
                  </a:cubicBezTo>
                  <a:lnTo>
                    <a:pt x="3804110" y="381095"/>
                  </a:lnTo>
                  <a:cubicBezTo>
                    <a:pt x="3804110" y="384649"/>
                    <a:pt x="3802699" y="388057"/>
                    <a:pt x="3800185" y="390570"/>
                  </a:cubicBezTo>
                  <a:cubicBezTo>
                    <a:pt x="3797672" y="393083"/>
                    <a:pt x="3794264" y="394495"/>
                    <a:pt x="3790710" y="394495"/>
                  </a:cubicBezTo>
                  <a:lnTo>
                    <a:pt x="13400" y="394495"/>
                  </a:lnTo>
                  <a:cubicBezTo>
                    <a:pt x="9846" y="394495"/>
                    <a:pt x="6438" y="393083"/>
                    <a:pt x="3925" y="390570"/>
                  </a:cubicBezTo>
                  <a:cubicBezTo>
                    <a:pt x="1412" y="388057"/>
                    <a:pt x="0" y="384649"/>
                    <a:pt x="0" y="381095"/>
                  </a:cubicBezTo>
                  <a:lnTo>
                    <a:pt x="0" y="13400"/>
                  </a:lnTo>
                  <a:cubicBezTo>
                    <a:pt x="0" y="9846"/>
                    <a:pt x="1412" y="6438"/>
                    <a:pt x="3925" y="3925"/>
                  </a:cubicBezTo>
                  <a:cubicBezTo>
                    <a:pt x="6438" y="1412"/>
                    <a:pt x="9846" y="0"/>
                    <a:pt x="13400" y="0"/>
                  </a:cubicBezTo>
                  <a:close/>
                </a:path>
              </a:pathLst>
            </a:custGeom>
            <a:solidFill>
              <a:srgbClr val="FEFBED"/>
            </a:solidFill>
            <a:ln cap="rnd">
              <a:noFill/>
              <a:prstDash val="dash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804110" cy="451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45308" y="2264304"/>
            <a:ext cx="1038862" cy="5758393"/>
            <a:chOff x="0" y="0"/>
            <a:chExt cx="1385149" cy="7677857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924175" y="1031052"/>
              <a:ext cx="460953" cy="460747"/>
              <a:chOff x="0" y="0"/>
              <a:chExt cx="848212" cy="84783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924155" y="0"/>
              <a:ext cx="460993" cy="460787"/>
              <a:chOff x="0" y="0"/>
              <a:chExt cx="848212" cy="84783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924175" y="2062064"/>
              <a:ext cx="460953" cy="460747"/>
              <a:chOff x="0" y="0"/>
              <a:chExt cx="848212" cy="847833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924179" y="3093076"/>
              <a:ext cx="460946" cy="460740"/>
              <a:chOff x="0" y="0"/>
              <a:chExt cx="848212" cy="847833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924183" y="4124081"/>
              <a:ext cx="460938" cy="460731"/>
              <a:chOff x="0" y="0"/>
              <a:chExt cx="848212" cy="847833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924187" y="5155077"/>
              <a:ext cx="460930" cy="460724"/>
              <a:chOff x="0" y="0"/>
              <a:chExt cx="848212" cy="847833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924167" y="6186066"/>
              <a:ext cx="460969" cy="460763"/>
              <a:chOff x="0" y="0"/>
              <a:chExt cx="848212" cy="847833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924167" y="7217094"/>
              <a:ext cx="460969" cy="460763"/>
              <a:chOff x="0" y="0"/>
              <a:chExt cx="848212" cy="847833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1121915"/>
              <a:ext cx="1198526" cy="261915"/>
              <a:chOff x="0" y="0"/>
              <a:chExt cx="238885" cy="52204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89481"/>
              <a:ext cx="1198526" cy="261915"/>
              <a:chOff x="0" y="0"/>
              <a:chExt cx="238885" cy="52204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0" y="2154349"/>
              <a:ext cx="1198526" cy="261915"/>
              <a:chOff x="0" y="0"/>
              <a:chExt cx="238885" cy="52204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0" y="3186782"/>
              <a:ext cx="1198526" cy="261915"/>
              <a:chOff x="0" y="0"/>
              <a:chExt cx="238885" cy="52204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0" y="4219216"/>
              <a:ext cx="1198526" cy="261915"/>
              <a:chOff x="0" y="0"/>
              <a:chExt cx="238885" cy="52204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0" y="5251650"/>
              <a:ext cx="1198526" cy="261915"/>
              <a:chOff x="0" y="0"/>
              <a:chExt cx="238885" cy="52204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1" id="61"/>
            <p:cNvGrpSpPr/>
            <p:nvPr/>
          </p:nvGrpSpPr>
          <p:grpSpPr>
            <a:xfrm rot="0">
              <a:off x="0" y="6284084"/>
              <a:ext cx="1198526" cy="261915"/>
              <a:chOff x="0" y="0"/>
              <a:chExt cx="238885" cy="52204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0" y="7316518"/>
              <a:ext cx="1198526" cy="261915"/>
              <a:chOff x="0" y="0"/>
              <a:chExt cx="238885" cy="52204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</p:grpSp>
      <p:sp>
        <p:nvSpPr>
          <p:cNvPr name="TextBox 67" id="67"/>
          <p:cNvSpPr txBox="true"/>
          <p:nvPr/>
        </p:nvSpPr>
        <p:spPr>
          <a:xfrm rot="0">
            <a:off x="3954865" y="923925"/>
            <a:ext cx="9780077" cy="77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b="true" sz="4400" spc="-308">
                <a:solidFill>
                  <a:srgbClr val="2D2D2D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(2) 반론 발언의 구조</a:t>
            </a:r>
          </a:p>
        </p:txBody>
      </p:sp>
      <p:graphicFrame>
        <p:nvGraphicFramePr>
          <p:cNvPr name="Table 68" id="68"/>
          <p:cNvGraphicFramePr>
            <a:graphicFrameLocks noGrp="true"/>
          </p:cNvGraphicFramePr>
          <p:nvPr/>
        </p:nvGraphicFramePr>
        <p:xfrm>
          <a:off x="2302081" y="2000572"/>
          <a:ext cx="14358089" cy="7334250"/>
        </p:xfrm>
        <a:graphic>
          <a:graphicData uri="http://schemas.openxmlformats.org/drawingml/2006/table">
            <a:tbl>
              <a:tblPr/>
              <a:tblGrid>
                <a:gridCol w="4341377"/>
                <a:gridCol w="508801"/>
                <a:gridCol w="9507910"/>
              </a:tblGrid>
              <a:tr h="9633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Tlab 모던라운드 Bold"/>
                          <a:ea typeface="Tlab 모던라운드 Bold"/>
                          <a:cs typeface="Tlab 모던라운드 Bold"/>
                          <a:sym typeface="Tlab 모던라운드 Bold"/>
                        </a:rPr>
                        <a:t>구조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Tlab 모던라운드 Bold"/>
                          <a:ea typeface="Tlab 모던라운드 Bold"/>
                          <a:cs typeface="Tlab 모던라운드 Bold"/>
                          <a:sym typeface="Tlab 모던라운드 Bold"/>
                        </a:rPr>
                        <a:t>발언의 예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</a:tr>
              <a:tr h="1466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Tlab 모던라운드 Bold"/>
                          <a:ea typeface="Tlab 모던라운드 Bold"/>
                          <a:cs typeface="Tlab 모던라운드 Bold"/>
                          <a:sym typeface="Tlab 모던라운드 Bold"/>
                        </a:rPr>
                        <a:t>상대방의 쟁점(point) 찾기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-상대측은 ~에 주목하고 있습니다.</a:t>
                      </a:r>
                      <a:endParaRPr lang="en-US" sz="1100"/>
                    </a:p>
                    <a:p>
                      <a:pPr algn="l">
                        <a:lnSpc>
                          <a:spcPts val="3360"/>
                        </a:lnSpc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-상대측은 ~에 대해 말하고 있습니다.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466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Tlab 모던라운드 Bold"/>
                          <a:ea typeface="Tlab 모던라운드 Bold"/>
                          <a:cs typeface="Tlab 모던라운드 Bold"/>
                          <a:sym typeface="Tlab 모던라운드 Bold"/>
                        </a:rPr>
                        <a:t>상대방 주장 재표현하기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-상대측은 ~(이)라고 말했습니다.</a:t>
                      </a:r>
                      <a:endParaRPr lang="en-US" sz="1100"/>
                    </a:p>
                    <a:p>
                      <a:pPr algn="l">
                        <a:lnSpc>
                          <a:spcPts val="3360"/>
                        </a:lnSpc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-상대측은 ~(이)라고 주장했습니다.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466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Tlab 모던라운드 Bold"/>
                          <a:ea typeface="Tlab 모던라운드 Bold"/>
                          <a:cs typeface="Tlab 모던라운드 Bold"/>
                          <a:sym typeface="Tlab 모던라운드 Bold"/>
                        </a:rPr>
                        <a:t>부정하기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-그러나 우리는 ~에 동의할 수 없습니다.</a:t>
                      </a:r>
                      <a:endParaRPr lang="en-US" sz="1100"/>
                    </a:p>
                    <a:p>
                      <a:pPr algn="l">
                        <a:lnSpc>
                          <a:spcPts val="3360"/>
                        </a:lnSpc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-그러나 우리는 ~을(를) 주장합니다.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9851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Tlab 모던라운드 Bold"/>
                          <a:ea typeface="Tlab 모던라운드 Bold"/>
                          <a:cs typeface="Tlab 모던라운드 Bold"/>
                          <a:sym typeface="Tlab 모던라운드 Bold"/>
                        </a:rPr>
                        <a:t>이유 제시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왜냐하면 [사실이 아니기, 정확하지 않기, 관련성이 없기] 때문이다.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9851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Tlab 모던라운드 Bold"/>
                          <a:ea typeface="Tlab 모던라운드 Bold"/>
                          <a:cs typeface="Tlab 모던라운드 Bold"/>
                          <a:sym typeface="Tlab 모던라운드 Bold"/>
                        </a:rPr>
                        <a:t>이론적 근거 제시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 그 이유(사례)는 ~입니다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85639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96130"/>
            <a:ext cx="1827704" cy="1804442"/>
          </a:xfrm>
          <a:custGeom>
            <a:avLst/>
            <a:gdLst/>
            <a:ahLst/>
            <a:cxnLst/>
            <a:rect r="r" b="b" t="t" l="l"/>
            <a:pathLst>
              <a:path h="1804442" w="1827704">
                <a:moveTo>
                  <a:pt x="0" y="0"/>
                </a:moveTo>
                <a:lnTo>
                  <a:pt x="1827704" y="0"/>
                </a:lnTo>
                <a:lnTo>
                  <a:pt x="1827704" y="1804442"/>
                </a:lnTo>
                <a:lnTo>
                  <a:pt x="0" y="1804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2968" y="8022696"/>
            <a:ext cx="1874402" cy="1919779"/>
          </a:xfrm>
          <a:custGeom>
            <a:avLst/>
            <a:gdLst/>
            <a:ahLst/>
            <a:cxnLst/>
            <a:rect r="r" b="b" t="t" l="l"/>
            <a:pathLst>
              <a:path h="1919779" w="1874402">
                <a:moveTo>
                  <a:pt x="0" y="0"/>
                </a:moveTo>
                <a:lnTo>
                  <a:pt x="1874402" y="0"/>
                </a:lnTo>
                <a:lnTo>
                  <a:pt x="1874402" y="1919779"/>
                </a:lnTo>
                <a:lnTo>
                  <a:pt x="0" y="19197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98089" y="720772"/>
            <a:ext cx="15381143" cy="8845456"/>
            <a:chOff x="0" y="0"/>
            <a:chExt cx="4051001" cy="23296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83789" y="720772"/>
            <a:ext cx="15381143" cy="8845456"/>
            <a:chOff x="0" y="0"/>
            <a:chExt cx="4051001" cy="23296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53428" y="720772"/>
            <a:ext cx="15381143" cy="8845456"/>
            <a:chOff x="0" y="0"/>
            <a:chExt cx="4051001" cy="23296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216438" y="916974"/>
            <a:ext cx="14443732" cy="1497847"/>
            <a:chOff x="0" y="0"/>
            <a:chExt cx="3804110" cy="39449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04110" cy="394495"/>
            </a:xfrm>
            <a:custGeom>
              <a:avLst/>
              <a:gdLst/>
              <a:ahLst/>
              <a:cxnLst/>
              <a:rect r="r" b="b" t="t" l="l"/>
              <a:pathLst>
                <a:path h="394495" w="3804110">
                  <a:moveTo>
                    <a:pt x="13400" y="0"/>
                  </a:moveTo>
                  <a:lnTo>
                    <a:pt x="3790710" y="0"/>
                  </a:lnTo>
                  <a:cubicBezTo>
                    <a:pt x="3794264" y="0"/>
                    <a:pt x="3797672" y="1412"/>
                    <a:pt x="3800185" y="3925"/>
                  </a:cubicBezTo>
                  <a:cubicBezTo>
                    <a:pt x="3802699" y="6438"/>
                    <a:pt x="3804110" y="9846"/>
                    <a:pt x="3804110" y="13400"/>
                  </a:cubicBezTo>
                  <a:lnTo>
                    <a:pt x="3804110" y="381095"/>
                  </a:lnTo>
                  <a:cubicBezTo>
                    <a:pt x="3804110" y="384649"/>
                    <a:pt x="3802699" y="388057"/>
                    <a:pt x="3800185" y="390570"/>
                  </a:cubicBezTo>
                  <a:cubicBezTo>
                    <a:pt x="3797672" y="393083"/>
                    <a:pt x="3794264" y="394495"/>
                    <a:pt x="3790710" y="394495"/>
                  </a:cubicBezTo>
                  <a:lnTo>
                    <a:pt x="13400" y="394495"/>
                  </a:lnTo>
                  <a:cubicBezTo>
                    <a:pt x="9846" y="394495"/>
                    <a:pt x="6438" y="393083"/>
                    <a:pt x="3925" y="390570"/>
                  </a:cubicBezTo>
                  <a:cubicBezTo>
                    <a:pt x="1412" y="388057"/>
                    <a:pt x="0" y="384649"/>
                    <a:pt x="0" y="381095"/>
                  </a:cubicBezTo>
                  <a:lnTo>
                    <a:pt x="0" y="13400"/>
                  </a:lnTo>
                  <a:cubicBezTo>
                    <a:pt x="0" y="9846"/>
                    <a:pt x="1412" y="6438"/>
                    <a:pt x="3925" y="3925"/>
                  </a:cubicBezTo>
                  <a:cubicBezTo>
                    <a:pt x="6438" y="1412"/>
                    <a:pt x="9846" y="0"/>
                    <a:pt x="13400" y="0"/>
                  </a:cubicBezTo>
                  <a:close/>
                </a:path>
              </a:pathLst>
            </a:custGeom>
            <a:solidFill>
              <a:srgbClr val="FEFBED"/>
            </a:solidFill>
            <a:ln cap="rnd">
              <a:noFill/>
              <a:prstDash val="dash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804110" cy="451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45308" y="2264304"/>
            <a:ext cx="1038862" cy="5758393"/>
            <a:chOff x="0" y="0"/>
            <a:chExt cx="1385149" cy="7677857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924175" y="1031052"/>
              <a:ext cx="460953" cy="460747"/>
              <a:chOff x="0" y="0"/>
              <a:chExt cx="848212" cy="84783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924155" y="0"/>
              <a:ext cx="460993" cy="460787"/>
              <a:chOff x="0" y="0"/>
              <a:chExt cx="848212" cy="84783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924175" y="2062064"/>
              <a:ext cx="460953" cy="460747"/>
              <a:chOff x="0" y="0"/>
              <a:chExt cx="848212" cy="847833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924179" y="3093076"/>
              <a:ext cx="460946" cy="460740"/>
              <a:chOff x="0" y="0"/>
              <a:chExt cx="848212" cy="847833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924183" y="4124081"/>
              <a:ext cx="460938" cy="460731"/>
              <a:chOff x="0" y="0"/>
              <a:chExt cx="848212" cy="847833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924187" y="5155077"/>
              <a:ext cx="460930" cy="460724"/>
              <a:chOff x="0" y="0"/>
              <a:chExt cx="848212" cy="847833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924167" y="6186066"/>
              <a:ext cx="460969" cy="460763"/>
              <a:chOff x="0" y="0"/>
              <a:chExt cx="848212" cy="847833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924167" y="7217094"/>
              <a:ext cx="460969" cy="460763"/>
              <a:chOff x="0" y="0"/>
              <a:chExt cx="848212" cy="847833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1121915"/>
              <a:ext cx="1198526" cy="261915"/>
              <a:chOff x="0" y="0"/>
              <a:chExt cx="238885" cy="52204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89481"/>
              <a:ext cx="1198526" cy="261915"/>
              <a:chOff x="0" y="0"/>
              <a:chExt cx="238885" cy="52204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0" y="2154349"/>
              <a:ext cx="1198526" cy="261915"/>
              <a:chOff x="0" y="0"/>
              <a:chExt cx="238885" cy="52204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0" y="3186782"/>
              <a:ext cx="1198526" cy="261915"/>
              <a:chOff x="0" y="0"/>
              <a:chExt cx="238885" cy="52204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0" y="4219216"/>
              <a:ext cx="1198526" cy="261915"/>
              <a:chOff x="0" y="0"/>
              <a:chExt cx="238885" cy="52204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0" y="5251650"/>
              <a:ext cx="1198526" cy="261915"/>
              <a:chOff x="0" y="0"/>
              <a:chExt cx="238885" cy="52204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1" id="61"/>
            <p:cNvGrpSpPr/>
            <p:nvPr/>
          </p:nvGrpSpPr>
          <p:grpSpPr>
            <a:xfrm rot="0">
              <a:off x="0" y="6284084"/>
              <a:ext cx="1198526" cy="261915"/>
              <a:chOff x="0" y="0"/>
              <a:chExt cx="238885" cy="52204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0" y="7316518"/>
              <a:ext cx="1198526" cy="261915"/>
              <a:chOff x="0" y="0"/>
              <a:chExt cx="238885" cy="52204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</p:grpSp>
      <p:grpSp>
        <p:nvGrpSpPr>
          <p:cNvPr name="Group 67" id="67"/>
          <p:cNvGrpSpPr/>
          <p:nvPr/>
        </p:nvGrpSpPr>
        <p:grpSpPr>
          <a:xfrm rot="0">
            <a:off x="3092665" y="2805273"/>
            <a:ext cx="5578046" cy="5644788"/>
            <a:chOff x="0" y="0"/>
            <a:chExt cx="1538673" cy="155708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538673" cy="1557084"/>
            </a:xfrm>
            <a:custGeom>
              <a:avLst/>
              <a:gdLst/>
              <a:ahLst/>
              <a:cxnLst/>
              <a:rect r="r" b="b" t="t" l="l"/>
              <a:pathLst>
                <a:path h="1557084" w="1538673">
                  <a:moveTo>
                    <a:pt x="27759" y="0"/>
                  </a:moveTo>
                  <a:lnTo>
                    <a:pt x="1510915" y="0"/>
                  </a:lnTo>
                  <a:cubicBezTo>
                    <a:pt x="1526245" y="0"/>
                    <a:pt x="1538673" y="12428"/>
                    <a:pt x="1538673" y="27759"/>
                  </a:cubicBezTo>
                  <a:lnTo>
                    <a:pt x="1538673" y="1529325"/>
                  </a:lnTo>
                  <a:cubicBezTo>
                    <a:pt x="1538673" y="1536687"/>
                    <a:pt x="1535749" y="1543748"/>
                    <a:pt x="1530543" y="1548953"/>
                  </a:cubicBezTo>
                  <a:cubicBezTo>
                    <a:pt x="1525337" y="1554159"/>
                    <a:pt x="1518277" y="1557084"/>
                    <a:pt x="1510915" y="1557084"/>
                  </a:cubicBezTo>
                  <a:lnTo>
                    <a:pt x="27759" y="1557084"/>
                  </a:lnTo>
                  <a:cubicBezTo>
                    <a:pt x="12428" y="1557084"/>
                    <a:pt x="0" y="1544656"/>
                    <a:pt x="0" y="1529325"/>
                  </a:cubicBezTo>
                  <a:lnTo>
                    <a:pt x="0" y="27759"/>
                  </a:lnTo>
                  <a:cubicBezTo>
                    <a:pt x="0" y="12428"/>
                    <a:pt x="12428" y="0"/>
                    <a:pt x="27759" y="0"/>
                  </a:cubicBezTo>
                  <a:close/>
                </a:path>
              </a:pathLst>
            </a:custGeom>
            <a:solidFill>
              <a:srgbClr val="FCF6FF"/>
            </a:solidFill>
            <a:ln w="28575" cap="sq">
              <a:solidFill>
                <a:srgbClr val="2D2D2D"/>
              </a:solidFill>
              <a:prstDash val="dash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538673" cy="15951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0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009448" y="2805273"/>
            <a:ext cx="5822034" cy="5644788"/>
            <a:chOff x="0" y="0"/>
            <a:chExt cx="1605976" cy="155708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605976" cy="1557084"/>
            </a:xfrm>
            <a:custGeom>
              <a:avLst/>
              <a:gdLst/>
              <a:ahLst/>
              <a:cxnLst/>
              <a:rect r="r" b="b" t="t" l="l"/>
              <a:pathLst>
                <a:path h="1557084" w="1605976">
                  <a:moveTo>
                    <a:pt x="26595" y="0"/>
                  </a:moveTo>
                  <a:lnTo>
                    <a:pt x="1579381" y="0"/>
                  </a:lnTo>
                  <a:cubicBezTo>
                    <a:pt x="1586434" y="0"/>
                    <a:pt x="1593199" y="2802"/>
                    <a:pt x="1598186" y="7790"/>
                  </a:cubicBezTo>
                  <a:cubicBezTo>
                    <a:pt x="1603174" y="12777"/>
                    <a:pt x="1605976" y="19542"/>
                    <a:pt x="1605976" y="26595"/>
                  </a:cubicBezTo>
                  <a:lnTo>
                    <a:pt x="1605976" y="1530488"/>
                  </a:lnTo>
                  <a:cubicBezTo>
                    <a:pt x="1605976" y="1537542"/>
                    <a:pt x="1603174" y="1544307"/>
                    <a:pt x="1598186" y="1549294"/>
                  </a:cubicBezTo>
                  <a:cubicBezTo>
                    <a:pt x="1593199" y="1554282"/>
                    <a:pt x="1586434" y="1557084"/>
                    <a:pt x="1579381" y="1557084"/>
                  </a:cubicBezTo>
                  <a:lnTo>
                    <a:pt x="26595" y="1557084"/>
                  </a:lnTo>
                  <a:cubicBezTo>
                    <a:pt x="19542" y="1557084"/>
                    <a:pt x="12777" y="1554282"/>
                    <a:pt x="7790" y="1549294"/>
                  </a:cubicBezTo>
                  <a:cubicBezTo>
                    <a:pt x="2802" y="1544307"/>
                    <a:pt x="0" y="1537542"/>
                    <a:pt x="0" y="1530488"/>
                  </a:cubicBezTo>
                  <a:lnTo>
                    <a:pt x="0" y="26595"/>
                  </a:lnTo>
                  <a:cubicBezTo>
                    <a:pt x="0" y="19542"/>
                    <a:pt x="2802" y="12777"/>
                    <a:pt x="7790" y="7790"/>
                  </a:cubicBezTo>
                  <a:cubicBezTo>
                    <a:pt x="12777" y="2802"/>
                    <a:pt x="19542" y="0"/>
                    <a:pt x="26595" y="0"/>
                  </a:cubicBezTo>
                  <a:close/>
                </a:path>
              </a:pathLst>
            </a:custGeom>
            <a:solidFill>
              <a:srgbClr val="FCF6FF"/>
            </a:solidFill>
            <a:ln w="28575" cap="sq">
              <a:solidFill>
                <a:srgbClr val="2D2D2D"/>
              </a:solidFill>
              <a:prstDash val="dash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605976" cy="15951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06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3" id="73"/>
          <p:cNvSpPr/>
          <p:nvPr/>
        </p:nvSpPr>
        <p:spPr>
          <a:xfrm flipH="false" flipV="false" rot="0">
            <a:off x="8677220" y="7854537"/>
            <a:ext cx="1194281" cy="1528680"/>
          </a:xfrm>
          <a:custGeom>
            <a:avLst/>
            <a:gdLst/>
            <a:ahLst/>
            <a:cxnLst/>
            <a:rect r="r" b="b" t="t" l="l"/>
            <a:pathLst>
              <a:path h="1528680" w="1194281">
                <a:moveTo>
                  <a:pt x="0" y="0"/>
                </a:moveTo>
                <a:lnTo>
                  <a:pt x="1194281" y="0"/>
                </a:lnTo>
                <a:lnTo>
                  <a:pt x="1194281" y="1528681"/>
                </a:lnTo>
                <a:lnTo>
                  <a:pt x="0" y="15286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4" id="74"/>
          <p:cNvSpPr txBox="true"/>
          <p:nvPr/>
        </p:nvSpPr>
        <p:spPr>
          <a:xfrm rot="0">
            <a:off x="4084992" y="1328182"/>
            <a:ext cx="9780077" cy="672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60"/>
              </a:lnSpc>
              <a:spcBef>
                <a:spcPct val="0"/>
              </a:spcBef>
            </a:pPr>
            <a:r>
              <a:rPr lang="en-US" b="true" sz="3900" spc="-273">
                <a:solidFill>
                  <a:srgbClr val="2D2D2D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(예시)</a:t>
            </a:r>
            <a:r>
              <a:rPr lang="en-US" b="true" sz="3900" spc="-273">
                <a:solidFill>
                  <a:srgbClr val="2D2D2D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 ‘청소년 아르바이트는 바람직하다’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4084992" y="3021904"/>
            <a:ext cx="3200716" cy="5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4"/>
              </a:lnSpc>
            </a:pPr>
            <a:r>
              <a:rPr lang="en-US" sz="3499" spc="-244">
                <a:solidFill>
                  <a:srgbClr val="BE80D6"/>
                </a:solidFill>
                <a:latin typeface="Tlab 모던라운드 Light"/>
                <a:ea typeface="Tlab 모던라운드 Light"/>
                <a:cs typeface="Tlab 모던라운드 Light"/>
                <a:sym typeface="Tlab 모던라운드 Light"/>
              </a:rPr>
              <a:t>찬성측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1296650" y="3021904"/>
            <a:ext cx="3200716" cy="5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4"/>
              </a:lnSpc>
            </a:pPr>
            <a:r>
              <a:rPr lang="en-US" sz="3499" spc="-244">
                <a:solidFill>
                  <a:srgbClr val="3357CE"/>
                </a:solidFill>
                <a:latin typeface="Tlab 모던라운드 Light"/>
                <a:ea typeface="Tlab 모던라운드 Light"/>
                <a:cs typeface="Tlab 모던라운드 Light"/>
                <a:sym typeface="Tlab 모던라운드 Light"/>
              </a:rPr>
              <a:t>반대측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3368136" y="3906523"/>
            <a:ext cx="5027105" cy="247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 spc="-140">
                <a:solidFill>
                  <a:srgbClr val="6D6D6D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아르바이트를 통해서 </a:t>
            </a:r>
            <a:r>
              <a:rPr lang="en-US" b="true" sz="2000" spc="-140">
                <a:solidFill>
                  <a:srgbClr val="3357CE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돈의 소중함을 알게 되어 건전한 소비 습관이 형성됩니다. 왜냐하면 돈은 자신이 노력한 대가이므로 돈을 함부로 낭비하지 않고 의미있게 사용하려는 태도</a:t>
            </a:r>
            <a:r>
              <a:rPr lang="en-US" b="true" sz="2000" spc="-140">
                <a:solidFill>
                  <a:srgbClr val="6D6D6D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가 생기기 때문입니다. 워런 버핏은 검소하게 생활하기로 유명합니다. 점심으로 햄버거와 콜라를 즐겨 먹고 중고차를 직접 몰고 다니며 50년째 같은 집에서 산다고 합니다.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0287000" y="3938915"/>
            <a:ext cx="5347832" cy="4234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b="true" sz="2000" spc="-140">
                <a:solidFill>
                  <a:srgbClr val="6D6D6D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찬성 측은 아르바이트로 받은 돈을 사용할 때 형성되는 태도</a:t>
            </a:r>
            <a:r>
              <a:rPr lang="en-US" b="true" sz="2000" spc="-140">
                <a:solidFill>
                  <a:srgbClr val="FF3131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에 주목하고 있습니다</a:t>
            </a:r>
            <a:r>
              <a:rPr lang="en-US" b="true" sz="2000" spc="-140">
                <a:solidFill>
                  <a:srgbClr val="6D6D6D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. 힘들게 번 돈이기 때문에 함부로 낭비하지 않아 건전한 소비 습관이 </a:t>
            </a:r>
            <a:r>
              <a:rPr lang="en-US" b="true" sz="2000" spc="-140">
                <a:solidFill>
                  <a:srgbClr val="FF3131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형성된다는 것입니다.</a:t>
            </a:r>
            <a:r>
              <a:rPr lang="en-US" b="true" sz="2000" spc="-140">
                <a:solidFill>
                  <a:srgbClr val="6D6D6D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 그러나 저는 두 가지 이유 때문에 </a:t>
            </a:r>
            <a:r>
              <a:rPr lang="en-US" b="true" sz="2000" spc="-140">
                <a:solidFill>
                  <a:srgbClr val="FF3131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이 주장에 동의할 수 없습니다.</a:t>
            </a:r>
            <a:r>
              <a:rPr lang="en-US" b="true" sz="2000" spc="-140">
                <a:solidFill>
                  <a:srgbClr val="6D6D6D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 </a:t>
            </a:r>
            <a:r>
              <a:rPr lang="en-US" b="true" sz="2000" spc="-140">
                <a:solidFill>
                  <a:srgbClr val="FF3131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첫째</a:t>
            </a:r>
            <a:r>
              <a:rPr lang="en-US" b="true" sz="2000" spc="-140">
                <a:solidFill>
                  <a:srgbClr val="6D6D6D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, 건전한 소비 습관을 형성하기보다 돈을 낭비하게 되는 경우가 더 많습니다. 서울 YMCA 자료에 따르면 아르바이트로 번 돈을 52.5%는 옷과 신발 구매, 9%는 유흥비, 10%는 술과 담배 구입에 쓴다고 합니다. </a:t>
            </a:r>
            <a:r>
              <a:rPr lang="en-US" b="true" sz="2000" spc="-140">
                <a:solidFill>
                  <a:srgbClr val="FF3131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둘째</a:t>
            </a:r>
            <a:r>
              <a:rPr lang="en-US" b="true" sz="2000" spc="-140">
                <a:solidFill>
                  <a:srgbClr val="6D6D6D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, 찬성 측이 사례로 든 워런 버핏의 검소한 소비 습관은 아르바이트를 통해 형성된 것이 아니기 때문에 논제와 연관이 없습니다. </a:t>
            </a:r>
            <a:r>
              <a:rPr lang="en-US" b="true" sz="2000" spc="-140">
                <a:solidFill>
                  <a:srgbClr val="FF3131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그렇기에 찬성 측의 논리를 받아들일 수 없습니다.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85639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96130"/>
            <a:ext cx="1827704" cy="1804442"/>
          </a:xfrm>
          <a:custGeom>
            <a:avLst/>
            <a:gdLst/>
            <a:ahLst/>
            <a:cxnLst/>
            <a:rect r="r" b="b" t="t" l="l"/>
            <a:pathLst>
              <a:path h="1804442" w="1827704">
                <a:moveTo>
                  <a:pt x="0" y="0"/>
                </a:moveTo>
                <a:lnTo>
                  <a:pt x="1827704" y="0"/>
                </a:lnTo>
                <a:lnTo>
                  <a:pt x="1827704" y="1804442"/>
                </a:lnTo>
                <a:lnTo>
                  <a:pt x="0" y="1804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2968" y="8022696"/>
            <a:ext cx="1874402" cy="1919779"/>
          </a:xfrm>
          <a:custGeom>
            <a:avLst/>
            <a:gdLst/>
            <a:ahLst/>
            <a:cxnLst/>
            <a:rect r="r" b="b" t="t" l="l"/>
            <a:pathLst>
              <a:path h="1919779" w="1874402">
                <a:moveTo>
                  <a:pt x="0" y="0"/>
                </a:moveTo>
                <a:lnTo>
                  <a:pt x="1874402" y="0"/>
                </a:lnTo>
                <a:lnTo>
                  <a:pt x="1874402" y="1919779"/>
                </a:lnTo>
                <a:lnTo>
                  <a:pt x="0" y="19197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98089" y="720772"/>
            <a:ext cx="15381143" cy="8845456"/>
            <a:chOff x="0" y="0"/>
            <a:chExt cx="4051001" cy="23296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83789" y="720772"/>
            <a:ext cx="15381143" cy="8845456"/>
            <a:chOff x="0" y="0"/>
            <a:chExt cx="4051001" cy="23296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279182" y="4007164"/>
            <a:ext cx="12318244" cy="4199642"/>
            <a:chOff x="0" y="0"/>
            <a:chExt cx="16424325" cy="5599523"/>
          </a:xfrm>
        </p:grpSpPr>
        <p:sp>
          <p:nvSpPr>
            <p:cNvPr name="AutoShape 13" id="13"/>
            <p:cNvSpPr/>
            <p:nvPr/>
          </p:nvSpPr>
          <p:spPr>
            <a:xfrm>
              <a:off x="0" y="1871335"/>
              <a:ext cx="16424325" cy="0"/>
            </a:xfrm>
            <a:prstGeom prst="line">
              <a:avLst/>
            </a:prstGeom>
            <a:ln cap="flat" w="2540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0" y="2800207"/>
              <a:ext cx="16424325" cy="0"/>
            </a:xfrm>
            <a:prstGeom prst="line">
              <a:avLst/>
            </a:prstGeom>
            <a:ln cap="flat" w="2540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0" y="3729079"/>
              <a:ext cx="16424325" cy="0"/>
            </a:xfrm>
            <a:prstGeom prst="line">
              <a:avLst/>
            </a:prstGeom>
            <a:ln cap="flat" w="2540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>
              <a:off x="0" y="4657951"/>
              <a:ext cx="16424325" cy="0"/>
            </a:xfrm>
            <a:prstGeom prst="line">
              <a:avLst/>
            </a:prstGeom>
            <a:ln cap="flat" w="2540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>
              <a:off x="0" y="5586823"/>
              <a:ext cx="16424325" cy="0"/>
            </a:xfrm>
            <a:prstGeom prst="line">
              <a:avLst/>
            </a:prstGeom>
            <a:ln cap="flat" w="2540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>
              <a:off x="0" y="942464"/>
              <a:ext cx="16424325" cy="0"/>
            </a:xfrm>
            <a:prstGeom prst="line">
              <a:avLst/>
            </a:prstGeom>
            <a:ln cap="flat" w="2540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0" y="12700"/>
              <a:ext cx="16424325" cy="0"/>
            </a:xfrm>
            <a:prstGeom prst="line">
              <a:avLst/>
            </a:prstGeom>
            <a:ln cap="flat" w="2540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453428" y="720772"/>
            <a:ext cx="15381143" cy="8845456"/>
            <a:chOff x="0" y="0"/>
            <a:chExt cx="4051001" cy="232966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216438" y="916974"/>
            <a:ext cx="14443732" cy="1497847"/>
            <a:chOff x="0" y="0"/>
            <a:chExt cx="3804110" cy="3944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04110" cy="394495"/>
            </a:xfrm>
            <a:custGeom>
              <a:avLst/>
              <a:gdLst/>
              <a:ahLst/>
              <a:cxnLst/>
              <a:rect r="r" b="b" t="t" l="l"/>
              <a:pathLst>
                <a:path h="394495" w="3804110">
                  <a:moveTo>
                    <a:pt x="13400" y="0"/>
                  </a:moveTo>
                  <a:lnTo>
                    <a:pt x="3790710" y="0"/>
                  </a:lnTo>
                  <a:cubicBezTo>
                    <a:pt x="3794264" y="0"/>
                    <a:pt x="3797672" y="1412"/>
                    <a:pt x="3800185" y="3925"/>
                  </a:cubicBezTo>
                  <a:cubicBezTo>
                    <a:pt x="3802699" y="6438"/>
                    <a:pt x="3804110" y="9846"/>
                    <a:pt x="3804110" y="13400"/>
                  </a:cubicBezTo>
                  <a:lnTo>
                    <a:pt x="3804110" y="381095"/>
                  </a:lnTo>
                  <a:cubicBezTo>
                    <a:pt x="3804110" y="384649"/>
                    <a:pt x="3802699" y="388057"/>
                    <a:pt x="3800185" y="390570"/>
                  </a:cubicBezTo>
                  <a:cubicBezTo>
                    <a:pt x="3797672" y="393083"/>
                    <a:pt x="3794264" y="394495"/>
                    <a:pt x="3790710" y="394495"/>
                  </a:cubicBezTo>
                  <a:lnTo>
                    <a:pt x="13400" y="394495"/>
                  </a:lnTo>
                  <a:cubicBezTo>
                    <a:pt x="9846" y="394495"/>
                    <a:pt x="6438" y="393083"/>
                    <a:pt x="3925" y="390570"/>
                  </a:cubicBezTo>
                  <a:cubicBezTo>
                    <a:pt x="1412" y="388057"/>
                    <a:pt x="0" y="384649"/>
                    <a:pt x="0" y="381095"/>
                  </a:cubicBezTo>
                  <a:lnTo>
                    <a:pt x="0" y="13400"/>
                  </a:lnTo>
                  <a:cubicBezTo>
                    <a:pt x="0" y="9846"/>
                    <a:pt x="1412" y="6438"/>
                    <a:pt x="3925" y="3925"/>
                  </a:cubicBezTo>
                  <a:cubicBezTo>
                    <a:pt x="6438" y="1412"/>
                    <a:pt x="9846" y="0"/>
                    <a:pt x="13400" y="0"/>
                  </a:cubicBezTo>
                  <a:close/>
                </a:path>
              </a:pathLst>
            </a:custGeom>
            <a:solidFill>
              <a:srgbClr val="FEFBED"/>
            </a:solidFill>
            <a:ln cap="rnd">
              <a:noFill/>
              <a:prstDash val="dash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3804110" cy="451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45308" y="2264304"/>
            <a:ext cx="1038862" cy="5758393"/>
            <a:chOff x="0" y="0"/>
            <a:chExt cx="1385149" cy="7677857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924175" y="1031052"/>
              <a:ext cx="460953" cy="460747"/>
              <a:chOff x="0" y="0"/>
              <a:chExt cx="848212" cy="84783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924155" y="0"/>
              <a:ext cx="460993" cy="460787"/>
              <a:chOff x="0" y="0"/>
              <a:chExt cx="848212" cy="84783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924175" y="2062064"/>
              <a:ext cx="460953" cy="460747"/>
              <a:chOff x="0" y="0"/>
              <a:chExt cx="848212" cy="84783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924179" y="3093076"/>
              <a:ext cx="460946" cy="460740"/>
              <a:chOff x="0" y="0"/>
              <a:chExt cx="848212" cy="84783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924183" y="4124081"/>
              <a:ext cx="460938" cy="460731"/>
              <a:chOff x="0" y="0"/>
              <a:chExt cx="848212" cy="84783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924187" y="5155077"/>
              <a:ext cx="460930" cy="460724"/>
              <a:chOff x="0" y="0"/>
              <a:chExt cx="848212" cy="847833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924167" y="6186066"/>
              <a:ext cx="460969" cy="460763"/>
              <a:chOff x="0" y="0"/>
              <a:chExt cx="848212" cy="847833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924167" y="7217094"/>
              <a:ext cx="460969" cy="460763"/>
              <a:chOff x="0" y="0"/>
              <a:chExt cx="848212" cy="847833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0" y="1121915"/>
              <a:ext cx="1198526" cy="261915"/>
              <a:chOff x="0" y="0"/>
              <a:chExt cx="238885" cy="52204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0" y="89481"/>
              <a:ext cx="1198526" cy="261915"/>
              <a:chOff x="0" y="0"/>
              <a:chExt cx="238885" cy="52204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0" y="2154349"/>
              <a:ext cx="1198526" cy="261915"/>
              <a:chOff x="0" y="0"/>
              <a:chExt cx="238885" cy="52204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0" y="3186782"/>
              <a:ext cx="1198526" cy="261915"/>
              <a:chOff x="0" y="0"/>
              <a:chExt cx="238885" cy="52204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0" y="4219216"/>
              <a:ext cx="1198526" cy="261915"/>
              <a:chOff x="0" y="0"/>
              <a:chExt cx="238885" cy="52204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0" y="5251650"/>
              <a:ext cx="1198526" cy="261915"/>
              <a:chOff x="0" y="0"/>
              <a:chExt cx="238885" cy="52204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9" id="69"/>
            <p:cNvGrpSpPr/>
            <p:nvPr/>
          </p:nvGrpSpPr>
          <p:grpSpPr>
            <a:xfrm rot="0">
              <a:off x="0" y="6284084"/>
              <a:ext cx="1198526" cy="261915"/>
              <a:chOff x="0" y="0"/>
              <a:chExt cx="238885" cy="52204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72" id="72"/>
            <p:cNvGrpSpPr/>
            <p:nvPr/>
          </p:nvGrpSpPr>
          <p:grpSpPr>
            <a:xfrm rot="0">
              <a:off x="0" y="7316518"/>
              <a:ext cx="1198526" cy="261915"/>
              <a:chOff x="0" y="0"/>
              <a:chExt cx="238885" cy="52204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</p:grpSp>
      <p:sp>
        <p:nvSpPr>
          <p:cNvPr name="Freeform 75" id="75"/>
          <p:cNvSpPr/>
          <p:nvPr/>
        </p:nvSpPr>
        <p:spPr>
          <a:xfrm flipH="true" flipV="false" rot="0">
            <a:off x="14328342" y="6375556"/>
            <a:ext cx="2131247" cy="2607030"/>
          </a:xfrm>
          <a:custGeom>
            <a:avLst/>
            <a:gdLst/>
            <a:ahLst/>
            <a:cxnLst/>
            <a:rect r="r" b="b" t="t" l="l"/>
            <a:pathLst>
              <a:path h="2607030" w="2131247">
                <a:moveTo>
                  <a:pt x="2131247" y="0"/>
                </a:moveTo>
                <a:lnTo>
                  <a:pt x="0" y="0"/>
                </a:lnTo>
                <a:lnTo>
                  <a:pt x="0" y="2607030"/>
                </a:lnTo>
                <a:lnTo>
                  <a:pt x="2131247" y="2607030"/>
                </a:lnTo>
                <a:lnTo>
                  <a:pt x="213124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3414703" y="2725970"/>
            <a:ext cx="560673" cy="531238"/>
          </a:xfrm>
          <a:custGeom>
            <a:avLst/>
            <a:gdLst/>
            <a:ahLst/>
            <a:cxnLst/>
            <a:rect r="r" b="b" t="t" l="l"/>
            <a:pathLst>
              <a:path h="531238" w="560673">
                <a:moveTo>
                  <a:pt x="0" y="0"/>
                </a:moveTo>
                <a:lnTo>
                  <a:pt x="560674" y="0"/>
                </a:lnTo>
                <a:lnTo>
                  <a:pt x="560674" y="531238"/>
                </a:lnTo>
                <a:lnTo>
                  <a:pt x="0" y="5312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3404442" y="3257208"/>
            <a:ext cx="560673" cy="531238"/>
          </a:xfrm>
          <a:custGeom>
            <a:avLst/>
            <a:gdLst/>
            <a:ahLst/>
            <a:cxnLst/>
            <a:rect r="r" b="b" t="t" l="l"/>
            <a:pathLst>
              <a:path h="531238" w="560673">
                <a:moveTo>
                  <a:pt x="0" y="0"/>
                </a:moveTo>
                <a:lnTo>
                  <a:pt x="560674" y="0"/>
                </a:lnTo>
                <a:lnTo>
                  <a:pt x="560674" y="531238"/>
                </a:lnTo>
                <a:lnTo>
                  <a:pt x="0" y="5312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3414703" y="3873001"/>
            <a:ext cx="560673" cy="531238"/>
          </a:xfrm>
          <a:custGeom>
            <a:avLst/>
            <a:gdLst/>
            <a:ahLst/>
            <a:cxnLst/>
            <a:rect r="r" b="b" t="t" l="l"/>
            <a:pathLst>
              <a:path h="531238" w="560673">
                <a:moveTo>
                  <a:pt x="0" y="0"/>
                </a:moveTo>
                <a:lnTo>
                  <a:pt x="560674" y="0"/>
                </a:lnTo>
                <a:lnTo>
                  <a:pt x="560674" y="531238"/>
                </a:lnTo>
                <a:lnTo>
                  <a:pt x="0" y="5312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9" id="79"/>
          <p:cNvSpPr txBox="true"/>
          <p:nvPr/>
        </p:nvSpPr>
        <p:spPr>
          <a:xfrm rot="0">
            <a:off x="4548265" y="1226478"/>
            <a:ext cx="9780077" cy="773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b="true" sz="4400" spc="-308">
                <a:solidFill>
                  <a:srgbClr val="2D2D2D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고려사항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3975377" y="2711252"/>
            <a:ext cx="11176657" cy="5495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49"/>
              </a:lnSpc>
            </a:pPr>
            <a:r>
              <a:rPr lang="en-US" sz="2999">
                <a:solidFill>
                  <a:srgbClr val="000000"/>
                </a:solidFill>
                <a:latin typeface="Tlab 모던라운드 Light"/>
                <a:ea typeface="Tlab 모던라운드 Light"/>
                <a:cs typeface="Tlab 모던라운드 Light"/>
                <a:sym typeface="Tlab 모던라운드 Light"/>
              </a:rPr>
              <a:t>1.</a:t>
            </a:r>
            <a:r>
              <a:rPr lang="en-US" sz="2999">
                <a:solidFill>
                  <a:srgbClr val="000000"/>
                </a:solidFill>
                <a:latin typeface="Tlab 모던라운드 Light"/>
                <a:ea typeface="Tlab 모던라운드 Light"/>
                <a:cs typeface="Tlab 모던라운드 Light"/>
                <a:sym typeface="Tlab 모던라운드 Light"/>
              </a:rPr>
              <a:t>자기 측 반론도 신뢰성과 타당성을 가져야 함.</a:t>
            </a:r>
          </a:p>
          <a:p>
            <a:pPr algn="just">
              <a:lnSpc>
                <a:spcPts val="4649"/>
              </a:lnSpc>
            </a:pPr>
            <a:r>
              <a:rPr lang="en-US" sz="2999">
                <a:solidFill>
                  <a:srgbClr val="000000"/>
                </a:solidFill>
                <a:latin typeface="Tlab 모던라운드 Light"/>
                <a:ea typeface="Tlab 모던라운드 Light"/>
                <a:cs typeface="Tlab 모던라운드 Light"/>
                <a:sym typeface="Tlab 모던라운드 Light"/>
              </a:rPr>
              <a:t>2.자기 측에 유리한 쟁점을 찾아내야 함.</a:t>
            </a:r>
          </a:p>
          <a:p>
            <a:pPr algn="just">
              <a:lnSpc>
                <a:spcPts val="4649"/>
              </a:lnSpc>
            </a:pPr>
            <a:r>
              <a:rPr lang="en-US" sz="2999">
                <a:solidFill>
                  <a:srgbClr val="000000"/>
                </a:solidFill>
                <a:latin typeface="Tlab 모던라운드 Light"/>
                <a:ea typeface="Tlab 모던라운드 Light"/>
                <a:cs typeface="Tlab 모던라운드 Light"/>
                <a:sym typeface="Tlab 모던라운드 Light"/>
              </a:rPr>
              <a:t>3.반론할 내용을 체계적으로 구성해야 함.</a:t>
            </a:r>
          </a:p>
          <a:p>
            <a:pPr algn="just">
              <a:lnSpc>
                <a:spcPts val="4649"/>
              </a:lnSpc>
            </a:pPr>
            <a:r>
              <a:rPr lang="en-US" sz="2999">
                <a:solidFill>
                  <a:srgbClr val="000000"/>
                </a:solidFill>
                <a:latin typeface="Tlab 모던라운드 Light"/>
                <a:ea typeface="Tlab 모던라운드 Light"/>
                <a:cs typeface="Tlab 모던라운드 Light"/>
                <a:sym typeface="Tlab 모던라운드 Light"/>
              </a:rPr>
              <a:t>4.앞의 과정에서 나오지 않은 주장은 제시하지 말아야 함.</a:t>
            </a:r>
          </a:p>
          <a:p>
            <a:pPr algn="just">
              <a:lnSpc>
                <a:spcPts val="3874"/>
              </a:lnSpc>
            </a:pPr>
            <a:r>
              <a:rPr lang="en-US" sz="2499">
                <a:solidFill>
                  <a:srgbClr val="000000"/>
                </a:solidFill>
                <a:latin typeface="Tlab 모던라운드 Light"/>
                <a:ea typeface="Tlab 모던라운드 Light"/>
                <a:cs typeface="Tlab 모던라운드 Light"/>
                <a:sym typeface="Tlab 모던라운드 Light"/>
              </a:rPr>
              <a:t>     </a:t>
            </a:r>
            <a:r>
              <a:rPr lang="en-US" sz="2499">
                <a:solidFill>
                  <a:srgbClr val="000000"/>
                </a:solidFill>
                <a:latin typeface="Tlab 모던라운드 Light"/>
                <a:ea typeface="Tlab 모던라운드 Light"/>
                <a:cs typeface="Tlab 모던라운드 Light"/>
                <a:sym typeface="Tlab 모던라운드 Light"/>
              </a:rPr>
              <a:t>- 입론이나 확인 질문에서 나오지 않았던 주장을 반론에서 처음 제시하면 안됨.</a:t>
            </a:r>
          </a:p>
          <a:p>
            <a:pPr algn="just">
              <a:lnSpc>
                <a:spcPts val="3874"/>
              </a:lnSpc>
            </a:pPr>
            <a:r>
              <a:rPr lang="en-US" sz="2499">
                <a:solidFill>
                  <a:srgbClr val="000000"/>
                </a:solidFill>
                <a:latin typeface="Tlab 모던라운드 Light"/>
                <a:ea typeface="Tlab 모던라운드 Light"/>
                <a:cs typeface="Tlab 모던라운드 Light"/>
                <a:sym typeface="Tlab 모던라운드 Light"/>
              </a:rPr>
              <a:t>        (돌발 쟁점 제기 X)</a:t>
            </a:r>
          </a:p>
          <a:p>
            <a:pPr algn="just">
              <a:lnSpc>
                <a:spcPts val="4649"/>
              </a:lnSpc>
            </a:pPr>
            <a:r>
              <a:rPr lang="en-US" sz="2999">
                <a:solidFill>
                  <a:srgbClr val="000000"/>
                </a:solidFill>
                <a:latin typeface="Tlab 모던라운드 Light"/>
                <a:ea typeface="Tlab 모던라운드 Light"/>
                <a:cs typeface="Tlab 모던라운드 Light"/>
                <a:sym typeface="Tlab 모던라운드 Light"/>
              </a:rPr>
              <a:t>5.상대측이 주장한 논증은 모두 반론해야 함.</a:t>
            </a:r>
          </a:p>
          <a:p>
            <a:pPr algn="just">
              <a:lnSpc>
                <a:spcPts val="3874"/>
              </a:lnSpc>
            </a:pPr>
            <a:r>
              <a:rPr lang="en-US" sz="2499">
                <a:solidFill>
                  <a:srgbClr val="000000"/>
                </a:solidFill>
                <a:latin typeface="Tlab 모던라운드 Light"/>
                <a:ea typeface="Tlab 모던라운드 Light"/>
                <a:cs typeface="Tlab 모던라운드 Light"/>
                <a:sym typeface="Tlab 모던라운드 Light"/>
              </a:rPr>
              <a:t>     - </a:t>
            </a:r>
            <a:r>
              <a:rPr lang="en-US" sz="2499">
                <a:solidFill>
                  <a:srgbClr val="FF3131"/>
                </a:solidFill>
                <a:latin typeface="Tlab 모던라운드 Light"/>
                <a:ea typeface="Tlab 모던라운드 Light"/>
                <a:cs typeface="Tlab 모던라운드 Light"/>
                <a:sym typeface="Tlab 모던라운드 Light"/>
              </a:rPr>
              <a:t>(교육토론) 반</a:t>
            </a:r>
            <a:r>
              <a:rPr lang="en-US" sz="2499">
                <a:solidFill>
                  <a:srgbClr val="FF3131"/>
                </a:solidFill>
                <a:latin typeface="Tlab 모던라운드 Light"/>
                <a:ea typeface="Tlab 모던라운드 Light"/>
                <a:cs typeface="Tlab 모던라운드 Light"/>
                <a:sym typeface="Tlab 모던라운드 Light"/>
              </a:rPr>
              <a:t>론하지 않은 것은 인정한 것으로 간주</a:t>
            </a:r>
          </a:p>
          <a:p>
            <a:pPr algn="just">
              <a:lnSpc>
                <a:spcPts val="4649"/>
              </a:lnSpc>
            </a:pPr>
            <a:r>
              <a:rPr lang="en-US" sz="2999">
                <a:solidFill>
                  <a:srgbClr val="000000"/>
                </a:solidFill>
                <a:latin typeface="Tlab 모던라운드 Light"/>
                <a:ea typeface="Tlab 모던라운드 Light"/>
                <a:cs typeface="Tlab 모던라운드 Light"/>
                <a:sym typeface="Tlab 모던라운드 Light"/>
              </a:rPr>
              <a:t>6.논증 구성 요소(주장-근거-연결 고리-사례) 전체를 부정하거나</a:t>
            </a:r>
          </a:p>
          <a:p>
            <a:pPr algn="just">
              <a:lnSpc>
                <a:spcPts val="4649"/>
              </a:lnSpc>
            </a:pPr>
            <a:r>
              <a:rPr lang="en-US" sz="2999">
                <a:solidFill>
                  <a:srgbClr val="000000"/>
                </a:solidFill>
                <a:latin typeface="Tlab 모던라운드 Light"/>
                <a:ea typeface="Tlab 모던라운드 Light"/>
                <a:cs typeface="Tlab 모던라운드 Light"/>
                <a:sym typeface="Tlab 모던라운드 Light"/>
              </a:rPr>
              <a:t>   거부하지 말아야 함.</a:t>
            </a:r>
          </a:p>
        </p:txBody>
      </p:sp>
      <p:sp>
        <p:nvSpPr>
          <p:cNvPr name="Freeform 81" id="81"/>
          <p:cNvSpPr/>
          <p:nvPr/>
        </p:nvSpPr>
        <p:spPr>
          <a:xfrm flipH="false" flipV="false" rot="0">
            <a:off x="3414703" y="6106985"/>
            <a:ext cx="560673" cy="531238"/>
          </a:xfrm>
          <a:custGeom>
            <a:avLst/>
            <a:gdLst/>
            <a:ahLst/>
            <a:cxnLst/>
            <a:rect r="r" b="b" t="t" l="l"/>
            <a:pathLst>
              <a:path h="531238" w="560673">
                <a:moveTo>
                  <a:pt x="0" y="0"/>
                </a:moveTo>
                <a:lnTo>
                  <a:pt x="560674" y="0"/>
                </a:lnTo>
                <a:lnTo>
                  <a:pt x="560674" y="531239"/>
                </a:lnTo>
                <a:lnTo>
                  <a:pt x="0" y="5312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3404442" y="7094119"/>
            <a:ext cx="560673" cy="531238"/>
          </a:xfrm>
          <a:custGeom>
            <a:avLst/>
            <a:gdLst/>
            <a:ahLst/>
            <a:cxnLst/>
            <a:rect r="r" b="b" t="t" l="l"/>
            <a:pathLst>
              <a:path h="531238" w="560673">
                <a:moveTo>
                  <a:pt x="0" y="0"/>
                </a:moveTo>
                <a:lnTo>
                  <a:pt x="560674" y="0"/>
                </a:lnTo>
                <a:lnTo>
                  <a:pt x="560674" y="531238"/>
                </a:lnTo>
                <a:lnTo>
                  <a:pt x="0" y="5312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3414703" y="4612262"/>
            <a:ext cx="560673" cy="531238"/>
          </a:xfrm>
          <a:custGeom>
            <a:avLst/>
            <a:gdLst/>
            <a:ahLst/>
            <a:cxnLst/>
            <a:rect r="r" b="b" t="t" l="l"/>
            <a:pathLst>
              <a:path h="531238" w="560673">
                <a:moveTo>
                  <a:pt x="0" y="0"/>
                </a:moveTo>
                <a:lnTo>
                  <a:pt x="560674" y="0"/>
                </a:lnTo>
                <a:lnTo>
                  <a:pt x="560674" y="531238"/>
                </a:lnTo>
                <a:lnTo>
                  <a:pt x="0" y="5312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85639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22968" y="8022696"/>
            <a:ext cx="1874402" cy="1919779"/>
          </a:xfrm>
          <a:custGeom>
            <a:avLst/>
            <a:gdLst/>
            <a:ahLst/>
            <a:cxnLst/>
            <a:rect r="r" b="b" t="t" l="l"/>
            <a:pathLst>
              <a:path h="1919779" w="1874402">
                <a:moveTo>
                  <a:pt x="0" y="0"/>
                </a:moveTo>
                <a:lnTo>
                  <a:pt x="1874402" y="0"/>
                </a:lnTo>
                <a:lnTo>
                  <a:pt x="1874402" y="1919779"/>
                </a:lnTo>
                <a:lnTo>
                  <a:pt x="0" y="191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96130"/>
            <a:ext cx="1827704" cy="1804442"/>
          </a:xfrm>
          <a:custGeom>
            <a:avLst/>
            <a:gdLst/>
            <a:ahLst/>
            <a:cxnLst/>
            <a:rect r="r" b="b" t="t" l="l"/>
            <a:pathLst>
              <a:path h="1804442" w="1827704">
                <a:moveTo>
                  <a:pt x="0" y="0"/>
                </a:moveTo>
                <a:lnTo>
                  <a:pt x="1827704" y="0"/>
                </a:lnTo>
                <a:lnTo>
                  <a:pt x="1827704" y="1804442"/>
                </a:lnTo>
                <a:lnTo>
                  <a:pt x="0" y="18044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98089" y="720772"/>
            <a:ext cx="15381143" cy="8845456"/>
            <a:chOff x="0" y="0"/>
            <a:chExt cx="4051001" cy="23296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83789" y="720772"/>
            <a:ext cx="15381143" cy="8845456"/>
            <a:chOff x="0" y="0"/>
            <a:chExt cx="4051001" cy="23296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53428" y="720772"/>
            <a:ext cx="15381143" cy="8845456"/>
            <a:chOff x="0" y="0"/>
            <a:chExt cx="4051001" cy="23296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45308" y="2264304"/>
            <a:ext cx="1038862" cy="5758393"/>
            <a:chOff x="0" y="0"/>
            <a:chExt cx="1385149" cy="7677857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924175" y="1031052"/>
              <a:ext cx="460953" cy="460747"/>
              <a:chOff x="0" y="0"/>
              <a:chExt cx="848212" cy="847833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924155" y="0"/>
              <a:ext cx="460993" cy="460787"/>
              <a:chOff x="0" y="0"/>
              <a:chExt cx="848212" cy="84783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924175" y="2062064"/>
              <a:ext cx="460953" cy="460747"/>
              <a:chOff x="0" y="0"/>
              <a:chExt cx="848212" cy="84783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924179" y="3093076"/>
              <a:ext cx="460946" cy="460740"/>
              <a:chOff x="0" y="0"/>
              <a:chExt cx="848212" cy="847833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924183" y="4124081"/>
              <a:ext cx="460938" cy="460731"/>
              <a:chOff x="0" y="0"/>
              <a:chExt cx="848212" cy="847833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924187" y="5155077"/>
              <a:ext cx="460930" cy="460724"/>
              <a:chOff x="0" y="0"/>
              <a:chExt cx="848212" cy="847833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924167" y="6186066"/>
              <a:ext cx="460969" cy="460763"/>
              <a:chOff x="0" y="0"/>
              <a:chExt cx="848212" cy="847833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924167" y="7217094"/>
              <a:ext cx="460969" cy="460763"/>
              <a:chOff x="0" y="0"/>
              <a:chExt cx="848212" cy="847833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0" y="1121915"/>
              <a:ext cx="1198526" cy="261915"/>
              <a:chOff x="0" y="0"/>
              <a:chExt cx="238885" cy="52204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89481"/>
              <a:ext cx="1198526" cy="261915"/>
              <a:chOff x="0" y="0"/>
              <a:chExt cx="238885" cy="52204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2154349"/>
              <a:ext cx="1198526" cy="261915"/>
              <a:chOff x="0" y="0"/>
              <a:chExt cx="238885" cy="52204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0" y="3186782"/>
              <a:ext cx="1198526" cy="261915"/>
              <a:chOff x="0" y="0"/>
              <a:chExt cx="238885" cy="52204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0" y="4219216"/>
              <a:ext cx="1198526" cy="261915"/>
              <a:chOff x="0" y="0"/>
              <a:chExt cx="238885" cy="52204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0" y="5251650"/>
              <a:ext cx="1198526" cy="261915"/>
              <a:chOff x="0" y="0"/>
              <a:chExt cx="238885" cy="52204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0" y="6284084"/>
              <a:ext cx="1198526" cy="261915"/>
              <a:chOff x="0" y="0"/>
              <a:chExt cx="238885" cy="52204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1" id="61"/>
            <p:cNvGrpSpPr/>
            <p:nvPr/>
          </p:nvGrpSpPr>
          <p:grpSpPr>
            <a:xfrm rot="0">
              <a:off x="0" y="7316518"/>
              <a:ext cx="1198526" cy="261915"/>
              <a:chOff x="0" y="0"/>
              <a:chExt cx="238885" cy="52204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</p:grpSp>
      <p:grpSp>
        <p:nvGrpSpPr>
          <p:cNvPr name="Group 64" id="64"/>
          <p:cNvGrpSpPr/>
          <p:nvPr/>
        </p:nvGrpSpPr>
        <p:grpSpPr>
          <a:xfrm rot="0">
            <a:off x="2216438" y="916974"/>
            <a:ext cx="14443732" cy="1497847"/>
            <a:chOff x="0" y="0"/>
            <a:chExt cx="3804110" cy="39449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804110" cy="394495"/>
            </a:xfrm>
            <a:custGeom>
              <a:avLst/>
              <a:gdLst/>
              <a:ahLst/>
              <a:cxnLst/>
              <a:rect r="r" b="b" t="t" l="l"/>
              <a:pathLst>
                <a:path h="394495" w="3804110">
                  <a:moveTo>
                    <a:pt x="13400" y="0"/>
                  </a:moveTo>
                  <a:lnTo>
                    <a:pt x="3790710" y="0"/>
                  </a:lnTo>
                  <a:cubicBezTo>
                    <a:pt x="3794264" y="0"/>
                    <a:pt x="3797672" y="1412"/>
                    <a:pt x="3800185" y="3925"/>
                  </a:cubicBezTo>
                  <a:cubicBezTo>
                    <a:pt x="3802699" y="6438"/>
                    <a:pt x="3804110" y="9846"/>
                    <a:pt x="3804110" y="13400"/>
                  </a:cubicBezTo>
                  <a:lnTo>
                    <a:pt x="3804110" y="381095"/>
                  </a:lnTo>
                  <a:cubicBezTo>
                    <a:pt x="3804110" y="384649"/>
                    <a:pt x="3802699" y="388057"/>
                    <a:pt x="3800185" y="390570"/>
                  </a:cubicBezTo>
                  <a:cubicBezTo>
                    <a:pt x="3797672" y="393083"/>
                    <a:pt x="3794264" y="394495"/>
                    <a:pt x="3790710" y="394495"/>
                  </a:cubicBezTo>
                  <a:lnTo>
                    <a:pt x="13400" y="394495"/>
                  </a:lnTo>
                  <a:cubicBezTo>
                    <a:pt x="9846" y="394495"/>
                    <a:pt x="6438" y="393083"/>
                    <a:pt x="3925" y="390570"/>
                  </a:cubicBezTo>
                  <a:cubicBezTo>
                    <a:pt x="1412" y="388057"/>
                    <a:pt x="0" y="384649"/>
                    <a:pt x="0" y="381095"/>
                  </a:cubicBezTo>
                  <a:lnTo>
                    <a:pt x="0" y="13400"/>
                  </a:lnTo>
                  <a:cubicBezTo>
                    <a:pt x="0" y="9846"/>
                    <a:pt x="1412" y="6438"/>
                    <a:pt x="3925" y="3925"/>
                  </a:cubicBezTo>
                  <a:cubicBezTo>
                    <a:pt x="6438" y="1412"/>
                    <a:pt x="9846" y="0"/>
                    <a:pt x="13400" y="0"/>
                  </a:cubicBezTo>
                  <a:close/>
                </a:path>
              </a:pathLst>
            </a:custGeom>
            <a:solidFill>
              <a:srgbClr val="FEFBED"/>
            </a:solidFill>
            <a:ln cap="rnd">
              <a:noFill/>
              <a:prstDash val="dash"/>
              <a:round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3804110" cy="451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AutoShape 67" id="67"/>
          <p:cNvSpPr/>
          <p:nvPr/>
        </p:nvSpPr>
        <p:spPr>
          <a:xfrm>
            <a:off x="3161442" y="3419572"/>
            <a:ext cx="12553723" cy="0"/>
          </a:xfrm>
          <a:prstGeom prst="line">
            <a:avLst/>
          </a:prstGeom>
          <a:ln cap="flat" w="19050">
            <a:solidFill>
              <a:srgbClr val="DAC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8" id="68"/>
          <p:cNvSpPr/>
          <p:nvPr/>
        </p:nvSpPr>
        <p:spPr>
          <a:xfrm>
            <a:off x="3247085" y="6309860"/>
            <a:ext cx="12553723" cy="0"/>
          </a:xfrm>
          <a:prstGeom prst="line">
            <a:avLst/>
          </a:prstGeom>
          <a:ln cap="flat" w="19050">
            <a:solidFill>
              <a:srgbClr val="DAC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9" id="69"/>
          <p:cNvSpPr/>
          <p:nvPr/>
        </p:nvSpPr>
        <p:spPr>
          <a:xfrm>
            <a:off x="3161442" y="8356071"/>
            <a:ext cx="12553723" cy="0"/>
          </a:xfrm>
          <a:prstGeom prst="line">
            <a:avLst/>
          </a:prstGeom>
          <a:ln cap="flat" w="19050">
            <a:solidFill>
              <a:srgbClr val="DAC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0" id="70"/>
          <p:cNvSpPr/>
          <p:nvPr/>
        </p:nvSpPr>
        <p:spPr>
          <a:xfrm flipH="false" flipV="false" rot="0">
            <a:off x="14623402" y="7276879"/>
            <a:ext cx="1874920" cy="1981421"/>
          </a:xfrm>
          <a:custGeom>
            <a:avLst/>
            <a:gdLst/>
            <a:ahLst/>
            <a:cxnLst/>
            <a:rect r="r" b="b" t="t" l="l"/>
            <a:pathLst>
              <a:path h="1981421" w="1874920">
                <a:moveTo>
                  <a:pt x="0" y="0"/>
                </a:moveTo>
                <a:lnTo>
                  <a:pt x="1874920" y="0"/>
                </a:lnTo>
                <a:lnTo>
                  <a:pt x="1874920" y="1981421"/>
                </a:lnTo>
                <a:lnTo>
                  <a:pt x="0" y="19814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1" id="71"/>
          <p:cNvSpPr txBox="true"/>
          <p:nvPr/>
        </p:nvSpPr>
        <p:spPr>
          <a:xfrm rot="0">
            <a:off x="4574457" y="3390246"/>
            <a:ext cx="9727692" cy="2834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5400" b="true">
                <a:solidFill>
                  <a:srgbClr val="2D2D2D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질문 20. </a:t>
            </a:r>
          </a:p>
          <a:p>
            <a:pPr algn="ctr">
              <a:lnSpc>
                <a:spcPts val="7560"/>
              </a:lnSpc>
            </a:pPr>
            <a:r>
              <a:rPr lang="en-US" sz="5400" b="true">
                <a:solidFill>
                  <a:srgbClr val="2D2D2D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반론을 하는 구체적인 </a:t>
            </a:r>
            <a:r>
              <a:rPr lang="en-US" b="true" sz="5400" u="sng">
                <a:solidFill>
                  <a:srgbClr val="2D2D2D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방법</a:t>
            </a:r>
            <a:r>
              <a:rPr lang="en-US" sz="5400" b="true">
                <a:solidFill>
                  <a:srgbClr val="2D2D2D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은 </a:t>
            </a:r>
          </a:p>
          <a:p>
            <a:pPr algn="ctr">
              <a:lnSpc>
                <a:spcPts val="7560"/>
              </a:lnSpc>
              <a:spcBef>
                <a:spcPct val="0"/>
              </a:spcBef>
            </a:pPr>
            <a:r>
              <a:rPr lang="en-US" b="true" sz="5400">
                <a:solidFill>
                  <a:srgbClr val="2D2D2D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어떤 것이 있나요?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272639" cy="10287000"/>
            <a:chOff x="0" y="0"/>
            <a:chExt cx="27030186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14186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96130"/>
            <a:ext cx="1827704" cy="1804442"/>
          </a:xfrm>
          <a:custGeom>
            <a:avLst/>
            <a:gdLst/>
            <a:ahLst/>
            <a:cxnLst/>
            <a:rect r="r" b="b" t="t" l="l"/>
            <a:pathLst>
              <a:path h="1804442" w="1827704">
                <a:moveTo>
                  <a:pt x="0" y="0"/>
                </a:moveTo>
                <a:lnTo>
                  <a:pt x="1827704" y="0"/>
                </a:lnTo>
                <a:lnTo>
                  <a:pt x="1827704" y="1804442"/>
                </a:lnTo>
                <a:lnTo>
                  <a:pt x="0" y="1804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722968" y="8022696"/>
            <a:ext cx="1874402" cy="1919779"/>
          </a:xfrm>
          <a:custGeom>
            <a:avLst/>
            <a:gdLst/>
            <a:ahLst/>
            <a:cxnLst/>
            <a:rect r="r" b="b" t="t" l="l"/>
            <a:pathLst>
              <a:path h="1919779" w="1874402">
                <a:moveTo>
                  <a:pt x="0" y="0"/>
                </a:moveTo>
                <a:lnTo>
                  <a:pt x="1874402" y="0"/>
                </a:lnTo>
                <a:lnTo>
                  <a:pt x="1874402" y="1919779"/>
                </a:lnTo>
                <a:lnTo>
                  <a:pt x="0" y="19197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98089" y="720772"/>
            <a:ext cx="15381143" cy="8845456"/>
            <a:chOff x="0" y="0"/>
            <a:chExt cx="4051001" cy="23296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83789" y="720772"/>
            <a:ext cx="15381143" cy="8845456"/>
            <a:chOff x="0" y="0"/>
            <a:chExt cx="4051001" cy="23296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53428" y="720772"/>
            <a:ext cx="15381143" cy="8845456"/>
            <a:chOff x="0" y="0"/>
            <a:chExt cx="4051001" cy="23296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324115" y="1736611"/>
            <a:ext cx="14443732" cy="2065701"/>
            <a:chOff x="0" y="0"/>
            <a:chExt cx="3804110" cy="5440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04110" cy="544053"/>
            </a:xfrm>
            <a:custGeom>
              <a:avLst/>
              <a:gdLst/>
              <a:ahLst/>
              <a:cxnLst/>
              <a:rect r="r" b="b" t="t" l="l"/>
              <a:pathLst>
                <a:path h="544053" w="3804110">
                  <a:moveTo>
                    <a:pt x="13400" y="0"/>
                  </a:moveTo>
                  <a:lnTo>
                    <a:pt x="3790710" y="0"/>
                  </a:lnTo>
                  <a:cubicBezTo>
                    <a:pt x="3794264" y="0"/>
                    <a:pt x="3797672" y="1412"/>
                    <a:pt x="3800185" y="3925"/>
                  </a:cubicBezTo>
                  <a:cubicBezTo>
                    <a:pt x="3802699" y="6438"/>
                    <a:pt x="3804110" y="9846"/>
                    <a:pt x="3804110" y="13400"/>
                  </a:cubicBezTo>
                  <a:lnTo>
                    <a:pt x="3804110" y="530653"/>
                  </a:lnTo>
                  <a:cubicBezTo>
                    <a:pt x="3804110" y="534207"/>
                    <a:pt x="3802699" y="537615"/>
                    <a:pt x="3800185" y="540128"/>
                  </a:cubicBezTo>
                  <a:cubicBezTo>
                    <a:pt x="3797672" y="542641"/>
                    <a:pt x="3794264" y="544053"/>
                    <a:pt x="3790710" y="544053"/>
                  </a:cubicBezTo>
                  <a:lnTo>
                    <a:pt x="13400" y="544053"/>
                  </a:lnTo>
                  <a:cubicBezTo>
                    <a:pt x="9846" y="544053"/>
                    <a:pt x="6438" y="542641"/>
                    <a:pt x="3925" y="540128"/>
                  </a:cubicBezTo>
                  <a:cubicBezTo>
                    <a:pt x="1412" y="537615"/>
                    <a:pt x="0" y="534207"/>
                    <a:pt x="0" y="530653"/>
                  </a:cubicBezTo>
                  <a:lnTo>
                    <a:pt x="0" y="13400"/>
                  </a:lnTo>
                  <a:cubicBezTo>
                    <a:pt x="0" y="9846"/>
                    <a:pt x="1412" y="6438"/>
                    <a:pt x="3925" y="3925"/>
                  </a:cubicBezTo>
                  <a:cubicBezTo>
                    <a:pt x="6438" y="1412"/>
                    <a:pt x="9846" y="0"/>
                    <a:pt x="13400" y="0"/>
                  </a:cubicBezTo>
                  <a:close/>
                </a:path>
              </a:pathLst>
            </a:custGeom>
            <a:solidFill>
              <a:srgbClr val="FEFBED"/>
            </a:solidFill>
            <a:ln cap="rnd">
              <a:noFill/>
              <a:prstDash val="dash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3804110" cy="601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45308" y="2264304"/>
            <a:ext cx="1038862" cy="5758393"/>
            <a:chOff x="0" y="0"/>
            <a:chExt cx="1385149" cy="7677857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924175" y="1031052"/>
              <a:ext cx="460953" cy="460747"/>
              <a:chOff x="0" y="0"/>
              <a:chExt cx="848212" cy="84783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924155" y="0"/>
              <a:ext cx="460993" cy="460787"/>
              <a:chOff x="0" y="0"/>
              <a:chExt cx="848212" cy="847833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924175" y="2062064"/>
              <a:ext cx="460953" cy="460747"/>
              <a:chOff x="0" y="0"/>
              <a:chExt cx="848212" cy="847833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924179" y="3093076"/>
              <a:ext cx="460946" cy="460740"/>
              <a:chOff x="0" y="0"/>
              <a:chExt cx="848212" cy="847833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924183" y="4124081"/>
              <a:ext cx="460938" cy="460731"/>
              <a:chOff x="0" y="0"/>
              <a:chExt cx="848212" cy="847833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924187" y="5155077"/>
              <a:ext cx="460930" cy="460724"/>
              <a:chOff x="0" y="0"/>
              <a:chExt cx="848212" cy="847833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924167" y="6186066"/>
              <a:ext cx="460969" cy="460763"/>
              <a:chOff x="0" y="0"/>
              <a:chExt cx="848212" cy="847833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924167" y="7217094"/>
              <a:ext cx="460969" cy="460763"/>
              <a:chOff x="0" y="0"/>
              <a:chExt cx="848212" cy="847833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0" y="1121915"/>
              <a:ext cx="1198526" cy="261915"/>
              <a:chOff x="0" y="0"/>
              <a:chExt cx="238885" cy="52204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0" y="89481"/>
              <a:ext cx="1198526" cy="261915"/>
              <a:chOff x="0" y="0"/>
              <a:chExt cx="238885" cy="52204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0" y="2154349"/>
              <a:ext cx="1198526" cy="261915"/>
              <a:chOff x="0" y="0"/>
              <a:chExt cx="238885" cy="52204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0" y="3186782"/>
              <a:ext cx="1198526" cy="261915"/>
              <a:chOff x="0" y="0"/>
              <a:chExt cx="238885" cy="52204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0">
              <a:off x="0" y="4219216"/>
              <a:ext cx="1198526" cy="261915"/>
              <a:chOff x="0" y="0"/>
              <a:chExt cx="238885" cy="52204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9" id="59"/>
            <p:cNvGrpSpPr/>
            <p:nvPr/>
          </p:nvGrpSpPr>
          <p:grpSpPr>
            <a:xfrm rot="0">
              <a:off x="0" y="5251650"/>
              <a:ext cx="1198526" cy="261915"/>
              <a:chOff x="0" y="0"/>
              <a:chExt cx="238885" cy="52204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2" id="62"/>
            <p:cNvGrpSpPr/>
            <p:nvPr/>
          </p:nvGrpSpPr>
          <p:grpSpPr>
            <a:xfrm rot="0">
              <a:off x="0" y="6284084"/>
              <a:ext cx="1198526" cy="261915"/>
              <a:chOff x="0" y="0"/>
              <a:chExt cx="238885" cy="52204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5" id="65"/>
            <p:cNvGrpSpPr/>
            <p:nvPr/>
          </p:nvGrpSpPr>
          <p:grpSpPr>
            <a:xfrm rot="0">
              <a:off x="0" y="7316518"/>
              <a:ext cx="1198526" cy="261915"/>
              <a:chOff x="0" y="0"/>
              <a:chExt cx="238885" cy="52204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</p:grpSp>
      <p:grpSp>
        <p:nvGrpSpPr>
          <p:cNvPr name="Group 68" id="68"/>
          <p:cNvGrpSpPr/>
          <p:nvPr/>
        </p:nvGrpSpPr>
        <p:grpSpPr>
          <a:xfrm rot="0">
            <a:off x="4364085" y="4343462"/>
            <a:ext cx="10363792" cy="4435241"/>
            <a:chOff x="0" y="0"/>
            <a:chExt cx="2858795" cy="122343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858795" cy="1223437"/>
            </a:xfrm>
            <a:custGeom>
              <a:avLst/>
              <a:gdLst/>
              <a:ahLst/>
              <a:cxnLst/>
              <a:rect r="r" b="b" t="t" l="l"/>
              <a:pathLst>
                <a:path h="1223437" w="2858795">
                  <a:moveTo>
                    <a:pt x="20916" y="0"/>
                  </a:moveTo>
                  <a:lnTo>
                    <a:pt x="2837879" y="0"/>
                  </a:lnTo>
                  <a:cubicBezTo>
                    <a:pt x="2843426" y="0"/>
                    <a:pt x="2848746" y="2204"/>
                    <a:pt x="2852669" y="6126"/>
                  </a:cubicBezTo>
                  <a:cubicBezTo>
                    <a:pt x="2856591" y="10049"/>
                    <a:pt x="2858795" y="15369"/>
                    <a:pt x="2858795" y="20916"/>
                  </a:cubicBezTo>
                  <a:lnTo>
                    <a:pt x="2858795" y="1202520"/>
                  </a:lnTo>
                  <a:cubicBezTo>
                    <a:pt x="2858795" y="1208068"/>
                    <a:pt x="2856591" y="1213388"/>
                    <a:pt x="2852669" y="1217310"/>
                  </a:cubicBezTo>
                  <a:cubicBezTo>
                    <a:pt x="2848746" y="1221233"/>
                    <a:pt x="2843426" y="1223437"/>
                    <a:pt x="2837879" y="1223437"/>
                  </a:cubicBezTo>
                  <a:lnTo>
                    <a:pt x="20916" y="1223437"/>
                  </a:lnTo>
                  <a:cubicBezTo>
                    <a:pt x="15369" y="1223437"/>
                    <a:pt x="10049" y="1221233"/>
                    <a:pt x="6126" y="1217310"/>
                  </a:cubicBezTo>
                  <a:cubicBezTo>
                    <a:pt x="2204" y="1213388"/>
                    <a:pt x="0" y="1208068"/>
                    <a:pt x="0" y="1202520"/>
                  </a:cubicBezTo>
                  <a:lnTo>
                    <a:pt x="0" y="20916"/>
                  </a:lnTo>
                  <a:cubicBezTo>
                    <a:pt x="0" y="15369"/>
                    <a:pt x="2204" y="10049"/>
                    <a:pt x="6126" y="6126"/>
                  </a:cubicBezTo>
                  <a:cubicBezTo>
                    <a:pt x="10049" y="2204"/>
                    <a:pt x="15369" y="0"/>
                    <a:pt x="20916" y="0"/>
                  </a:cubicBezTo>
                  <a:close/>
                </a:path>
              </a:pathLst>
            </a:custGeom>
            <a:solidFill>
              <a:srgbClr val="BE80D6"/>
            </a:solidFill>
            <a:ln w="28575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858795" cy="12615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0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4249947" y="4251257"/>
            <a:ext cx="10370907" cy="4427643"/>
            <a:chOff x="0" y="0"/>
            <a:chExt cx="2731432" cy="116612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731432" cy="1166128"/>
            </a:xfrm>
            <a:custGeom>
              <a:avLst/>
              <a:gdLst/>
              <a:ahLst/>
              <a:cxnLst/>
              <a:rect r="r" b="b" t="t" l="l"/>
              <a:pathLst>
                <a:path h="1166128" w="2731432">
                  <a:moveTo>
                    <a:pt x="14930" y="0"/>
                  </a:moveTo>
                  <a:lnTo>
                    <a:pt x="2716502" y="0"/>
                  </a:lnTo>
                  <a:cubicBezTo>
                    <a:pt x="2724748" y="0"/>
                    <a:pt x="2731432" y="6684"/>
                    <a:pt x="2731432" y="14930"/>
                  </a:cubicBezTo>
                  <a:lnTo>
                    <a:pt x="2731432" y="1151198"/>
                  </a:lnTo>
                  <a:cubicBezTo>
                    <a:pt x="2731432" y="1159444"/>
                    <a:pt x="2724748" y="1166128"/>
                    <a:pt x="2716502" y="1166128"/>
                  </a:cubicBezTo>
                  <a:lnTo>
                    <a:pt x="14930" y="1166128"/>
                  </a:lnTo>
                  <a:cubicBezTo>
                    <a:pt x="6684" y="1166128"/>
                    <a:pt x="0" y="1159444"/>
                    <a:pt x="0" y="1151198"/>
                  </a:cubicBezTo>
                  <a:lnTo>
                    <a:pt x="0" y="14930"/>
                  </a:lnTo>
                  <a:cubicBezTo>
                    <a:pt x="0" y="6684"/>
                    <a:pt x="6684" y="0"/>
                    <a:pt x="14930" y="0"/>
                  </a:cubicBezTo>
                  <a:close/>
                </a:path>
              </a:pathLst>
            </a:custGeom>
            <a:solidFill>
              <a:srgbClr val="FCF6FF"/>
            </a:solidFill>
            <a:ln w="2857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2731432" cy="1204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06"/>
                </a:lnSpc>
              </a:pPr>
            </a:p>
          </p:txBody>
        </p:sp>
      </p:grpSp>
      <p:sp>
        <p:nvSpPr>
          <p:cNvPr name="Freeform 74" id="74"/>
          <p:cNvSpPr/>
          <p:nvPr/>
        </p:nvSpPr>
        <p:spPr>
          <a:xfrm flipH="false" flipV="false" rot="0">
            <a:off x="13854179" y="3802312"/>
            <a:ext cx="2281438" cy="1981999"/>
          </a:xfrm>
          <a:custGeom>
            <a:avLst/>
            <a:gdLst/>
            <a:ahLst/>
            <a:cxnLst/>
            <a:rect r="r" b="b" t="t" l="l"/>
            <a:pathLst>
              <a:path h="1981999" w="2281438">
                <a:moveTo>
                  <a:pt x="0" y="0"/>
                </a:moveTo>
                <a:lnTo>
                  <a:pt x="2281438" y="0"/>
                </a:lnTo>
                <a:lnTo>
                  <a:pt x="2281438" y="1981999"/>
                </a:lnTo>
                <a:lnTo>
                  <a:pt x="0" y="19819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5" id="75"/>
          <p:cNvSpPr txBox="true"/>
          <p:nvPr/>
        </p:nvSpPr>
        <p:spPr>
          <a:xfrm rot="0">
            <a:off x="3854426" y="1852713"/>
            <a:ext cx="10579147" cy="1749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-350">
                <a:solidFill>
                  <a:srgbClr val="A764C1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상대방 논증 구조의 </a:t>
            </a:r>
          </a:p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350">
                <a:solidFill>
                  <a:srgbClr val="A764C1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각 요소(근거, 연결 고리, 사례, 조건) 점검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5383627" y="5891299"/>
            <a:ext cx="8542322" cy="821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 spc="-336">
                <a:solidFill>
                  <a:srgbClr val="BE80D6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결점과 오류를 직접 지적함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8915098" y="4631266"/>
            <a:ext cx="947125" cy="1024469"/>
            <a:chOff x="0" y="0"/>
            <a:chExt cx="672998" cy="72795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72998" cy="727956"/>
            </a:xfrm>
            <a:custGeom>
              <a:avLst/>
              <a:gdLst/>
              <a:ahLst/>
              <a:cxnLst/>
              <a:rect r="r" b="b" t="t" l="l"/>
              <a:pathLst>
                <a:path h="727956" w="672998">
                  <a:moveTo>
                    <a:pt x="336499" y="727956"/>
                  </a:moveTo>
                  <a:lnTo>
                    <a:pt x="0" y="321556"/>
                  </a:lnTo>
                  <a:lnTo>
                    <a:pt x="203200" y="321556"/>
                  </a:lnTo>
                  <a:lnTo>
                    <a:pt x="203200" y="0"/>
                  </a:lnTo>
                  <a:lnTo>
                    <a:pt x="469798" y="0"/>
                  </a:lnTo>
                  <a:lnTo>
                    <a:pt x="469798" y="321556"/>
                  </a:lnTo>
                  <a:lnTo>
                    <a:pt x="672998" y="321556"/>
                  </a:lnTo>
                  <a:lnTo>
                    <a:pt x="336499" y="727956"/>
                  </a:lnTo>
                  <a:close/>
                </a:path>
              </a:pathLst>
            </a:custGeom>
            <a:solidFill>
              <a:srgbClr val="893141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203200" y="-38100"/>
              <a:ext cx="266598" cy="664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272639" cy="10287000"/>
            <a:chOff x="0" y="0"/>
            <a:chExt cx="27030186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14186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96130"/>
            <a:ext cx="1827704" cy="1804442"/>
          </a:xfrm>
          <a:custGeom>
            <a:avLst/>
            <a:gdLst/>
            <a:ahLst/>
            <a:cxnLst/>
            <a:rect r="r" b="b" t="t" l="l"/>
            <a:pathLst>
              <a:path h="1804442" w="1827704">
                <a:moveTo>
                  <a:pt x="0" y="0"/>
                </a:moveTo>
                <a:lnTo>
                  <a:pt x="1827704" y="0"/>
                </a:lnTo>
                <a:lnTo>
                  <a:pt x="1827704" y="1804442"/>
                </a:lnTo>
                <a:lnTo>
                  <a:pt x="0" y="1804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722968" y="8022696"/>
            <a:ext cx="1874402" cy="1919779"/>
          </a:xfrm>
          <a:custGeom>
            <a:avLst/>
            <a:gdLst/>
            <a:ahLst/>
            <a:cxnLst/>
            <a:rect r="r" b="b" t="t" l="l"/>
            <a:pathLst>
              <a:path h="1919779" w="1874402">
                <a:moveTo>
                  <a:pt x="0" y="0"/>
                </a:moveTo>
                <a:lnTo>
                  <a:pt x="1874402" y="0"/>
                </a:lnTo>
                <a:lnTo>
                  <a:pt x="1874402" y="1919779"/>
                </a:lnTo>
                <a:lnTo>
                  <a:pt x="0" y="19197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98089" y="720772"/>
            <a:ext cx="15381143" cy="8845456"/>
            <a:chOff x="0" y="0"/>
            <a:chExt cx="4051001" cy="23296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83789" y="720772"/>
            <a:ext cx="15381143" cy="8845456"/>
            <a:chOff x="0" y="0"/>
            <a:chExt cx="4051001" cy="23296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53428" y="720772"/>
            <a:ext cx="15381143" cy="8845456"/>
            <a:chOff x="0" y="0"/>
            <a:chExt cx="4051001" cy="23296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216438" y="916974"/>
            <a:ext cx="14443732" cy="1497847"/>
            <a:chOff x="0" y="0"/>
            <a:chExt cx="3804110" cy="3944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04110" cy="394495"/>
            </a:xfrm>
            <a:custGeom>
              <a:avLst/>
              <a:gdLst/>
              <a:ahLst/>
              <a:cxnLst/>
              <a:rect r="r" b="b" t="t" l="l"/>
              <a:pathLst>
                <a:path h="394495" w="3804110">
                  <a:moveTo>
                    <a:pt x="13400" y="0"/>
                  </a:moveTo>
                  <a:lnTo>
                    <a:pt x="3790710" y="0"/>
                  </a:lnTo>
                  <a:cubicBezTo>
                    <a:pt x="3794264" y="0"/>
                    <a:pt x="3797672" y="1412"/>
                    <a:pt x="3800185" y="3925"/>
                  </a:cubicBezTo>
                  <a:cubicBezTo>
                    <a:pt x="3802699" y="6438"/>
                    <a:pt x="3804110" y="9846"/>
                    <a:pt x="3804110" y="13400"/>
                  </a:cubicBezTo>
                  <a:lnTo>
                    <a:pt x="3804110" y="381095"/>
                  </a:lnTo>
                  <a:cubicBezTo>
                    <a:pt x="3804110" y="384649"/>
                    <a:pt x="3802699" y="388057"/>
                    <a:pt x="3800185" y="390570"/>
                  </a:cubicBezTo>
                  <a:cubicBezTo>
                    <a:pt x="3797672" y="393083"/>
                    <a:pt x="3794264" y="394495"/>
                    <a:pt x="3790710" y="394495"/>
                  </a:cubicBezTo>
                  <a:lnTo>
                    <a:pt x="13400" y="394495"/>
                  </a:lnTo>
                  <a:cubicBezTo>
                    <a:pt x="9846" y="394495"/>
                    <a:pt x="6438" y="393083"/>
                    <a:pt x="3925" y="390570"/>
                  </a:cubicBezTo>
                  <a:cubicBezTo>
                    <a:pt x="1412" y="388057"/>
                    <a:pt x="0" y="384649"/>
                    <a:pt x="0" y="381095"/>
                  </a:cubicBezTo>
                  <a:lnTo>
                    <a:pt x="0" y="13400"/>
                  </a:lnTo>
                  <a:cubicBezTo>
                    <a:pt x="0" y="9846"/>
                    <a:pt x="1412" y="6438"/>
                    <a:pt x="3925" y="3925"/>
                  </a:cubicBezTo>
                  <a:cubicBezTo>
                    <a:pt x="6438" y="1412"/>
                    <a:pt x="9846" y="0"/>
                    <a:pt x="13400" y="0"/>
                  </a:cubicBezTo>
                  <a:close/>
                </a:path>
              </a:pathLst>
            </a:custGeom>
            <a:solidFill>
              <a:srgbClr val="FEFBED"/>
            </a:solidFill>
            <a:ln cap="rnd">
              <a:noFill/>
              <a:prstDash val="dash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3804110" cy="451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45308" y="2264304"/>
            <a:ext cx="1038862" cy="5758393"/>
            <a:chOff x="0" y="0"/>
            <a:chExt cx="1385149" cy="7677857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924175" y="1031052"/>
              <a:ext cx="460953" cy="460747"/>
              <a:chOff x="0" y="0"/>
              <a:chExt cx="848212" cy="84783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924155" y="0"/>
              <a:ext cx="460993" cy="460787"/>
              <a:chOff x="0" y="0"/>
              <a:chExt cx="848212" cy="847833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924175" y="2062064"/>
              <a:ext cx="460953" cy="460747"/>
              <a:chOff x="0" y="0"/>
              <a:chExt cx="848212" cy="847833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924179" y="3093076"/>
              <a:ext cx="460946" cy="460740"/>
              <a:chOff x="0" y="0"/>
              <a:chExt cx="848212" cy="847833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924183" y="4124081"/>
              <a:ext cx="460938" cy="460731"/>
              <a:chOff x="0" y="0"/>
              <a:chExt cx="848212" cy="847833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924187" y="5155077"/>
              <a:ext cx="460930" cy="460724"/>
              <a:chOff x="0" y="0"/>
              <a:chExt cx="848212" cy="847833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924167" y="6186066"/>
              <a:ext cx="460969" cy="460763"/>
              <a:chOff x="0" y="0"/>
              <a:chExt cx="848212" cy="847833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924167" y="7217094"/>
              <a:ext cx="460969" cy="460763"/>
              <a:chOff x="0" y="0"/>
              <a:chExt cx="848212" cy="847833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0" y="1121915"/>
              <a:ext cx="1198526" cy="261915"/>
              <a:chOff x="0" y="0"/>
              <a:chExt cx="238885" cy="52204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0" y="89481"/>
              <a:ext cx="1198526" cy="261915"/>
              <a:chOff x="0" y="0"/>
              <a:chExt cx="238885" cy="52204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0" y="2154349"/>
              <a:ext cx="1198526" cy="261915"/>
              <a:chOff x="0" y="0"/>
              <a:chExt cx="238885" cy="52204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0" y="3186782"/>
              <a:ext cx="1198526" cy="261915"/>
              <a:chOff x="0" y="0"/>
              <a:chExt cx="238885" cy="52204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0">
              <a:off x="0" y="4219216"/>
              <a:ext cx="1198526" cy="261915"/>
              <a:chOff x="0" y="0"/>
              <a:chExt cx="238885" cy="52204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9" id="59"/>
            <p:cNvGrpSpPr/>
            <p:nvPr/>
          </p:nvGrpSpPr>
          <p:grpSpPr>
            <a:xfrm rot="0">
              <a:off x="0" y="5251650"/>
              <a:ext cx="1198526" cy="261915"/>
              <a:chOff x="0" y="0"/>
              <a:chExt cx="238885" cy="52204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2" id="62"/>
            <p:cNvGrpSpPr/>
            <p:nvPr/>
          </p:nvGrpSpPr>
          <p:grpSpPr>
            <a:xfrm rot="0">
              <a:off x="0" y="6284084"/>
              <a:ext cx="1198526" cy="261915"/>
              <a:chOff x="0" y="0"/>
              <a:chExt cx="238885" cy="52204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5" id="65"/>
            <p:cNvGrpSpPr/>
            <p:nvPr/>
          </p:nvGrpSpPr>
          <p:grpSpPr>
            <a:xfrm rot="0">
              <a:off x="0" y="7316518"/>
              <a:ext cx="1198526" cy="261915"/>
              <a:chOff x="0" y="0"/>
              <a:chExt cx="238885" cy="52204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</p:grpSp>
      <p:graphicFrame>
        <p:nvGraphicFramePr>
          <p:cNvPr name="Table 68" id="68"/>
          <p:cNvGraphicFramePr>
            <a:graphicFrameLocks noGrp="true"/>
          </p:cNvGraphicFramePr>
          <p:nvPr/>
        </p:nvGraphicFramePr>
        <p:xfrm>
          <a:off x="3728068" y="3621412"/>
          <a:ext cx="11705563" cy="5000625"/>
        </p:xfrm>
        <a:graphic>
          <a:graphicData uri="http://schemas.openxmlformats.org/drawingml/2006/table">
            <a:tbl>
              <a:tblPr/>
              <a:tblGrid>
                <a:gridCol w="2808454"/>
                <a:gridCol w="8897109"/>
              </a:tblGrid>
              <a:tr h="9196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spc="-149" b="true">
                          <a:solidFill>
                            <a:srgbClr val="BE80D6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1) 사실성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BE80D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BE80D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CF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spc="-149" b="true">
                          <a:solidFill>
                            <a:srgbClr val="000000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논증 요소가 사실인가, 받아들일</a:t>
                      </a:r>
                      <a:r>
                        <a:rPr lang="en-US" sz="2499" spc="-149" b="true">
                          <a:solidFill>
                            <a:srgbClr val="000000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 </a:t>
                      </a:r>
                      <a:r>
                        <a:rPr lang="en-US" sz="2499" spc="-149" b="true">
                          <a:solidFill>
                            <a:srgbClr val="000000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수</a:t>
                      </a:r>
                      <a:r>
                        <a:rPr lang="en-US" sz="2499" spc="-149" b="true">
                          <a:solidFill>
                            <a:srgbClr val="000000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 </a:t>
                      </a:r>
                      <a:r>
                        <a:rPr lang="en-US" sz="2499" spc="-149" b="true">
                          <a:solidFill>
                            <a:srgbClr val="000000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있는</a:t>
                      </a:r>
                      <a:r>
                        <a:rPr lang="en-US" sz="2499" spc="-149" b="true">
                          <a:solidFill>
                            <a:srgbClr val="000000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가</a:t>
                      </a:r>
                      <a:r>
                        <a:rPr lang="en-US" sz="2499" spc="-149" b="true">
                          <a:solidFill>
                            <a:srgbClr val="000000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BE80D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BE80D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07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spc="-149" b="true">
                          <a:solidFill>
                            <a:srgbClr val="BE80D6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2) 관련성(유기성)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BE80D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BE80D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CF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539749" indent="-269875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2499" spc="-149">
                          <a:solidFill>
                            <a:srgbClr val="000000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 </a:t>
                      </a:r>
                      <a:r>
                        <a:rPr lang="en-US" b="true" sz="2499" spc="-149">
                          <a:solidFill>
                            <a:srgbClr val="000000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주장-근거, 근거-사례, 주장-사례가 관련이 있는지? </a:t>
                      </a:r>
                      <a:endParaRPr lang="en-US" sz="1100"/>
                    </a:p>
                    <a:p>
                      <a:pPr algn="l" marL="539749" indent="-269875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b="true" sz="2499" spc="-149">
                          <a:solidFill>
                            <a:srgbClr val="000000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 연결 고리가 타당한지?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BE80D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BE80D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00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spc="-149" b="true">
                          <a:solidFill>
                            <a:srgbClr val="BE80D6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3) 충분성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BE80D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BE80D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BE80D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CF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spc="-149" b="true">
                          <a:solidFill>
                            <a:srgbClr val="000000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 </a:t>
                      </a:r>
                      <a:r>
                        <a:rPr lang="en-US" sz="2499" spc="-149" b="true">
                          <a:solidFill>
                            <a:srgbClr val="000000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제</a:t>
                      </a:r>
                      <a:r>
                        <a:rPr lang="en-US" sz="2499" spc="-149" b="true">
                          <a:solidFill>
                            <a:srgbClr val="000000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시한 근거나 사례가 주장,</a:t>
                      </a:r>
                      <a:r>
                        <a:rPr lang="en-US" sz="2499" spc="-149" b="true">
                          <a:solidFill>
                            <a:srgbClr val="000000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 </a:t>
                      </a:r>
                      <a:r>
                        <a:rPr lang="en-US" sz="2499" spc="-149" b="true">
                          <a:solidFill>
                            <a:srgbClr val="000000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연결</a:t>
                      </a:r>
                      <a:r>
                        <a:rPr lang="en-US" sz="2499" spc="-149" b="true">
                          <a:solidFill>
                            <a:srgbClr val="000000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 </a:t>
                      </a:r>
                      <a:r>
                        <a:rPr lang="en-US" sz="2499" spc="-149" b="true">
                          <a:solidFill>
                            <a:srgbClr val="000000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고리를 뒷받침하기에</a:t>
                      </a:r>
                      <a:r>
                        <a:rPr lang="en-US" sz="2499" spc="-149" b="true">
                          <a:solidFill>
                            <a:srgbClr val="000000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 </a:t>
                      </a:r>
                      <a:r>
                        <a:rPr lang="en-US" sz="2499" spc="-149" b="true">
                          <a:solidFill>
                            <a:srgbClr val="000000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충분한지?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BE80D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BE80D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BE80D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00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spc="-149" b="true">
                          <a:solidFill>
                            <a:srgbClr val="BE80D6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4) 부작용 찾기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BE80D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BE80D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BE80D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CF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spc="-149" b="true">
                          <a:solidFill>
                            <a:srgbClr val="000000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상대측 주장을 인정할 때 생기는 불이익, 부작용, 문제점</a:t>
                      </a:r>
                      <a:r>
                        <a:rPr lang="en-US" sz="2499" spc="-149" b="true">
                          <a:solidFill>
                            <a:srgbClr val="000000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 </a:t>
                      </a:r>
                      <a:r>
                        <a:rPr lang="en-US" sz="2499" spc="-149" b="true">
                          <a:solidFill>
                            <a:srgbClr val="000000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제</a:t>
                      </a:r>
                      <a:r>
                        <a:rPr lang="en-US" sz="2499" spc="-149" b="true">
                          <a:solidFill>
                            <a:srgbClr val="000000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시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BE80D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BE80D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BE80D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00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spc="-149" b="true">
                          <a:solidFill>
                            <a:srgbClr val="BE80D6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5) 새 방안찾기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BE80D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BE80D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spc="-149" b="true">
                          <a:solidFill>
                            <a:srgbClr val="000000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상대측 주장보다 더 나은 방안 제시</a:t>
                      </a:r>
                      <a:r>
                        <a:rPr lang="en-US" sz="2499" spc="-149" b="true">
                          <a:solidFill>
                            <a:srgbClr val="000000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하</a:t>
                      </a:r>
                      <a:r>
                        <a:rPr lang="en-US" sz="2499" spc="-149" b="true">
                          <a:solidFill>
                            <a:srgbClr val="000000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며 그 주장을</a:t>
                      </a:r>
                      <a:r>
                        <a:rPr lang="en-US" sz="2499" spc="-149" b="true">
                          <a:solidFill>
                            <a:srgbClr val="000000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 </a:t>
                      </a:r>
                      <a:r>
                        <a:rPr lang="en-US" sz="2499" spc="-149" b="true">
                          <a:solidFill>
                            <a:srgbClr val="000000"/>
                          </a:solidFill>
                          <a:latin typeface="Tlab 모던라운드 Medium"/>
                          <a:ea typeface="Tlab 모던라운드 Medium"/>
                          <a:cs typeface="Tlab 모던라운드 Medium"/>
                          <a:sym typeface="Tlab 모던라운드 Medium"/>
                        </a:rPr>
                        <a:t>무너뜨림.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BE80D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BE80D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69" id="69"/>
          <p:cNvSpPr txBox="true"/>
          <p:nvPr/>
        </p:nvSpPr>
        <p:spPr>
          <a:xfrm rot="0">
            <a:off x="4291275" y="2329113"/>
            <a:ext cx="10579147" cy="863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350">
                <a:solidFill>
                  <a:srgbClr val="A764C1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상대방의 허점과 오류를 찾아내는 기준</a:t>
            </a:r>
          </a:p>
        </p:txBody>
      </p:sp>
      <p:sp>
        <p:nvSpPr>
          <p:cNvPr name="Freeform 70" id="70"/>
          <p:cNvSpPr/>
          <p:nvPr/>
        </p:nvSpPr>
        <p:spPr>
          <a:xfrm flipH="false" flipV="false" rot="0">
            <a:off x="3605784" y="2280377"/>
            <a:ext cx="879231" cy="912410"/>
          </a:xfrm>
          <a:custGeom>
            <a:avLst/>
            <a:gdLst/>
            <a:ahLst/>
            <a:cxnLst/>
            <a:rect r="r" b="b" t="t" l="l"/>
            <a:pathLst>
              <a:path h="912410" w="879231">
                <a:moveTo>
                  <a:pt x="0" y="0"/>
                </a:moveTo>
                <a:lnTo>
                  <a:pt x="879232" y="0"/>
                </a:lnTo>
                <a:lnTo>
                  <a:pt x="879232" y="912410"/>
                </a:lnTo>
                <a:lnTo>
                  <a:pt x="0" y="91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1" id="71"/>
          <p:cNvSpPr txBox="true"/>
          <p:nvPr/>
        </p:nvSpPr>
        <p:spPr>
          <a:xfrm rot="0">
            <a:off x="3899694" y="1226515"/>
            <a:ext cx="11086744" cy="773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b="true" sz="4400" spc="-308">
                <a:solidFill>
                  <a:srgbClr val="2D2D2D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점검 방법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86202" y="-357384"/>
            <a:ext cx="5061648" cy="11001768"/>
            <a:chOff x="0" y="0"/>
            <a:chExt cx="1333109" cy="28975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3109" cy="2897585"/>
            </a:xfrm>
            <a:custGeom>
              <a:avLst/>
              <a:gdLst/>
              <a:ahLst/>
              <a:cxnLst/>
              <a:rect r="r" b="b" t="t" l="l"/>
              <a:pathLst>
                <a:path h="2897585" w="1333109">
                  <a:moveTo>
                    <a:pt x="78006" y="0"/>
                  </a:moveTo>
                  <a:lnTo>
                    <a:pt x="1255103" y="0"/>
                  </a:lnTo>
                  <a:cubicBezTo>
                    <a:pt x="1298185" y="0"/>
                    <a:pt x="1333109" y="34924"/>
                    <a:pt x="1333109" y="78006"/>
                  </a:cubicBezTo>
                  <a:lnTo>
                    <a:pt x="1333109" y="2819579"/>
                  </a:lnTo>
                  <a:cubicBezTo>
                    <a:pt x="1333109" y="2862661"/>
                    <a:pt x="1298185" y="2897585"/>
                    <a:pt x="1255103" y="2897585"/>
                  </a:cubicBezTo>
                  <a:lnTo>
                    <a:pt x="78006" y="2897585"/>
                  </a:lnTo>
                  <a:cubicBezTo>
                    <a:pt x="34924" y="2897585"/>
                    <a:pt x="0" y="2862661"/>
                    <a:pt x="0" y="2819579"/>
                  </a:cubicBezTo>
                  <a:lnTo>
                    <a:pt x="0" y="78006"/>
                  </a:lnTo>
                  <a:cubicBezTo>
                    <a:pt x="0" y="34924"/>
                    <a:pt x="34924" y="0"/>
                    <a:pt x="7800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33109" cy="2935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-10800000">
            <a:off x="11193328" y="6945079"/>
            <a:ext cx="3079671" cy="3699305"/>
          </a:xfrm>
          <a:custGeom>
            <a:avLst/>
            <a:gdLst/>
            <a:ahLst/>
            <a:cxnLst/>
            <a:rect r="r" b="b" t="t" l="l"/>
            <a:pathLst>
              <a:path h="3699305" w="3079671">
                <a:moveTo>
                  <a:pt x="0" y="3699305"/>
                </a:moveTo>
                <a:lnTo>
                  <a:pt x="3079671" y="3699305"/>
                </a:lnTo>
                <a:lnTo>
                  <a:pt x="3079671" y="0"/>
                </a:lnTo>
                <a:lnTo>
                  <a:pt x="0" y="0"/>
                </a:lnTo>
                <a:lnTo>
                  <a:pt x="0" y="36993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0800000">
            <a:off x="11306340" y="3245775"/>
            <a:ext cx="3079671" cy="3699305"/>
          </a:xfrm>
          <a:custGeom>
            <a:avLst/>
            <a:gdLst/>
            <a:ahLst/>
            <a:cxnLst/>
            <a:rect r="r" b="b" t="t" l="l"/>
            <a:pathLst>
              <a:path h="3699305" w="3079671">
                <a:moveTo>
                  <a:pt x="0" y="3699304"/>
                </a:moveTo>
                <a:lnTo>
                  <a:pt x="3079671" y="3699304"/>
                </a:lnTo>
                <a:lnTo>
                  <a:pt x="3079671" y="0"/>
                </a:lnTo>
                <a:lnTo>
                  <a:pt x="0" y="0"/>
                </a:lnTo>
                <a:lnTo>
                  <a:pt x="0" y="369930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-10800000">
            <a:off x="11473761" y="-357384"/>
            <a:ext cx="3079671" cy="3699305"/>
          </a:xfrm>
          <a:custGeom>
            <a:avLst/>
            <a:gdLst/>
            <a:ahLst/>
            <a:cxnLst/>
            <a:rect r="r" b="b" t="t" l="l"/>
            <a:pathLst>
              <a:path h="3699305" w="3079671">
                <a:moveTo>
                  <a:pt x="0" y="3699305"/>
                </a:moveTo>
                <a:lnTo>
                  <a:pt x="3079671" y="3699305"/>
                </a:lnTo>
                <a:lnTo>
                  <a:pt x="3079671" y="0"/>
                </a:lnTo>
                <a:lnTo>
                  <a:pt x="0" y="0"/>
                </a:lnTo>
                <a:lnTo>
                  <a:pt x="0" y="36993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6535586"/>
            <a:ext cx="19319708" cy="19319708"/>
          </a:xfrm>
          <a:custGeom>
            <a:avLst/>
            <a:gdLst/>
            <a:ahLst/>
            <a:cxnLst/>
            <a:rect r="r" b="b" t="t" l="l"/>
            <a:pathLst>
              <a:path h="19319708" w="19319708">
                <a:moveTo>
                  <a:pt x="0" y="0"/>
                </a:moveTo>
                <a:lnTo>
                  <a:pt x="19319708" y="0"/>
                </a:lnTo>
                <a:lnTo>
                  <a:pt x="19319708" y="19319707"/>
                </a:lnTo>
                <a:lnTo>
                  <a:pt x="0" y="19319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15084" y="564357"/>
            <a:ext cx="3305897" cy="927912"/>
            <a:chOff x="0" y="0"/>
            <a:chExt cx="4407863" cy="123721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553469" y="83733"/>
              <a:ext cx="3854395" cy="1153482"/>
              <a:chOff x="0" y="0"/>
              <a:chExt cx="526431" cy="15754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26431" cy="157542"/>
              </a:xfrm>
              <a:custGeom>
                <a:avLst/>
                <a:gdLst/>
                <a:ahLst/>
                <a:cxnLst/>
                <a:rect r="r" b="b" t="t" l="l"/>
                <a:pathLst>
                  <a:path h="157542" w="526431">
                    <a:moveTo>
                      <a:pt x="78771" y="0"/>
                    </a:moveTo>
                    <a:lnTo>
                      <a:pt x="447660" y="0"/>
                    </a:lnTo>
                    <a:cubicBezTo>
                      <a:pt x="491164" y="0"/>
                      <a:pt x="526431" y="35267"/>
                      <a:pt x="526431" y="78771"/>
                    </a:cubicBezTo>
                    <a:lnTo>
                      <a:pt x="526431" y="78771"/>
                    </a:lnTo>
                    <a:cubicBezTo>
                      <a:pt x="526431" y="99662"/>
                      <a:pt x="518132" y="119698"/>
                      <a:pt x="503360" y="134470"/>
                    </a:cubicBezTo>
                    <a:cubicBezTo>
                      <a:pt x="488587" y="149243"/>
                      <a:pt x="468551" y="157542"/>
                      <a:pt x="447660" y="157542"/>
                    </a:cubicBezTo>
                    <a:lnTo>
                      <a:pt x="78771" y="157542"/>
                    </a:lnTo>
                    <a:cubicBezTo>
                      <a:pt x="57880" y="157542"/>
                      <a:pt x="37844" y="149243"/>
                      <a:pt x="23071" y="134470"/>
                    </a:cubicBezTo>
                    <a:cubicBezTo>
                      <a:pt x="8299" y="119698"/>
                      <a:pt x="0" y="99662"/>
                      <a:pt x="0" y="78771"/>
                    </a:cubicBezTo>
                    <a:lnTo>
                      <a:pt x="0" y="78771"/>
                    </a:lnTo>
                    <a:cubicBezTo>
                      <a:pt x="0" y="57880"/>
                      <a:pt x="8299" y="37844"/>
                      <a:pt x="23071" y="23071"/>
                    </a:cubicBezTo>
                    <a:cubicBezTo>
                      <a:pt x="37844" y="8299"/>
                      <a:pt x="57880" y="0"/>
                      <a:pt x="78771" y="0"/>
                    </a:cubicBezTo>
                    <a:close/>
                  </a:path>
                </a:pathLst>
              </a:custGeom>
              <a:solidFill>
                <a:srgbClr val="893141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85725"/>
                <a:ext cx="526431" cy="2432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5040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0"/>
              <a:ext cx="4255182" cy="1153482"/>
              <a:chOff x="0" y="0"/>
              <a:chExt cx="581170" cy="157542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581170" cy="157542"/>
              </a:xfrm>
              <a:custGeom>
                <a:avLst/>
                <a:gdLst/>
                <a:ahLst/>
                <a:cxnLst/>
                <a:rect r="r" b="b" t="t" l="l"/>
                <a:pathLst>
                  <a:path h="157542" w="581170">
                    <a:moveTo>
                      <a:pt x="78771" y="0"/>
                    </a:moveTo>
                    <a:lnTo>
                      <a:pt x="502400" y="0"/>
                    </a:lnTo>
                    <a:cubicBezTo>
                      <a:pt x="523291" y="0"/>
                      <a:pt x="543327" y="8299"/>
                      <a:pt x="558099" y="23071"/>
                    </a:cubicBezTo>
                    <a:cubicBezTo>
                      <a:pt x="572871" y="37844"/>
                      <a:pt x="581170" y="57880"/>
                      <a:pt x="581170" y="78771"/>
                    </a:cubicBezTo>
                    <a:lnTo>
                      <a:pt x="581170" y="78771"/>
                    </a:lnTo>
                    <a:cubicBezTo>
                      <a:pt x="581170" y="99662"/>
                      <a:pt x="572871" y="119698"/>
                      <a:pt x="558099" y="134470"/>
                    </a:cubicBezTo>
                    <a:cubicBezTo>
                      <a:pt x="543327" y="149243"/>
                      <a:pt x="523291" y="157542"/>
                      <a:pt x="502400" y="157542"/>
                    </a:cubicBezTo>
                    <a:lnTo>
                      <a:pt x="78771" y="157542"/>
                    </a:lnTo>
                    <a:cubicBezTo>
                      <a:pt x="57880" y="157542"/>
                      <a:pt x="37844" y="149243"/>
                      <a:pt x="23071" y="134470"/>
                    </a:cubicBezTo>
                    <a:cubicBezTo>
                      <a:pt x="8299" y="119698"/>
                      <a:pt x="0" y="99662"/>
                      <a:pt x="0" y="78771"/>
                    </a:cubicBezTo>
                    <a:lnTo>
                      <a:pt x="0" y="78771"/>
                    </a:lnTo>
                    <a:cubicBezTo>
                      <a:pt x="0" y="57880"/>
                      <a:pt x="8299" y="37844"/>
                      <a:pt x="23071" y="23071"/>
                    </a:cubicBezTo>
                    <a:cubicBezTo>
                      <a:pt x="37844" y="8299"/>
                      <a:pt x="57880" y="0"/>
                      <a:pt x="78771" y="0"/>
                    </a:cubicBezTo>
                    <a:close/>
                  </a:path>
                </a:pathLst>
              </a:custGeom>
              <a:solidFill>
                <a:srgbClr val="D0CF87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66675"/>
                <a:ext cx="581170" cy="2242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040"/>
                  </a:lnSpc>
                </a:pPr>
                <a:r>
                  <a:rPr lang="en-US" sz="3600">
                    <a:solidFill>
                      <a:srgbClr val="3A2D4D"/>
                    </a:solidFill>
                    <a:latin typeface="Tlab 모던라운드 Light"/>
                    <a:ea typeface="Tlab 모던라운드 Light"/>
                    <a:cs typeface="Tlab 모던라운드 Light"/>
                    <a:sym typeface="Tlab 모던라운드 Light"/>
                  </a:rPr>
                  <a:t> 1) 사실성</a:t>
                </a: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5376402" y="550991"/>
            <a:ext cx="8896597" cy="927912"/>
            <a:chOff x="0" y="0"/>
            <a:chExt cx="1620123" cy="1689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20123" cy="168978"/>
            </a:xfrm>
            <a:custGeom>
              <a:avLst/>
              <a:gdLst/>
              <a:ahLst/>
              <a:cxnLst/>
              <a:rect r="r" b="b" t="t" l="l"/>
              <a:pathLst>
                <a:path h="168978" w="1620123">
                  <a:moveTo>
                    <a:pt x="43511" y="0"/>
                  </a:moveTo>
                  <a:lnTo>
                    <a:pt x="1576613" y="0"/>
                  </a:lnTo>
                  <a:cubicBezTo>
                    <a:pt x="1600643" y="0"/>
                    <a:pt x="1620123" y="19480"/>
                    <a:pt x="1620123" y="43511"/>
                  </a:cubicBezTo>
                  <a:lnTo>
                    <a:pt x="1620123" y="125468"/>
                  </a:lnTo>
                  <a:cubicBezTo>
                    <a:pt x="1620123" y="149498"/>
                    <a:pt x="1600643" y="168978"/>
                    <a:pt x="1576613" y="168978"/>
                  </a:cubicBezTo>
                  <a:lnTo>
                    <a:pt x="43511" y="168978"/>
                  </a:lnTo>
                  <a:cubicBezTo>
                    <a:pt x="19480" y="168978"/>
                    <a:pt x="0" y="149498"/>
                    <a:pt x="0" y="125468"/>
                  </a:cubicBezTo>
                  <a:lnTo>
                    <a:pt x="0" y="43511"/>
                  </a:lnTo>
                  <a:cubicBezTo>
                    <a:pt x="0" y="19480"/>
                    <a:pt x="19480" y="0"/>
                    <a:pt x="435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620123" cy="2261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690882" indent="-345441" lvl="1">
                <a:lnSpc>
                  <a:spcPts val="4480"/>
                </a:lnSpc>
                <a:buFont typeface="Arial"/>
                <a:buChar char="•"/>
              </a:pPr>
              <a:r>
                <a:rPr lang="en-US" sz="3200">
                  <a:solidFill>
                    <a:srgbClr val="3A2D4D"/>
                  </a:solidFill>
                  <a:latin typeface="Tlab 모던라운드 Light"/>
                  <a:ea typeface="Tlab 모던라운드 Light"/>
                  <a:cs typeface="Tlab 모던라운드 Light"/>
                  <a:sym typeface="Tlab 모던라운드 Light"/>
                </a:rPr>
                <a:t>  사실이야? 진짜야?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1215084" y="1907527"/>
          <a:ext cx="6494378" cy="2676495"/>
        </p:xfrm>
        <a:graphic>
          <a:graphicData uri="http://schemas.openxmlformats.org/drawingml/2006/table">
            <a:tbl>
              <a:tblPr/>
              <a:tblGrid>
                <a:gridCol w="2281284"/>
              </a:tblGrid>
              <a:tr h="7928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찬성 측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5454"/>
                    </a:solidFill>
                  </a:tcPr>
                </a:tc>
              </a:tr>
              <a:tr h="1543417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ㅣ사례ㅣ ... </a:t>
                      </a:r>
                      <a:r>
                        <a:rPr lang="en-US" sz="2399" u="sng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우리나라에는 미국이나 독일과 같은 프로그램이 없기 때문에</a:t>
                      </a:r>
                      <a:r>
                        <a:rPr lang="en-US" sz="2399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 아르바이트가 사회 적응력을 길러줄 수 있는 좋은 기회가 됩니다.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9659854" y="1907527"/>
          <a:ext cx="7688629" cy="2676495"/>
        </p:xfrm>
        <a:graphic>
          <a:graphicData uri="http://schemas.openxmlformats.org/drawingml/2006/table">
            <a:tbl>
              <a:tblPr/>
              <a:tblGrid>
                <a:gridCol w="3200367"/>
              </a:tblGrid>
              <a:tr h="7928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반대 측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00AD"/>
                    </a:solidFill>
                  </a:tcPr>
                </a:tc>
              </a:tr>
              <a:tr h="15434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u="sng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우리나라에도</a:t>
                      </a:r>
                      <a:r>
                        <a:rPr lang="en-US" sz="2399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 미국의 SEE(Student Educational Employment) 사례 못지 않은 청소년 인턴제 </a:t>
                      </a:r>
                      <a:r>
                        <a:rPr lang="en-US" sz="2399" u="sng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프로그램이 있습니다</a:t>
                      </a:r>
                      <a:r>
                        <a:rPr lang="en-US" sz="2399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21" id="21"/>
          <p:cNvSpPr/>
          <p:nvPr/>
        </p:nvSpPr>
        <p:spPr>
          <a:xfrm flipH="false" flipV="false" rot="0">
            <a:off x="7851664" y="2877176"/>
            <a:ext cx="1635970" cy="823934"/>
          </a:xfrm>
          <a:custGeom>
            <a:avLst/>
            <a:gdLst/>
            <a:ahLst/>
            <a:cxnLst/>
            <a:rect r="r" b="b" t="t" l="l"/>
            <a:pathLst>
              <a:path h="823934" w="1635970">
                <a:moveTo>
                  <a:pt x="0" y="0"/>
                </a:moveTo>
                <a:lnTo>
                  <a:pt x="1635970" y="0"/>
                </a:lnTo>
                <a:lnTo>
                  <a:pt x="1635970" y="823934"/>
                </a:lnTo>
                <a:lnTo>
                  <a:pt x="0" y="8239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215084" y="5148582"/>
            <a:ext cx="3933604" cy="1053806"/>
            <a:chOff x="0" y="0"/>
            <a:chExt cx="5244806" cy="140507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1221137" y="0"/>
              <a:ext cx="4023668" cy="1155175"/>
              <a:chOff x="0" y="0"/>
              <a:chExt cx="548745" cy="157542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548745" cy="157542"/>
              </a:xfrm>
              <a:custGeom>
                <a:avLst/>
                <a:gdLst/>
                <a:ahLst/>
                <a:cxnLst/>
                <a:rect r="r" b="b" t="t" l="l"/>
                <a:pathLst>
                  <a:path h="157542" w="548745">
                    <a:moveTo>
                      <a:pt x="78771" y="0"/>
                    </a:moveTo>
                    <a:lnTo>
                      <a:pt x="469974" y="0"/>
                    </a:lnTo>
                    <a:cubicBezTo>
                      <a:pt x="490866" y="0"/>
                      <a:pt x="510901" y="8299"/>
                      <a:pt x="525674" y="23071"/>
                    </a:cubicBezTo>
                    <a:cubicBezTo>
                      <a:pt x="540446" y="37844"/>
                      <a:pt x="548745" y="57880"/>
                      <a:pt x="548745" y="78771"/>
                    </a:cubicBezTo>
                    <a:lnTo>
                      <a:pt x="548745" y="78771"/>
                    </a:lnTo>
                    <a:cubicBezTo>
                      <a:pt x="548745" y="122275"/>
                      <a:pt x="513478" y="157542"/>
                      <a:pt x="469974" y="157542"/>
                    </a:cubicBezTo>
                    <a:lnTo>
                      <a:pt x="78771" y="157542"/>
                    </a:lnTo>
                    <a:cubicBezTo>
                      <a:pt x="57880" y="157542"/>
                      <a:pt x="37844" y="149243"/>
                      <a:pt x="23071" y="134470"/>
                    </a:cubicBezTo>
                    <a:cubicBezTo>
                      <a:pt x="8299" y="119698"/>
                      <a:pt x="0" y="99662"/>
                      <a:pt x="0" y="78771"/>
                    </a:cubicBezTo>
                    <a:lnTo>
                      <a:pt x="0" y="78771"/>
                    </a:lnTo>
                    <a:cubicBezTo>
                      <a:pt x="0" y="57880"/>
                      <a:pt x="8299" y="37844"/>
                      <a:pt x="23071" y="23071"/>
                    </a:cubicBezTo>
                    <a:cubicBezTo>
                      <a:pt x="37844" y="8299"/>
                      <a:pt x="57880" y="0"/>
                      <a:pt x="78771" y="0"/>
                    </a:cubicBezTo>
                    <a:close/>
                  </a:path>
                </a:pathLst>
              </a:custGeom>
              <a:solidFill>
                <a:srgbClr val="893141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85725"/>
                <a:ext cx="548745" cy="243267"/>
              </a:xfrm>
              <a:prstGeom prst="rect">
                <a:avLst/>
              </a:prstGeom>
            </p:spPr>
            <p:txBody>
              <a:bodyPr anchor="ctr" rtlCol="false" tIns="50875" lIns="50875" bIns="50875" rIns="50875"/>
              <a:lstStyle/>
              <a:p>
                <a:pPr algn="l">
                  <a:lnSpc>
                    <a:spcPts val="5040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249900"/>
              <a:ext cx="5152076" cy="1155175"/>
              <a:chOff x="0" y="0"/>
              <a:chExt cx="702637" cy="157542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702637" cy="157542"/>
              </a:xfrm>
              <a:custGeom>
                <a:avLst/>
                <a:gdLst/>
                <a:ahLst/>
                <a:cxnLst/>
                <a:rect r="r" b="b" t="t" l="l"/>
                <a:pathLst>
                  <a:path h="157542" w="702637">
                    <a:moveTo>
                      <a:pt x="78771" y="0"/>
                    </a:moveTo>
                    <a:lnTo>
                      <a:pt x="623866" y="0"/>
                    </a:lnTo>
                    <a:cubicBezTo>
                      <a:pt x="667370" y="0"/>
                      <a:pt x="702637" y="35267"/>
                      <a:pt x="702637" y="78771"/>
                    </a:cubicBezTo>
                    <a:lnTo>
                      <a:pt x="702637" y="78771"/>
                    </a:lnTo>
                    <a:cubicBezTo>
                      <a:pt x="702637" y="99662"/>
                      <a:pt x="694338" y="119698"/>
                      <a:pt x="679565" y="134470"/>
                    </a:cubicBezTo>
                    <a:cubicBezTo>
                      <a:pt x="664793" y="149243"/>
                      <a:pt x="644757" y="157542"/>
                      <a:pt x="623866" y="157542"/>
                    </a:cubicBezTo>
                    <a:lnTo>
                      <a:pt x="78771" y="157542"/>
                    </a:lnTo>
                    <a:cubicBezTo>
                      <a:pt x="57880" y="157542"/>
                      <a:pt x="37844" y="149243"/>
                      <a:pt x="23071" y="134470"/>
                    </a:cubicBezTo>
                    <a:cubicBezTo>
                      <a:pt x="8299" y="119698"/>
                      <a:pt x="0" y="99662"/>
                      <a:pt x="0" y="78771"/>
                    </a:cubicBezTo>
                    <a:lnTo>
                      <a:pt x="0" y="78771"/>
                    </a:lnTo>
                    <a:cubicBezTo>
                      <a:pt x="0" y="57880"/>
                      <a:pt x="8299" y="37844"/>
                      <a:pt x="23071" y="23071"/>
                    </a:cubicBezTo>
                    <a:cubicBezTo>
                      <a:pt x="37844" y="8299"/>
                      <a:pt x="57880" y="0"/>
                      <a:pt x="78771" y="0"/>
                    </a:cubicBezTo>
                    <a:close/>
                  </a:path>
                </a:pathLst>
              </a:custGeom>
              <a:solidFill>
                <a:srgbClr val="D0CF87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66675"/>
                <a:ext cx="702637" cy="224217"/>
              </a:xfrm>
              <a:prstGeom prst="rect">
                <a:avLst/>
              </a:prstGeom>
            </p:spPr>
            <p:txBody>
              <a:bodyPr anchor="ctr" rtlCol="false" tIns="50875" lIns="50875" bIns="50875" rIns="50875"/>
              <a:lstStyle/>
              <a:p>
                <a:pPr algn="ctr">
                  <a:lnSpc>
                    <a:spcPts val="5040"/>
                  </a:lnSpc>
                </a:pPr>
                <a:r>
                  <a:rPr lang="en-US" sz="3600">
                    <a:solidFill>
                      <a:srgbClr val="3A2D4D"/>
                    </a:solidFill>
                    <a:latin typeface="Tlab 모던라운드 Light"/>
                    <a:ea typeface="Tlab 모던라운드 Light"/>
                    <a:cs typeface="Tlab 모던라운드 Light"/>
                    <a:sym typeface="Tlab 모던라운드 Light"/>
                  </a:rPr>
                  <a:t> 2) 관련성(유기성)</a:t>
                </a:r>
              </a:p>
            </p:txBody>
          </p:sp>
        </p:grpSp>
      </p:grpSp>
      <p:grpSp>
        <p:nvGrpSpPr>
          <p:cNvPr name="Group 29" id="29"/>
          <p:cNvGrpSpPr/>
          <p:nvPr/>
        </p:nvGrpSpPr>
        <p:grpSpPr>
          <a:xfrm rot="0">
            <a:off x="5287786" y="5065386"/>
            <a:ext cx="7905598" cy="1051836"/>
            <a:chOff x="0" y="0"/>
            <a:chExt cx="1439656" cy="19154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39656" cy="191546"/>
            </a:xfrm>
            <a:custGeom>
              <a:avLst/>
              <a:gdLst/>
              <a:ahLst/>
              <a:cxnLst/>
              <a:rect r="r" b="b" t="t" l="l"/>
              <a:pathLst>
                <a:path h="191546" w="1439656">
                  <a:moveTo>
                    <a:pt x="48965" y="0"/>
                  </a:moveTo>
                  <a:lnTo>
                    <a:pt x="1390691" y="0"/>
                  </a:lnTo>
                  <a:cubicBezTo>
                    <a:pt x="1417734" y="0"/>
                    <a:pt x="1439656" y="21922"/>
                    <a:pt x="1439656" y="48965"/>
                  </a:cubicBezTo>
                  <a:lnTo>
                    <a:pt x="1439656" y="142581"/>
                  </a:lnTo>
                  <a:cubicBezTo>
                    <a:pt x="1439656" y="169623"/>
                    <a:pt x="1417734" y="191546"/>
                    <a:pt x="1390691" y="191546"/>
                  </a:cubicBezTo>
                  <a:lnTo>
                    <a:pt x="48965" y="191546"/>
                  </a:lnTo>
                  <a:cubicBezTo>
                    <a:pt x="21922" y="191546"/>
                    <a:pt x="0" y="169623"/>
                    <a:pt x="0" y="142581"/>
                  </a:cubicBezTo>
                  <a:lnTo>
                    <a:pt x="0" y="48965"/>
                  </a:lnTo>
                  <a:cubicBezTo>
                    <a:pt x="0" y="21922"/>
                    <a:pt x="21922" y="0"/>
                    <a:pt x="489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439656" cy="248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61345" indent="-280673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3A2D4D"/>
                  </a:solidFill>
                  <a:latin typeface="Tlab 모던라운드 Light"/>
                  <a:ea typeface="Tlab 모던라운드 Light"/>
                  <a:cs typeface="Tlab 모던라운드 Light"/>
                  <a:sym typeface="Tlab 모던라운드 Light"/>
                </a:rPr>
                <a:t>제시된 사실들은 모순이 없는가?</a:t>
              </a:r>
            </a:p>
            <a:p>
              <a:pPr algn="l" marL="561345" indent="-280673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3A2D4D"/>
                  </a:solidFill>
                  <a:latin typeface="Tlab 모던라운드 Light"/>
                  <a:ea typeface="Tlab 모던라운드 Light"/>
                  <a:cs typeface="Tlab 모던라운드 Light"/>
                  <a:sym typeface="Tlab 모던라운드 Light"/>
                </a:rPr>
                <a:t>상대측이 제시한 요소들이 서로 관련성은 있는가?</a:t>
              </a:r>
            </a:p>
          </p:txBody>
        </p:sp>
      </p:grpSp>
      <p:graphicFrame>
        <p:nvGraphicFramePr>
          <p:cNvPr name="Table 32" id="32"/>
          <p:cNvGraphicFramePr>
            <a:graphicFrameLocks noGrp="true"/>
          </p:cNvGraphicFramePr>
          <p:nvPr/>
        </p:nvGraphicFramePr>
        <p:xfrm>
          <a:off x="1215084" y="6526913"/>
          <a:ext cx="6494378" cy="2676495"/>
        </p:xfrm>
        <a:graphic>
          <a:graphicData uri="http://schemas.openxmlformats.org/drawingml/2006/table">
            <a:tbl>
              <a:tblPr/>
              <a:tblGrid>
                <a:gridCol w="2281284"/>
              </a:tblGrid>
              <a:tr h="7928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5454"/>
                    </a:solidFill>
                  </a:tcPr>
                </a:tc>
              </a:tr>
              <a:tr h="1543417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ㅣ사례ㅣ 아르바이트로 번 돈을 유흥비, 술과 담배로 소비하는 것은 청소년에게 유해하므로 바람직하다고 할 수 없다.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33" id="33"/>
          <p:cNvGraphicFramePr>
            <a:graphicFrameLocks noGrp="true"/>
          </p:cNvGraphicFramePr>
          <p:nvPr/>
        </p:nvGraphicFramePr>
        <p:xfrm>
          <a:off x="9659854" y="6526913"/>
          <a:ext cx="7688629" cy="3505200"/>
        </p:xfrm>
        <a:graphic>
          <a:graphicData uri="http://schemas.openxmlformats.org/drawingml/2006/table">
            <a:tbl>
              <a:tblPr/>
              <a:tblGrid>
                <a:gridCol w="3200367"/>
              </a:tblGrid>
              <a:tr h="9051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00AD"/>
                    </a:solidFill>
                  </a:tcPr>
                </a:tc>
              </a:tr>
              <a:tr h="2600011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유흥비 등이 청소년에게 유해한 것은 맞지만, 아르바이트 때문에 술과 담배 소비가 늘어나는 것인지, 술과 담배 소비를 위해 아르바이트를 하는지 </a:t>
                      </a:r>
                      <a:r>
                        <a:rPr lang="en-US" sz="2399" u="sng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인과 관계를 밝힐 수 없다</a:t>
                      </a:r>
                      <a:r>
                        <a:rPr lang="en-US" sz="2399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.  그건 용돈으로도 할 수 있는 소비 형태이다. </a:t>
                      </a:r>
                      <a:endParaRPr lang="en-US" sz="1100"/>
                    </a:p>
                    <a:p>
                      <a:pPr algn="just">
                        <a:lnSpc>
                          <a:spcPts val="3359"/>
                        </a:lnSpc>
                      </a:pPr>
                      <a:r>
                        <a:rPr lang="en-US" sz="2399" u="sng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따라서 아르바이트가 문제 되는 것은 아니다.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4" id="34"/>
          <p:cNvSpPr/>
          <p:nvPr/>
        </p:nvSpPr>
        <p:spPr>
          <a:xfrm flipH="false" flipV="false" rot="0">
            <a:off x="7851664" y="7496561"/>
            <a:ext cx="1635970" cy="823934"/>
          </a:xfrm>
          <a:custGeom>
            <a:avLst/>
            <a:gdLst/>
            <a:ahLst/>
            <a:cxnLst/>
            <a:rect r="r" b="b" t="t" l="l"/>
            <a:pathLst>
              <a:path h="823934" w="1635970">
                <a:moveTo>
                  <a:pt x="0" y="0"/>
                </a:moveTo>
                <a:lnTo>
                  <a:pt x="1635970" y="0"/>
                </a:lnTo>
                <a:lnTo>
                  <a:pt x="1635970" y="823934"/>
                </a:lnTo>
                <a:lnTo>
                  <a:pt x="0" y="8239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3193384" y="5148582"/>
            <a:ext cx="3010519" cy="885444"/>
            <a:chOff x="0" y="0"/>
            <a:chExt cx="548233" cy="16124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48233" cy="161245"/>
            </a:xfrm>
            <a:custGeom>
              <a:avLst/>
              <a:gdLst/>
              <a:ahLst/>
              <a:cxnLst/>
              <a:rect r="r" b="b" t="t" l="l"/>
              <a:pathLst>
                <a:path h="161245" w="548233">
                  <a:moveTo>
                    <a:pt x="80622" y="0"/>
                  </a:moveTo>
                  <a:lnTo>
                    <a:pt x="467611" y="0"/>
                  </a:lnTo>
                  <a:cubicBezTo>
                    <a:pt x="488994" y="0"/>
                    <a:pt x="509500" y="8494"/>
                    <a:pt x="524620" y="23614"/>
                  </a:cubicBezTo>
                  <a:cubicBezTo>
                    <a:pt x="539739" y="38733"/>
                    <a:pt x="548233" y="59240"/>
                    <a:pt x="548233" y="80622"/>
                  </a:cubicBezTo>
                  <a:lnTo>
                    <a:pt x="548233" y="80622"/>
                  </a:lnTo>
                  <a:cubicBezTo>
                    <a:pt x="548233" y="102005"/>
                    <a:pt x="539739" y="122511"/>
                    <a:pt x="524620" y="137631"/>
                  </a:cubicBezTo>
                  <a:cubicBezTo>
                    <a:pt x="509500" y="152750"/>
                    <a:pt x="488994" y="161245"/>
                    <a:pt x="467611" y="161245"/>
                  </a:cubicBezTo>
                  <a:lnTo>
                    <a:pt x="80622" y="161245"/>
                  </a:lnTo>
                  <a:cubicBezTo>
                    <a:pt x="59240" y="161245"/>
                    <a:pt x="38733" y="152750"/>
                    <a:pt x="23614" y="137631"/>
                  </a:cubicBezTo>
                  <a:cubicBezTo>
                    <a:pt x="8494" y="122511"/>
                    <a:pt x="0" y="102005"/>
                    <a:pt x="0" y="80622"/>
                  </a:cubicBezTo>
                  <a:lnTo>
                    <a:pt x="0" y="80622"/>
                  </a:lnTo>
                  <a:cubicBezTo>
                    <a:pt x="0" y="59240"/>
                    <a:pt x="8494" y="38733"/>
                    <a:pt x="23614" y="23614"/>
                  </a:cubicBezTo>
                  <a:cubicBezTo>
                    <a:pt x="38733" y="8494"/>
                    <a:pt x="59240" y="0"/>
                    <a:pt x="806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548233" cy="218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61345" indent="-280673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3A2D4D"/>
                  </a:solidFill>
                  <a:latin typeface="Tlab 모던라운드 Light"/>
                  <a:ea typeface="Tlab 모던라운드 Light"/>
                  <a:cs typeface="Tlab 모던라운드 Light"/>
                  <a:sym typeface="Tlab 모던라운드 Light"/>
                </a:rPr>
                <a:t>논리적 허점?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86202" y="-357384"/>
            <a:ext cx="5061648" cy="11001768"/>
            <a:chOff x="0" y="0"/>
            <a:chExt cx="1333109" cy="28975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3109" cy="2897585"/>
            </a:xfrm>
            <a:custGeom>
              <a:avLst/>
              <a:gdLst/>
              <a:ahLst/>
              <a:cxnLst/>
              <a:rect r="r" b="b" t="t" l="l"/>
              <a:pathLst>
                <a:path h="2897585" w="1333109">
                  <a:moveTo>
                    <a:pt x="78006" y="0"/>
                  </a:moveTo>
                  <a:lnTo>
                    <a:pt x="1255103" y="0"/>
                  </a:lnTo>
                  <a:cubicBezTo>
                    <a:pt x="1298185" y="0"/>
                    <a:pt x="1333109" y="34924"/>
                    <a:pt x="1333109" y="78006"/>
                  </a:cubicBezTo>
                  <a:lnTo>
                    <a:pt x="1333109" y="2819579"/>
                  </a:lnTo>
                  <a:cubicBezTo>
                    <a:pt x="1333109" y="2862661"/>
                    <a:pt x="1298185" y="2897585"/>
                    <a:pt x="1255103" y="2897585"/>
                  </a:cubicBezTo>
                  <a:lnTo>
                    <a:pt x="78006" y="2897585"/>
                  </a:lnTo>
                  <a:cubicBezTo>
                    <a:pt x="34924" y="2897585"/>
                    <a:pt x="0" y="2862661"/>
                    <a:pt x="0" y="2819579"/>
                  </a:cubicBezTo>
                  <a:lnTo>
                    <a:pt x="0" y="78006"/>
                  </a:lnTo>
                  <a:cubicBezTo>
                    <a:pt x="0" y="34924"/>
                    <a:pt x="34924" y="0"/>
                    <a:pt x="7800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33109" cy="2935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-10800000">
            <a:off x="11193328" y="6945079"/>
            <a:ext cx="3079671" cy="3699305"/>
          </a:xfrm>
          <a:custGeom>
            <a:avLst/>
            <a:gdLst/>
            <a:ahLst/>
            <a:cxnLst/>
            <a:rect r="r" b="b" t="t" l="l"/>
            <a:pathLst>
              <a:path h="3699305" w="3079671">
                <a:moveTo>
                  <a:pt x="0" y="3699305"/>
                </a:moveTo>
                <a:lnTo>
                  <a:pt x="3079671" y="3699305"/>
                </a:lnTo>
                <a:lnTo>
                  <a:pt x="3079671" y="0"/>
                </a:lnTo>
                <a:lnTo>
                  <a:pt x="0" y="0"/>
                </a:lnTo>
                <a:lnTo>
                  <a:pt x="0" y="36993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0800000">
            <a:off x="11306340" y="3245775"/>
            <a:ext cx="3079671" cy="3699305"/>
          </a:xfrm>
          <a:custGeom>
            <a:avLst/>
            <a:gdLst/>
            <a:ahLst/>
            <a:cxnLst/>
            <a:rect r="r" b="b" t="t" l="l"/>
            <a:pathLst>
              <a:path h="3699305" w="3079671">
                <a:moveTo>
                  <a:pt x="0" y="3699304"/>
                </a:moveTo>
                <a:lnTo>
                  <a:pt x="3079671" y="3699304"/>
                </a:lnTo>
                <a:lnTo>
                  <a:pt x="3079671" y="0"/>
                </a:lnTo>
                <a:lnTo>
                  <a:pt x="0" y="0"/>
                </a:lnTo>
                <a:lnTo>
                  <a:pt x="0" y="369930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-10800000">
            <a:off x="11473761" y="-357384"/>
            <a:ext cx="3079671" cy="3699305"/>
          </a:xfrm>
          <a:custGeom>
            <a:avLst/>
            <a:gdLst/>
            <a:ahLst/>
            <a:cxnLst/>
            <a:rect r="r" b="b" t="t" l="l"/>
            <a:pathLst>
              <a:path h="3699305" w="3079671">
                <a:moveTo>
                  <a:pt x="0" y="3699305"/>
                </a:moveTo>
                <a:lnTo>
                  <a:pt x="3079671" y="3699305"/>
                </a:lnTo>
                <a:lnTo>
                  <a:pt x="3079671" y="0"/>
                </a:lnTo>
                <a:lnTo>
                  <a:pt x="0" y="0"/>
                </a:lnTo>
                <a:lnTo>
                  <a:pt x="0" y="36993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6535586"/>
            <a:ext cx="19319708" cy="19319708"/>
          </a:xfrm>
          <a:custGeom>
            <a:avLst/>
            <a:gdLst/>
            <a:ahLst/>
            <a:cxnLst/>
            <a:rect r="r" b="b" t="t" l="l"/>
            <a:pathLst>
              <a:path h="19319708" w="19319708">
                <a:moveTo>
                  <a:pt x="0" y="0"/>
                </a:moveTo>
                <a:lnTo>
                  <a:pt x="19319708" y="0"/>
                </a:lnTo>
                <a:lnTo>
                  <a:pt x="19319708" y="19319707"/>
                </a:lnTo>
                <a:lnTo>
                  <a:pt x="0" y="19319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15084" y="564357"/>
            <a:ext cx="3305897" cy="927912"/>
            <a:chOff x="0" y="0"/>
            <a:chExt cx="4407863" cy="123721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553469" y="83733"/>
              <a:ext cx="3854395" cy="1153482"/>
              <a:chOff x="0" y="0"/>
              <a:chExt cx="526431" cy="15754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26431" cy="157542"/>
              </a:xfrm>
              <a:custGeom>
                <a:avLst/>
                <a:gdLst/>
                <a:ahLst/>
                <a:cxnLst/>
                <a:rect r="r" b="b" t="t" l="l"/>
                <a:pathLst>
                  <a:path h="157542" w="526431">
                    <a:moveTo>
                      <a:pt x="78771" y="0"/>
                    </a:moveTo>
                    <a:lnTo>
                      <a:pt x="447660" y="0"/>
                    </a:lnTo>
                    <a:cubicBezTo>
                      <a:pt x="491164" y="0"/>
                      <a:pt x="526431" y="35267"/>
                      <a:pt x="526431" y="78771"/>
                    </a:cubicBezTo>
                    <a:lnTo>
                      <a:pt x="526431" y="78771"/>
                    </a:lnTo>
                    <a:cubicBezTo>
                      <a:pt x="526431" y="99662"/>
                      <a:pt x="518132" y="119698"/>
                      <a:pt x="503360" y="134470"/>
                    </a:cubicBezTo>
                    <a:cubicBezTo>
                      <a:pt x="488587" y="149243"/>
                      <a:pt x="468551" y="157542"/>
                      <a:pt x="447660" y="157542"/>
                    </a:cubicBezTo>
                    <a:lnTo>
                      <a:pt x="78771" y="157542"/>
                    </a:lnTo>
                    <a:cubicBezTo>
                      <a:pt x="57880" y="157542"/>
                      <a:pt x="37844" y="149243"/>
                      <a:pt x="23071" y="134470"/>
                    </a:cubicBezTo>
                    <a:cubicBezTo>
                      <a:pt x="8299" y="119698"/>
                      <a:pt x="0" y="99662"/>
                      <a:pt x="0" y="78771"/>
                    </a:cubicBezTo>
                    <a:lnTo>
                      <a:pt x="0" y="78771"/>
                    </a:lnTo>
                    <a:cubicBezTo>
                      <a:pt x="0" y="57880"/>
                      <a:pt x="8299" y="37844"/>
                      <a:pt x="23071" y="23071"/>
                    </a:cubicBezTo>
                    <a:cubicBezTo>
                      <a:pt x="37844" y="8299"/>
                      <a:pt x="57880" y="0"/>
                      <a:pt x="78771" y="0"/>
                    </a:cubicBezTo>
                    <a:close/>
                  </a:path>
                </a:pathLst>
              </a:custGeom>
              <a:solidFill>
                <a:srgbClr val="893141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85725"/>
                <a:ext cx="526431" cy="2432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5040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0"/>
              <a:ext cx="4255182" cy="1153482"/>
              <a:chOff x="0" y="0"/>
              <a:chExt cx="581170" cy="157542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581170" cy="157542"/>
              </a:xfrm>
              <a:custGeom>
                <a:avLst/>
                <a:gdLst/>
                <a:ahLst/>
                <a:cxnLst/>
                <a:rect r="r" b="b" t="t" l="l"/>
                <a:pathLst>
                  <a:path h="157542" w="581170">
                    <a:moveTo>
                      <a:pt x="78771" y="0"/>
                    </a:moveTo>
                    <a:lnTo>
                      <a:pt x="502400" y="0"/>
                    </a:lnTo>
                    <a:cubicBezTo>
                      <a:pt x="523291" y="0"/>
                      <a:pt x="543327" y="8299"/>
                      <a:pt x="558099" y="23071"/>
                    </a:cubicBezTo>
                    <a:cubicBezTo>
                      <a:pt x="572871" y="37844"/>
                      <a:pt x="581170" y="57880"/>
                      <a:pt x="581170" y="78771"/>
                    </a:cubicBezTo>
                    <a:lnTo>
                      <a:pt x="581170" y="78771"/>
                    </a:lnTo>
                    <a:cubicBezTo>
                      <a:pt x="581170" y="99662"/>
                      <a:pt x="572871" y="119698"/>
                      <a:pt x="558099" y="134470"/>
                    </a:cubicBezTo>
                    <a:cubicBezTo>
                      <a:pt x="543327" y="149243"/>
                      <a:pt x="523291" y="157542"/>
                      <a:pt x="502400" y="157542"/>
                    </a:cubicBezTo>
                    <a:lnTo>
                      <a:pt x="78771" y="157542"/>
                    </a:lnTo>
                    <a:cubicBezTo>
                      <a:pt x="57880" y="157542"/>
                      <a:pt x="37844" y="149243"/>
                      <a:pt x="23071" y="134470"/>
                    </a:cubicBezTo>
                    <a:cubicBezTo>
                      <a:pt x="8299" y="119698"/>
                      <a:pt x="0" y="99662"/>
                      <a:pt x="0" y="78771"/>
                    </a:cubicBezTo>
                    <a:lnTo>
                      <a:pt x="0" y="78771"/>
                    </a:lnTo>
                    <a:cubicBezTo>
                      <a:pt x="0" y="57880"/>
                      <a:pt x="8299" y="37844"/>
                      <a:pt x="23071" y="23071"/>
                    </a:cubicBezTo>
                    <a:cubicBezTo>
                      <a:pt x="37844" y="8299"/>
                      <a:pt x="57880" y="0"/>
                      <a:pt x="78771" y="0"/>
                    </a:cubicBezTo>
                    <a:close/>
                  </a:path>
                </a:pathLst>
              </a:custGeom>
              <a:solidFill>
                <a:srgbClr val="D0CF87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66675"/>
                <a:ext cx="581170" cy="2242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040"/>
                  </a:lnSpc>
                </a:pPr>
                <a:r>
                  <a:rPr lang="en-US" sz="3600">
                    <a:solidFill>
                      <a:srgbClr val="3A2D4D"/>
                    </a:solidFill>
                    <a:latin typeface="Tlab 모던라운드 Light"/>
                    <a:ea typeface="Tlab 모던라운드 Light"/>
                    <a:cs typeface="Tlab 모던라운드 Light"/>
                    <a:sym typeface="Tlab 모던라운드 Light"/>
                  </a:rPr>
                  <a:t> 3) 충분성</a:t>
                </a:r>
              </a:p>
            </p:txBody>
          </p:sp>
        </p:grpSp>
      </p:grp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1215084" y="1907527"/>
          <a:ext cx="6636580" cy="3086100"/>
        </p:xfrm>
        <a:graphic>
          <a:graphicData uri="http://schemas.openxmlformats.org/drawingml/2006/table">
            <a:tbl>
              <a:tblPr/>
              <a:tblGrid>
                <a:gridCol w="2382581"/>
              </a:tblGrid>
              <a:tr h="9065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찬성 측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5454"/>
                    </a:solidFill>
                  </a:tcPr>
                </a:tc>
              </a:tr>
              <a:tr h="2179558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학생으로서 경제 활동을 할 수 있는 가장 현실적인 수단은 아르바이트이다.</a:t>
                      </a:r>
                      <a:endParaRPr lang="en-US" sz="1100"/>
                    </a:p>
                    <a:p>
                      <a:pPr algn="just">
                        <a:lnSpc>
                          <a:spcPts val="3359"/>
                        </a:lnSpc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- </a:t>
                      </a:r>
                      <a:r>
                        <a:rPr lang="en-US" sz="2399" u="sng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청소년 시기에 소득이 필요한 학생이 있습니다</a:t>
                      </a:r>
                      <a:r>
                        <a:rPr lang="en-US" sz="2399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.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9659854" y="1907527"/>
          <a:ext cx="7599446" cy="3409950"/>
        </p:xfrm>
        <a:graphic>
          <a:graphicData uri="http://schemas.openxmlformats.org/drawingml/2006/table">
            <a:tbl>
              <a:tblPr/>
              <a:tblGrid>
                <a:gridCol w="3126371"/>
              </a:tblGrid>
              <a:tr h="90546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반대 측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00AD"/>
                    </a:solidFill>
                  </a:tcPr>
                </a:tc>
              </a:tr>
              <a:tr h="2504483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OO자료에 의하면 가정 형편이 어려워서 아르바이트를 하는 학생들은 아르바이트를 하는 </a:t>
                      </a:r>
                      <a:r>
                        <a:rPr lang="en-US" sz="2299" u="sng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전체 학생들의 4% 가량에 해당</a:t>
                      </a:r>
                      <a:r>
                        <a:rPr lang="en-US" sz="2299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된다고 합니다. </a:t>
                      </a:r>
                      <a:r>
                        <a:rPr lang="en-US" sz="2299" u="sng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4%의 학생들이 하는 활동을 일반적인 현상인 것처럼 주장하는 것은 무리한 주장이라고 생각합니다.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18" id="18"/>
          <p:cNvSpPr/>
          <p:nvPr/>
        </p:nvSpPr>
        <p:spPr>
          <a:xfrm flipH="false" flipV="false" rot="0">
            <a:off x="7918724" y="2887261"/>
            <a:ext cx="1635970" cy="823934"/>
          </a:xfrm>
          <a:custGeom>
            <a:avLst/>
            <a:gdLst/>
            <a:ahLst/>
            <a:cxnLst/>
            <a:rect r="r" b="b" t="t" l="l"/>
            <a:pathLst>
              <a:path h="823934" w="1635970">
                <a:moveTo>
                  <a:pt x="0" y="0"/>
                </a:moveTo>
                <a:lnTo>
                  <a:pt x="1635970" y="0"/>
                </a:lnTo>
                <a:lnTo>
                  <a:pt x="1635970" y="823934"/>
                </a:lnTo>
                <a:lnTo>
                  <a:pt x="0" y="8239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215084" y="5443314"/>
            <a:ext cx="3834719" cy="964313"/>
            <a:chOff x="0" y="0"/>
            <a:chExt cx="5112959" cy="128575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1190440" y="130576"/>
              <a:ext cx="3922519" cy="1155175"/>
              <a:chOff x="0" y="0"/>
              <a:chExt cx="534951" cy="15754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534951" cy="157542"/>
              </a:xfrm>
              <a:custGeom>
                <a:avLst/>
                <a:gdLst/>
                <a:ahLst/>
                <a:cxnLst/>
                <a:rect r="r" b="b" t="t" l="l"/>
                <a:pathLst>
                  <a:path h="157542" w="534951">
                    <a:moveTo>
                      <a:pt x="78771" y="0"/>
                    </a:moveTo>
                    <a:lnTo>
                      <a:pt x="456180" y="0"/>
                    </a:lnTo>
                    <a:cubicBezTo>
                      <a:pt x="477071" y="0"/>
                      <a:pt x="497107" y="8299"/>
                      <a:pt x="511879" y="23071"/>
                    </a:cubicBezTo>
                    <a:cubicBezTo>
                      <a:pt x="526652" y="37844"/>
                      <a:pt x="534951" y="57880"/>
                      <a:pt x="534951" y="78771"/>
                    </a:cubicBezTo>
                    <a:lnTo>
                      <a:pt x="534951" y="78771"/>
                    </a:lnTo>
                    <a:cubicBezTo>
                      <a:pt x="534951" y="122275"/>
                      <a:pt x="499684" y="157542"/>
                      <a:pt x="456180" y="157542"/>
                    </a:cubicBezTo>
                    <a:lnTo>
                      <a:pt x="78771" y="157542"/>
                    </a:lnTo>
                    <a:cubicBezTo>
                      <a:pt x="57880" y="157542"/>
                      <a:pt x="37844" y="149243"/>
                      <a:pt x="23071" y="134470"/>
                    </a:cubicBezTo>
                    <a:cubicBezTo>
                      <a:pt x="8299" y="119698"/>
                      <a:pt x="0" y="99662"/>
                      <a:pt x="0" y="78771"/>
                    </a:cubicBezTo>
                    <a:lnTo>
                      <a:pt x="0" y="78771"/>
                    </a:lnTo>
                    <a:cubicBezTo>
                      <a:pt x="0" y="57880"/>
                      <a:pt x="8299" y="37844"/>
                      <a:pt x="23071" y="23071"/>
                    </a:cubicBezTo>
                    <a:cubicBezTo>
                      <a:pt x="37844" y="8299"/>
                      <a:pt x="57880" y="0"/>
                      <a:pt x="78771" y="0"/>
                    </a:cubicBezTo>
                    <a:close/>
                  </a:path>
                </a:pathLst>
              </a:custGeom>
              <a:solidFill>
                <a:srgbClr val="893141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85725"/>
                <a:ext cx="534951" cy="243267"/>
              </a:xfrm>
              <a:prstGeom prst="rect">
                <a:avLst/>
              </a:prstGeom>
            </p:spPr>
            <p:txBody>
              <a:bodyPr anchor="ctr" rtlCol="false" tIns="50875" lIns="50875" bIns="50875" rIns="50875"/>
              <a:lstStyle/>
              <a:p>
                <a:pPr algn="l">
                  <a:lnSpc>
                    <a:spcPts val="5040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0"/>
              <a:ext cx="5022560" cy="1155175"/>
              <a:chOff x="0" y="0"/>
              <a:chExt cx="684974" cy="157542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684974" cy="157542"/>
              </a:xfrm>
              <a:custGeom>
                <a:avLst/>
                <a:gdLst/>
                <a:ahLst/>
                <a:cxnLst/>
                <a:rect r="r" b="b" t="t" l="l"/>
                <a:pathLst>
                  <a:path h="157542" w="684974">
                    <a:moveTo>
                      <a:pt x="78771" y="0"/>
                    </a:moveTo>
                    <a:lnTo>
                      <a:pt x="606203" y="0"/>
                    </a:lnTo>
                    <a:cubicBezTo>
                      <a:pt x="649707" y="0"/>
                      <a:pt x="684974" y="35267"/>
                      <a:pt x="684974" y="78771"/>
                    </a:cubicBezTo>
                    <a:lnTo>
                      <a:pt x="684974" y="78771"/>
                    </a:lnTo>
                    <a:cubicBezTo>
                      <a:pt x="684974" y="99662"/>
                      <a:pt x="676675" y="119698"/>
                      <a:pt x="661902" y="134470"/>
                    </a:cubicBezTo>
                    <a:cubicBezTo>
                      <a:pt x="647130" y="149243"/>
                      <a:pt x="627094" y="157542"/>
                      <a:pt x="606203" y="157542"/>
                    </a:cubicBezTo>
                    <a:lnTo>
                      <a:pt x="78771" y="157542"/>
                    </a:lnTo>
                    <a:cubicBezTo>
                      <a:pt x="57880" y="157542"/>
                      <a:pt x="37844" y="149243"/>
                      <a:pt x="23071" y="134470"/>
                    </a:cubicBezTo>
                    <a:cubicBezTo>
                      <a:pt x="8299" y="119698"/>
                      <a:pt x="0" y="99662"/>
                      <a:pt x="0" y="78771"/>
                    </a:cubicBezTo>
                    <a:lnTo>
                      <a:pt x="0" y="78771"/>
                    </a:lnTo>
                    <a:cubicBezTo>
                      <a:pt x="0" y="57880"/>
                      <a:pt x="8299" y="37844"/>
                      <a:pt x="23071" y="23071"/>
                    </a:cubicBezTo>
                    <a:cubicBezTo>
                      <a:pt x="37844" y="8299"/>
                      <a:pt x="57880" y="0"/>
                      <a:pt x="78771" y="0"/>
                    </a:cubicBezTo>
                    <a:close/>
                  </a:path>
                </a:pathLst>
              </a:custGeom>
              <a:solidFill>
                <a:srgbClr val="D0CF87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66675"/>
                <a:ext cx="684974" cy="224217"/>
              </a:xfrm>
              <a:prstGeom prst="rect">
                <a:avLst/>
              </a:prstGeom>
            </p:spPr>
            <p:txBody>
              <a:bodyPr anchor="ctr" rtlCol="false" tIns="50875" lIns="50875" bIns="50875" rIns="50875"/>
              <a:lstStyle/>
              <a:p>
                <a:pPr algn="ctr">
                  <a:lnSpc>
                    <a:spcPts val="5040"/>
                  </a:lnSpc>
                </a:pPr>
                <a:r>
                  <a:rPr lang="en-US" sz="3600">
                    <a:solidFill>
                      <a:srgbClr val="3A2D4D"/>
                    </a:solidFill>
                    <a:latin typeface="Tlab 모던라운드 Light"/>
                    <a:ea typeface="Tlab 모던라운드 Light"/>
                    <a:cs typeface="Tlab 모던라운드 Light"/>
                    <a:sym typeface="Tlab 모던라운드 Light"/>
                  </a:rPr>
                  <a:t> 4) 부작용 찾기</a:t>
                </a:r>
              </a:p>
            </p:txBody>
          </p:sp>
        </p:grpSp>
      </p:grpSp>
      <p:grpSp>
        <p:nvGrpSpPr>
          <p:cNvPr name="Group 26" id="26"/>
          <p:cNvGrpSpPr/>
          <p:nvPr/>
        </p:nvGrpSpPr>
        <p:grpSpPr>
          <a:xfrm rot="0">
            <a:off x="5376402" y="5436764"/>
            <a:ext cx="8896597" cy="970863"/>
            <a:chOff x="0" y="0"/>
            <a:chExt cx="1620123" cy="176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20123" cy="176800"/>
            </a:xfrm>
            <a:custGeom>
              <a:avLst/>
              <a:gdLst/>
              <a:ahLst/>
              <a:cxnLst/>
              <a:rect r="r" b="b" t="t" l="l"/>
              <a:pathLst>
                <a:path h="176800" w="1620123">
                  <a:moveTo>
                    <a:pt x="43511" y="0"/>
                  </a:moveTo>
                  <a:lnTo>
                    <a:pt x="1576613" y="0"/>
                  </a:lnTo>
                  <a:cubicBezTo>
                    <a:pt x="1600643" y="0"/>
                    <a:pt x="1620123" y="19480"/>
                    <a:pt x="1620123" y="43511"/>
                  </a:cubicBezTo>
                  <a:lnTo>
                    <a:pt x="1620123" y="133289"/>
                  </a:lnTo>
                  <a:cubicBezTo>
                    <a:pt x="1620123" y="157320"/>
                    <a:pt x="1600643" y="176800"/>
                    <a:pt x="1576613" y="176800"/>
                  </a:cubicBezTo>
                  <a:lnTo>
                    <a:pt x="43511" y="176800"/>
                  </a:lnTo>
                  <a:cubicBezTo>
                    <a:pt x="31971" y="176800"/>
                    <a:pt x="20904" y="172216"/>
                    <a:pt x="12744" y="164056"/>
                  </a:cubicBezTo>
                  <a:cubicBezTo>
                    <a:pt x="4584" y="155896"/>
                    <a:pt x="0" y="144829"/>
                    <a:pt x="0" y="133289"/>
                  </a:cubicBezTo>
                  <a:lnTo>
                    <a:pt x="0" y="43511"/>
                  </a:lnTo>
                  <a:cubicBezTo>
                    <a:pt x="0" y="19480"/>
                    <a:pt x="19480" y="0"/>
                    <a:pt x="435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1620123" cy="24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18166" indent="-259083" lvl="1">
                <a:lnSpc>
                  <a:spcPts val="3360"/>
                </a:lnSpc>
                <a:buFont typeface="Arial"/>
                <a:buChar char="•"/>
              </a:pPr>
              <a:r>
                <a:rPr lang="en-US" sz="2400">
                  <a:solidFill>
                    <a:srgbClr val="3A2D4D"/>
                  </a:solidFill>
                  <a:latin typeface="Tlab 모던라운드 Light"/>
                  <a:ea typeface="Tlab 모던라운드 Light"/>
                  <a:cs typeface="Tlab 모던라운드 Light"/>
                  <a:sym typeface="Tlab 모던라운드 Light"/>
                </a:rPr>
                <a:t>상대측이 제시한 주장이 불러일으키는 문제(부작용)은 없는가?</a:t>
              </a:r>
            </a:p>
            <a:p>
              <a:pPr algn="l" marL="518166" indent="-259083" lvl="1">
                <a:lnSpc>
                  <a:spcPts val="3360"/>
                </a:lnSpc>
                <a:buFont typeface="Arial"/>
                <a:buChar char="•"/>
              </a:pPr>
              <a:r>
                <a:rPr lang="en-US" sz="2400">
                  <a:solidFill>
                    <a:srgbClr val="3A2D4D"/>
                  </a:solidFill>
                  <a:latin typeface="Tlab 모던라운드 Light"/>
                  <a:ea typeface="Tlab 모던라운드 Light"/>
                  <a:cs typeface="Tlab 모던라운드 Light"/>
                  <a:sym typeface="Tlab 모던라운드 Light"/>
                </a:rPr>
                <a:t>비판적 시각으로 주장 분석</a:t>
              </a:r>
            </a:p>
          </p:txBody>
        </p:sp>
      </p:grpSp>
      <p:graphicFrame>
        <p:nvGraphicFramePr>
          <p:cNvPr name="Table 29" id="29"/>
          <p:cNvGraphicFramePr>
            <a:graphicFrameLocks noGrp="true"/>
          </p:cNvGraphicFramePr>
          <p:nvPr/>
        </p:nvGraphicFramePr>
        <p:xfrm>
          <a:off x="1215084" y="6581805"/>
          <a:ext cx="6494378" cy="2676495"/>
        </p:xfrm>
        <a:graphic>
          <a:graphicData uri="http://schemas.openxmlformats.org/drawingml/2006/table">
            <a:tbl>
              <a:tblPr/>
              <a:tblGrid>
                <a:gridCol w="2281284"/>
              </a:tblGrid>
              <a:tr h="7928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찬성 측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5454"/>
                    </a:solidFill>
                  </a:tcPr>
                </a:tc>
              </a:tr>
              <a:tr h="1543417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청소년 아르바이트는 자신이 직접 번 돈이라 금전의 소중함을 깨닫게 된다.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30" id="30"/>
          <p:cNvGraphicFramePr>
            <a:graphicFrameLocks noGrp="true"/>
          </p:cNvGraphicFramePr>
          <p:nvPr/>
        </p:nvGraphicFramePr>
        <p:xfrm>
          <a:off x="9659854" y="6581805"/>
          <a:ext cx="7599446" cy="2676495"/>
        </p:xfrm>
        <a:graphic>
          <a:graphicData uri="http://schemas.openxmlformats.org/drawingml/2006/table">
            <a:tbl>
              <a:tblPr/>
              <a:tblGrid>
                <a:gridCol w="3126371"/>
              </a:tblGrid>
              <a:tr h="7928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반대 측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00AD"/>
                    </a:solidFill>
                  </a:tcPr>
                </a:tc>
              </a:tr>
              <a:tr h="1543417">
                <a:tc>
                  <a:txBody>
                    <a:bodyPr anchor="t" rtlCol="false"/>
                    <a:lstStyle/>
                    <a:p>
                      <a:pPr algn="just" marL="518157" indent="-259078" lvl="1">
                        <a:lnSpc>
                          <a:spcPts val="33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물질 만능주의 사고를 갖게 한다.(부작용)</a:t>
                      </a:r>
                      <a:endParaRPr lang="en-US" sz="1100"/>
                    </a:p>
                    <a:p>
                      <a:pPr algn="just" marL="518157" indent="-259078" lvl="1">
                        <a:lnSpc>
                          <a:spcPts val="3359"/>
                        </a:lnSpc>
                        <a:buFont typeface="Arial"/>
                        <a:buChar char="•"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번 돈을 유흥비나 술, 담배 등을 사는 데 허비한다. </a:t>
                      </a:r>
                    </a:p>
                    <a:p>
                      <a:pPr algn="just">
                        <a:lnSpc>
                          <a:spcPts val="3359"/>
                        </a:lnSpc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       </a:t>
                      </a:r>
                      <a:r>
                        <a:rPr lang="en-US" sz="2399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(문제점)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1" id="31"/>
          <p:cNvSpPr/>
          <p:nvPr/>
        </p:nvSpPr>
        <p:spPr>
          <a:xfrm flipH="false" flipV="false" rot="0">
            <a:off x="7851664" y="7496561"/>
            <a:ext cx="1635970" cy="823934"/>
          </a:xfrm>
          <a:custGeom>
            <a:avLst/>
            <a:gdLst/>
            <a:ahLst/>
            <a:cxnLst/>
            <a:rect r="r" b="b" t="t" l="l"/>
            <a:pathLst>
              <a:path h="823934" w="1635970">
                <a:moveTo>
                  <a:pt x="0" y="0"/>
                </a:moveTo>
                <a:lnTo>
                  <a:pt x="1635970" y="0"/>
                </a:lnTo>
                <a:lnTo>
                  <a:pt x="1635970" y="823934"/>
                </a:lnTo>
                <a:lnTo>
                  <a:pt x="0" y="8239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5376402" y="564357"/>
            <a:ext cx="5565969" cy="970863"/>
            <a:chOff x="0" y="0"/>
            <a:chExt cx="1013596" cy="176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13596" cy="176800"/>
            </a:xfrm>
            <a:custGeom>
              <a:avLst/>
              <a:gdLst/>
              <a:ahLst/>
              <a:cxnLst/>
              <a:rect r="r" b="b" t="t" l="l"/>
              <a:pathLst>
                <a:path h="176800" w="1013596">
                  <a:moveTo>
                    <a:pt x="69547" y="0"/>
                  </a:moveTo>
                  <a:lnTo>
                    <a:pt x="944049" y="0"/>
                  </a:lnTo>
                  <a:cubicBezTo>
                    <a:pt x="962494" y="0"/>
                    <a:pt x="980184" y="7327"/>
                    <a:pt x="993226" y="20370"/>
                  </a:cubicBezTo>
                  <a:cubicBezTo>
                    <a:pt x="1006269" y="33412"/>
                    <a:pt x="1013596" y="51102"/>
                    <a:pt x="1013596" y="69547"/>
                  </a:cubicBezTo>
                  <a:lnTo>
                    <a:pt x="1013596" y="107253"/>
                  </a:lnTo>
                  <a:cubicBezTo>
                    <a:pt x="1013596" y="125698"/>
                    <a:pt x="1006269" y="143388"/>
                    <a:pt x="993226" y="156430"/>
                  </a:cubicBezTo>
                  <a:cubicBezTo>
                    <a:pt x="980184" y="169473"/>
                    <a:pt x="962494" y="176800"/>
                    <a:pt x="944049" y="176800"/>
                  </a:cubicBezTo>
                  <a:lnTo>
                    <a:pt x="69547" y="176800"/>
                  </a:lnTo>
                  <a:cubicBezTo>
                    <a:pt x="51102" y="176800"/>
                    <a:pt x="33412" y="169473"/>
                    <a:pt x="20370" y="156430"/>
                  </a:cubicBezTo>
                  <a:cubicBezTo>
                    <a:pt x="7327" y="143388"/>
                    <a:pt x="0" y="125698"/>
                    <a:pt x="0" y="107253"/>
                  </a:cubicBezTo>
                  <a:lnTo>
                    <a:pt x="0" y="69547"/>
                  </a:lnTo>
                  <a:cubicBezTo>
                    <a:pt x="0" y="51102"/>
                    <a:pt x="7327" y="33412"/>
                    <a:pt x="20370" y="20370"/>
                  </a:cubicBezTo>
                  <a:cubicBezTo>
                    <a:pt x="33412" y="7327"/>
                    <a:pt x="51102" y="0"/>
                    <a:pt x="6954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1013596" cy="24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18166" indent="-259083" lvl="1">
                <a:lnSpc>
                  <a:spcPts val="3360"/>
                </a:lnSpc>
                <a:buFont typeface="Arial"/>
                <a:buChar char="•"/>
              </a:pPr>
              <a:r>
                <a:rPr lang="en-US" sz="2400">
                  <a:solidFill>
                    <a:srgbClr val="3A2D4D"/>
                  </a:solidFill>
                  <a:latin typeface="Tlab 모던라운드 Light"/>
                  <a:ea typeface="Tlab 모던라운드 Light"/>
                  <a:cs typeface="Tlab 모던라운드 Light"/>
                  <a:sym typeface="Tlab 모던라운드 Light"/>
                </a:rPr>
                <a:t>성급한 일반화의 오류는 아닌가?</a:t>
              </a:r>
            </a:p>
            <a:p>
              <a:pPr algn="l" marL="518166" indent="-259083" lvl="1">
                <a:lnSpc>
                  <a:spcPts val="3360"/>
                </a:lnSpc>
                <a:buFont typeface="Arial"/>
                <a:buChar char="•"/>
              </a:pPr>
              <a:r>
                <a:rPr lang="en-US" sz="2400">
                  <a:solidFill>
                    <a:srgbClr val="3A2D4D"/>
                  </a:solidFill>
                  <a:latin typeface="Tlab 모던라운드 Light"/>
                  <a:ea typeface="Tlab 모던라운드 Light"/>
                  <a:cs typeface="Tlab 모던라운드 Light"/>
                  <a:sym typeface="Tlab 모던라운드 Light"/>
                </a:rPr>
                <a:t>현실성/실현가능성 있나?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86202" y="-357384"/>
            <a:ext cx="5061648" cy="11001768"/>
            <a:chOff x="0" y="0"/>
            <a:chExt cx="1333109" cy="28975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3109" cy="2897585"/>
            </a:xfrm>
            <a:custGeom>
              <a:avLst/>
              <a:gdLst/>
              <a:ahLst/>
              <a:cxnLst/>
              <a:rect r="r" b="b" t="t" l="l"/>
              <a:pathLst>
                <a:path h="2897585" w="1333109">
                  <a:moveTo>
                    <a:pt x="78006" y="0"/>
                  </a:moveTo>
                  <a:lnTo>
                    <a:pt x="1255103" y="0"/>
                  </a:lnTo>
                  <a:cubicBezTo>
                    <a:pt x="1298185" y="0"/>
                    <a:pt x="1333109" y="34924"/>
                    <a:pt x="1333109" y="78006"/>
                  </a:cubicBezTo>
                  <a:lnTo>
                    <a:pt x="1333109" y="2819579"/>
                  </a:lnTo>
                  <a:cubicBezTo>
                    <a:pt x="1333109" y="2862661"/>
                    <a:pt x="1298185" y="2897585"/>
                    <a:pt x="1255103" y="2897585"/>
                  </a:cubicBezTo>
                  <a:lnTo>
                    <a:pt x="78006" y="2897585"/>
                  </a:lnTo>
                  <a:cubicBezTo>
                    <a:pt x="34924" y="2897585"/>
                    <a:pt x="0" y="2862661"/>
                    <a:pt x="0" y="2819579"/>
                  </a:cubicBezTo>
                  <a:lnTo>
                    <a:pt x="0" y="78006"/>
                  </a:lnTo>
                  <a:cubicBezTo>
                    <a:pt x="0" y="34924"/>
                    <a:pt x="34924" y="0"/>
                    <a:pt x="7800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33109" cy="2935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-10800000">
            <a:off x="11306340" y="6772477"/>
            <a:ext cx="3079671" cy="3699305"/>
          </a:xfrm>
          <a:custGeom>
            <a:avLst/>
            <a:gdLst/>
            <a:ahLst/>
            <a:cxnLst/>
            <a:rect r="r" b="b" t="t" l="l"/>
            <a:pathLst>
              <a:path h="3699305" w="3079671">
                <a:moveTo>
                  <a:pt x="0" y="3699305"/>
                </a:moveTo>
                <a:lnTo>
                  <a:pt x="3079671" y="3699305"/>
                </a:lnTo>
                <a:lnTo>
                  <a:pt x="3079671" y="0"/>
                </a:lnTo>
                <a:lnTo>
                  <a:pt x="0" y="0"/>
                </a:lnTo>
                <a:lnTo>
                  <a:pt x="0" y="36993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0800000">
            <a:off x="11306340" y="3245775"/>
            <a:ext cx="3079671" cy="3699305"/>
          </a:xfrm>
          <a:custGeom>
            <a:avLst/>
            <a:gdLst/>
            <a:ahLst/>
            <a:cxnLst/>
            <a:rect r="r" b="b" t="t" l="l"/>
            <a:pathLst>
              <a:path h="3699305" w="3079671">
                <a:moveTo>
                  <a:pt x="0" y="3699304"/>
                </a:moveTo>
                <a:lnTo>
                  <a:pt x="3079671" y="3699304"/>
                </a:lnTo>
                <a:lnTo>
                  <a:pt x="3079671" y="0"/>
                </a:lnTo>
                <a:lnTo>
                  <a:pt x="0" y="0"/>
                </a:lnTo>
                <a:lnTo>
                  <a:pt x="0" y="369930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-10800000">
            <a:off x="11473761" y="-357384"/>
            <a:ext cx="3079671" cy="3699305"/>
          </a:xfrm>
          <a:custGeom>
            <a:avLst/>
            <a:gdLst/>
            <a:ahLst/>
            <a:cxnLst/>
            <a:rect r="r" b="b" t="t" l="l"/>
            <a:pathLst>
              <a:path h="3699305" w="3079671">
                <a:moveTo>
                  <a:pt x="0" y="3699305"/>
                </a:moveTo>
                <a:lnTo>
                  <a:pt x="3079671" y="3699305"/>
                </a:lnTo>
                <a:lnTo>
                  <a:pt x="3079671" y="0"/>
                </a:lnTo>
                <a:lnTo>
                  <a:pt x="0" y="0"/>
                </a:lnTo>
                <a:lnTo>
                  <a:pt x="0" y="36993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15084" y="564357"/>
            <a:ext cx="3461239" cy="927912"/>
            <a:chOff x="0" y="0"/>
            <a:chExt cx="4614986" cy="123721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579476" y="83733"/>
              <a:ext cx="4035510" cy="1153482"/>
              <a:chOff x="0" y="0"/>
              <a:chExt cx="551168" cy="15754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51168" cy="157542"/>
              </a:xfrm>
              <a:custGeom>
                <a:avLst/>
                <a:gdLst/>
                <a:ahLst/>
                <a:cxnLst/>
                <a:rect r="r" b="b" t="t" l="l"/>
                <a:pathLst>
                  <a:path h="157542" w="551168">
                    <a:moveTo>
                      <a:pt x="78771" y="0"/>
                    </a:moveTo>
                    <a:lnTo>
                      <a:pt x="472397" y="0"/>
                    </a:lnTo>
                    <a:cubicBezTo>
                      <a:pt x="493288" y="0"/>
                      <a:pt x="513324" y="8299"/>
                      <a:pt x="528096" y="23071"/>
                    </a:cubicBezTo>
                    <a:cubicBezTo>
                      <a:pt x="542869" y="37844"/>
                      <a:pt x="551168" y="57880"/>
                      <a:pt x="551168" y="78771"/>
                    </a:cubicBezTo>
                    <a:lnTo>
                      <a:pt x="551168" y="78771"/>
                    </a:lnTo>
                    <a:cubicBezTo>
                      <a:pt x="551168" y="122275"/>
                      <a:pt x="515901" y="157542"/>
                      <a:pt x="472397" y="157542"/>
                    </a:cubicBezTo>
                    <a:lnTo>
                      <a:pt x="78771" y="157542"/>
                    </a:lnTo>
                    <a:cubicBezTo>
                      <a:pt x="57880" y="157542"/>
                      <a:pt x="37844" y="149243"/>
                      <a:pt x="23071" y="134470"/>
                    </a:cubicBezTo>
                    <a:cubicBezTo>
                      <a:pt x="8299" y="119698"/>
                      <a:pt x="0" y="99662"/>
                      <a:pt x="0" y="78771"/>
                    </a:cubicBezTo>
                    <a:lnTo>
                      <a:pt x="0" y="78771"/>
                    </a:lnTo>
                    <a:cubicBezTo>
                      <a:pt x="0" y="57880"/>
                      <a:pt x="8299" y="37844"/>
                      <a:pt x="23071" y="23071"/>
                    </a:cubicBezTo>
                    <a:cubicBezTo>
                      <a:pt x="37844" y="8299"/>
                      <a:pt x="57880" y="0"/>
                      <a:pt x="78771" y="0"/>
                    </a:cubicBezTo>
                    <a:close/>
                  </a:path>
                </a:pathLst>
              </a:custGeom>
              <a:solidFill>
                <a:srgbClr val="893141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85725"/>
                <a:ext cx="551168" cy="2432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504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4455130" cy="1153482"/>
              <a:chOff x="0" y="0"/>
              <a:chExt cx="608479" cy="15754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08479" cy="157542"/>
              </a:xfrm>
              <a:custGeom>
                <a:avLst/>
                <a:gdLst/>
                <a:ahLst/>
                <a:cxnLst/>
                <a:rect r="r" b="b" t="t" l="l"/>
                <a:pathLst>
                  <a:path h="157542" w="608479">
                    <a:moveTo>
                      <a:pt x="78771" y="0"/>
                    </a:moveTo>
                    <a:lnTo>
                      <a:pt x="529708" y="0"/>
                    </a:lnTo>
                    <a:cubicBezTo>
                      <a:pt x="550600" y="0"/>
                      <a:pt x="570635" y="8299"/>
                      <a:pt x="585408" y="23071"/>
                    </a:cubicBezTo>
                    <a:cubicBezTo>
                      <a:pt x="600180" y="37844"/>
                      <a:pt x="608479" y="57880"/>
                      <a:pt x="608479" y="78771"/>
                    </a:cubicBezTo>
                    <a:lnTo>
                      <a:pt x="608479" y="78771"/>
                    </a:lnTo>
                    <a:cubicBezTo>
                      <a:pt x="608479" y="122275"/>
                      <a:pt x="573212" y="157542"/>
                      <a:pt x="529708" y="157542"/>
                    </a:cubicBezTo>
                    <a:lnTo>
                      <a:pt x="78771" y="157542"/>
                    </a:lnTo>
                    <a:cubicBezTo>
                      <a:pt x="57880" y="157542"/>
                      <a:pt x="37844" y="149243"/>
                      <a:pt x="23071" y="134470"/>
                    </a:cubicBezTo>
                    <a:cubicBezTo>
                      <a:pt x="8299" y="119698"/>
                      <a:pt x="0" y="99662"/>
                      <a:pt x="0" y="78771"/>
                    </a:cubicBezTo>
                    <a:lnTo>
                      <a:pt x="0" y="78771"/>
                    </a:lnTo>
                    <a:cubicBezTo>
                      <a:pt x="0" y="57880"/>
                      <a:pt x="8299" y="37844"/>
                      <a:pt x="23071" y="23071"/>
                    </a:cubicBezTo>
                    <a:cubicBezTo>
                      <a:pt x="37844" y="8299"/>
                      <a:pt x="57880" y="0"/>
                      <a:pt x="78771" y="0"/>
                    </a:cubicBezTo>
                    <a:close/>
                  </a:path>
                </a:pathLst>
              </a:custGeom>
              <a:solidFill>
                <a:srgbClr val="D0CF87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66675"/>
                <a:ext cx="608479" cy="2242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5040"/>
                  </a:lnSpc>
                </a:pPr>
                <a:r>
                  <a:rPr lang="en-US" sz="3600">
                    <a:solidFill>
                      <a:srgbClr val="3A2D4D"/>
                    </a:solidFill>
                    <a:latin typeface="Tlab 모던라운드 Light"/>
                    <a:ea typeface="Tlab 모던라운드 Light"/>
                    <a:cs typeface="Tlab 모던라운드 Light"/>
                    <a:sym typeface="Tlab 모던라운드 Light"/>
                  </a:rPr>
                  <a:t> 5) 새 방안 찾기</a:t>
                </a:r>
              </a:p>
            </p:txBody>
          </p:sp>
        </p:grpSp>
      </p:grp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1358033" y="1907527"/>
          <a:ext cx="6636580" cy="3924300"/>
        </p:xfrm>
        <a:graphic>
          <a:graphicData uri="http://schemas.openxmlformats.org/drawingml/2006/table">
            <a:tbl>
              <a:tblPr/>
              <a:tblGrid>
                <a:gridCol w="2382581"/>
              </a:tblGrid>
              <a:tr h="9041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찬성 측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5454"/>
                    </a:solidFill>
                  </a:tcPr>
                </a:tc>
              </a:tr>
              <a:tr h="3020172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학생으로서 경제 활동을 할 수 있는 </a:t>
                      </a:r>
                      <a:r>
                        <a:rPr lang="en-US" sz="2399">
                          <a:solidFill>
                            <a:srgbClr val="5170FF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가장 현실적인 수단은 아르바이트이다.</a:t>
                      </a:r>
                      <a:endParaRPr lang="en-US" sz="1100"/>
                    </a:p>
                    <a:p>
                      <a:pPr algn="just" marL="518157" indent="-259078" lvl="1">
                        <a:lnSpc>
                          <a:spcPts val="3359"/>
                        </a:lnSpc>
                        <a:buAutoNum type="arabicPeriod" startAt="1"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 가정 형편이 어려워서 </a:t>
                      </a:r>
                      <a:r>
                        <a:rPr lang="en-US" sz="2399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청소년 시기에 소득이 필요한 학생이 있습니다.</a:t>
                      </a:r>
                    </a:p>
                    <a:p>
                      <a:pPr algn="just" marL="518157" indent="-259078" lvl="1">
                        <a:lnSpc>
                          <a:spcPts val="3359"/>
                        </a:lnSpc>
                        <a:buAutoNum type="arabicPeriod" startAt="1"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 아르바이트는 학습과 병행할 수 있는 가장 현실적인 경제 활동 수단입니다.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9659854" y="1907527"/>
          <a:ext cx="7700071" cy="3924300"/>
        </p:xfrm>
        <a:graphic>
          <a:graphicData uri="http://schemas.openxmlformats.org/drawingml/2006/table">
            <a:tbl>
              <a:tblPr/>
              <a:tblGrid>
                <a:gridCol w="3209924"/>
              </a:tblGrid>
              <a:tr h="9041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반대 측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00AD"/>
                    </a:solidFill>
                  </a:tcPr>
                </a:tc>
              </a:tr>
              <a:tr h="3020172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주장 1-가정 형편이 어려운 학생들을 위해 장학금, 학비 감면 등 </a:t>
                      </a:r>
                      <a:r>
                        <a:rPr lang="en-US" sz="2299" u="sng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여러 사회 복지 제도가 마련되어 있습니다.</a:t>
                      </a:r>
                      <a:endParaRPr lang="en-US" sz="1100"/>
                    </a:p>
                    <a:p>
                      <a:pPr algn="just">
                        <a:lnSpc>
                          <a:spcPts val="3219"/>
                        </a:lnSpc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주장 2-집안일을 도와 부모님에게 받은 </a:t>
                      </a:r>
                      <a:r>
                        <a:rPr lang="en-US" sz="2299" u="sng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용돈이나 장학금</a:t>
                      </a:r>
                      <a:r>
                        <a:rPr lang="en-US" sz="2299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도 하나의 소득이 될 수 있습니다. 더불어 </a:t>
                      </a:r>
                      <a:r>
                        <a:rPr lang="en-US" sz="2299" u="sng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경제 캠프 참가 및 금융 거래 등을 통해 간접적인 경제 활동 경험</a:t>
                      </a:r>
                      <a:r>
                        <a:rPr lang="en-US" sz="2299">
                          <a:solidFill>
                            <a:srgbClr val="000000"/>
                          </a:solidFill>
                          <a:latin typeface="Tlab 모던라운드 Light"/>
                          <a:ea typeface="Tlab 모던라운드 Light"/>
                          <a:cs typeface="Tlab 모던라운드 Light"/>
                          <a:sym typeface="Tlab 모던라운드 Light"/>
                        </a:rPr>
                        <a:t>도 할 수 있습니다.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17" id="17"/>
          <p:cNvSpPr/>
          <p:nvPr/>
        </p:nvSpPr>
        <p:spPr>
          <a:xfrm flipH="false" flipV="false" rot="0">
            <a:off x="8009249" y="3341921"/>
            <a:ext cx="1635970" cy="823934"/>
          </a:xfrm>
          <a:custGeom>
            <a:avLst/>
            <a:gdLst/>
            <a:ahLst/>
            <a:cxnLst/>
            <a:rect r="r" b="b" t="t" l="l"/>
            <a:pathLst>
              <a:path h="823934" w="1635970">
                <a:moveTo>
                  <a:pt x="0" y="0"/>
                </a:moveTo>
                <a:lnTo>
                  <a:pt x="1635970" y="0"/>
                </a:lnTo>
                <a:lnTo>
                  <a:pt x="1635970" y="823934"/>
                </a:lnTo>
                <a:lnTo>
                  <a:pt x="0" y="8239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5376402" y="564357"/>
            <a:ext cx="9177030" cy="970863"/>
            <a:chOff x="0" y="0"/>
            <a:chExt cx="1671192" cy="176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192" cy="176800"/>
            </a:xfrm>
            <a:custGeom>
              <a:avLst/>
              <a:gdLst/>
              <a:ahLst/>
              <a:cxnLst/>
              <a:rect r="r" b="b" t="t" l="l"/>
              <a:pathLst>
                <a:path h="176800" w="1671192">
                  <a:moveTo>
                    <a:pt x="42181" y="0"/>
                  </a:moveTo>
                  <a:lnTo>
                    <a:pt x="1629011" y="0"/>
                  </a:lnTo>
                  <a:cubicBezTo>
                    <a:pt x="1640198" y="0"/>
                    <a:pt x="1650927" y="4444"/>
                    <a:pt x="1658837" y="12355"/>
                  </a:cubicBezTo>
                  <a:cubicBezTo>
                    <a:pt x="1666747" y="20265"/>
                    <a:pt x="1671192" y="30994"/>
                    <a:pt x="1671192" y="42181"/>
                  </a:cubicBezTo>
                  <a:lnTo>
                    <a:pt x="1671192" y="134619"/>
                  </a:lnTo>
                  <a:cubicBezTo>
                    <a:pt x="1671192" y="157915"/>
                    <a:pt x="1652307" y="176800"/>
                    <a:pt x="1629011" y="176800"/>
                  </a:cubicBezTo>
                  <a:lnTo>
                    <a:pt x="42181" y="176800"/>
                  </a:lnTo>
                  <a:cubicBezTo>
                    <a:pt x="30994" y="176800"/>
                    <a:pt x="20265" y="172356"/>
                    <a:pt x="12355" y="164445"/>
                  </a:cubicBezTo>
                  <a:cubicBezTo>
                    <a:pt x="4444" y="156535"/>
                    <a:pt x="0" y="145806"/>
                    <a:pt x="0" y="134619"/>
                  </a:cubicBezTo>
                  <a:lnTo>
                    <a:pt x="0" y="42181"/>
                  </a:lnTo>
                  <a:cubicBezTo>
                    <a:pt x="0" y="30994"/>
                    <a:pt x="4444" y="20265"/>
                    <a:pt x="12355" y="12355"/>
                  </a:cubicBezTo>
                  <a:cubicBezTo>
                    <a:pt x="20265" y="4444"/>
                    <a:pt x="30994" y="0"/>
                    <a:pt x="4218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671192" cy="24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18166" indent="-259083" lvl="1">
                <a:lnSpc>
                  <a:spcPts val="3360"/>
                </a:lnSpc>
                <a:buFont typeface="Arial"/>
                <a:buChar char="•"/>
              </a:pPr>
              <a:r>
                <a:rPr lang="en-US" sz="2400">
                  <a:solidFill>
                    <a:srgbClr val="3A2D4D"/>
                  </a:solidFill>
                  <a:latin typeface="Tlab 모던라운드 Light"/>
                  <a:ea typeface="Tlab 모던라운드 Light"/>
                  <a:cs typeface="Tlab 모던라운드 Light"/>
                  <a:sym typeface="Tlab 모던라운드 Light"/>
                </a:rPr>
                <a:t>대안 제시</a:t>
              </a:r>
            </a:p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3A2D4D"/>
                  </a:solidFill>
                  <a:latin typeface="Tlab 모던라운드 Light"/>
                  <a:ea typeface="Tlab 모던라운드 Light"/>
                  <a:cs typeface="Tlab 모던라운드 Light"/>
                  <a:sym typeface="Tlab 모던라운드 Light"/>
                </a:rPr>
                <a:t>  </a:t>
              </a:r>
              <a:r>
                <a:rPr lang="en-US" sz="2400">
                  <a:solidFill>
                    <a:srgbClr val="3A2D4D"/>
                  </a:solidFill>
                  <a:latin typeface="Tlab 모던라운드 Light"/>
                  <a:ea typeface="Tlab 모던라운드 Light"/>
                  <a:cs typeface="Tlab 모던라운드 Light"/>
                  <a:sym typeface="Tlab 모던라운드 Light"/>
                </a:rPr>
                <a:t>: 상대측이 제시한 주장보다 더 나은 방안으로써 그 주장을 무너뜨림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85639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96130"/>
            <a:ext cx="1827704" cy="1804442"/>
          </a:xfrm>
          <a:custGeom>
            <a:avLst/>
            <a:gdLst/>
            <a:ahLst/>
            <a:cxnLst/>
            <a:rect r="r" b="b" t="t" l="l"/>
            <a:pathLst>
              <a:path h="1804442" w="1827704">
                <a:moveTo>
                  <a:pt x="0" y="0"/>
                </a:moveTo>
                <a:lnTo>
                  <a:pt x="1827704" y="0"/>
                </a:lnTo>
                <a:lnTo>
                  <a:pt x="1827704" y="1804442"/>
                </a:lnTo>
                <a:lnTo>
                  <a:pt x="0" y="1804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2968" y="8022696"/>
            <a:ext cx="1874402" cy="1919779"/>
          </a:xfrm>
          <a:custGeom>
            <a:avLst/>
            <a:gdLst/>
            <a:ahLst/>
            <a:cxnLst/>
            <a:rect r="r" b="b" t="t" l="l"/>
            <a:pathLst>
              <a:path h="1919779" w="1874402">
                <a:moveTo>
                  <a:pt x="0" y="0"/>
                </a:moveTo>
                <a:lnTo>
                  <a:pt x="1874402" y="0"/>
                </a:lnTo>
                <a:lnTo>
                  <a:pt x="1874402" y="1919779"/>
                </a:lnTo>
                <a:lnTo>
                  <a:pt x="0" y="19197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98089" y="720772"/>
            <a:ext cx="15381143" cy="8845456"/>
            <a:chOff x="0" y="0"/>
            <a:chExt cx="4051001" cy="23296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83789" y="720772"/>
            <a:ext cx="15381143" cy="8845456"/>
            <a:chOff x="0" y="0"/>
            <a:chExt cx="4051001" cy="23296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53428" y="720772"/>
            <a:ext cx="15381143" cy="8845456"/>
            <a:chOff x="0" y="0"/>
            <a:chExt cx="4051001" cy="23296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216438" y="916974"/>
            <a:ext cx="14443732" cy="1497847"/>
            <a:chOff x="0" y="0"/>
            <a:chExt cx="3804110" cy="39449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04110" cy="394495"/>
            </a:xfrm>
            <a:custGeom>
              <a:avLst/>
              <a:gdLst/>
              <a:ahLst/>
              <a:cxnLst/>
              <a:rect r="r" b="b" t="t" l="l"/>
              <a:pathLst>
                <a:path h="394495" w="3804110">
                  <a:moveTo>
                    <a:pt x="13400" y="0"/>
                  </a:moveTo>
                  <a:lnTo>
                    <a:pt x="3790710" y="0"/>
                  </a:lnTo>
                  <a:cubicBezTo>
                    <a:pt x="3794264" y="0"/>
                    <a:pt x="3797672" y="1412"/>
                    <a:pt x="3800185" y="3925"/>
                  </a:cubicBezTo>
                  <a:cubicBezTo>
                    <a:pt x="3802699" y="6438"/>
                    <a:pt x="3804110" y="9846"/>
                    <a:pt x="3804110" y="13400"/>
                  </a:cubicBezTo>
                  <a:lnTo>
                    <a:pt x="3804110" y="381095"/>
                  </a:lnTo>
                  <a:cubicBezTo>
                    <a:pt x="3804110" y="384649"/>
                    <a:pt x="3802699" y="388057"/>
                    <a:pt x="3800185" y="390570"/>
                  </a:cubicBezTo>
                  <a:cubicBezTo>
                    <a:pt x="3797672" y="393083"/>
                    <a:pt x="3794264" y="394495"/>
                    <a:pt x="3790710" y="394495"/>
                  </a:cubicBezTo>
                  <a:lnTo>
                    <a:pt x="13400" y="394495"/>
                  </a:lnTo>
                  <a:cubicBezTo>
                    <a:pt x="9846" y="394495"/>
                    <a:pt x="6438" y="393083"/>
                    <a:pt x="3925" y="390570"/>
                  </a:cubicBezTo>
                  <a:cubicBezTo>
                    <a:pt x="1412" y="388057"/>
                    <a:pt x="0" y="384649"/>
                    <a:pt x="0" y="381095"/>
                  </a:cubicBezTo>
                  <a:lnTo>
                    <a:pt x="0" y="13400"/>
                  </a:lnTo>
                  <a:cubicBezTo>
                    <a:pt x="0" y="9846"/>
                    <a:pt x="1412" y="6438"/>
                    <a:pt x="3925" y="3925"/>
                  </a:cubicBezTo>
                  <a:cubicBezTo>
                    <a:pt x="6438" y="1412"/>
                    <a:pt x="9846" y="0"/>
                    <a:pt x="13400" y="0"/>
                  </a:cubicBezTo>
                  <a:close/>
                </a:path>
              </a:pathLst>
            </a:custGeom>
            <a:solidFill>
              <a:srgbClr val="FEFBED"/>
            </a:solidFill>
            <a:ln cap="rnd">
              <a:noFill/>
              <a:prstDash val="dash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804110" cy="451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45308" y="2264304"/>
            <a:ext cx="1038862" cy="5758393"/>
            <a:chOff x="0" y="0"/>
            <a:chExt cx="1385149" cy="7677857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924175" y="1031052"/>
              <a:ext cx="460953" cy="460747"/>
              <a:chOff x="0" y="0"/>
              <a:chExt cx="848212" cy="84783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924155" y="0"/>
              <a:ext cx="460993" cy="460787"/>
              <a:chOff x="0" y="0"/>
              <a:chExt cx="848212" cy="84783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924175" y="2062064"/>
              <a:ext cx="460953" cy="460747"/>
              <a:chOff x="0" y="0"/>
              <a:chExt cx="848212" cy="847833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924179" y="3093076"/>
              <a:ext cx="460946" cy="460740"/>
              <a:chOff x="0" y="0"/>
              <a:chExt cx="848212" cy="847833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924183" y="4124081"/>
              <a:ext cx="460938" cy="460731"/>
              <a:chOff x="0" y="0"/>
              <a:chExt cx="848212" cy="847833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924187" y="5155077"/>
              <a:ext cx="460930" cy="460724"/>
              <a:chOff x="0" y="0"/>
              <a:chExt cx="848212" cy="847833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924167" y="6186066"/>
              <a:ext cx="460969" cy="460763"/>
              <a:chOff x="0" y="0"/>
              <a:chExt cx="848212" cy="847833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924167" y="7217094"/>
              <a:ext cx="460969" cy="460763"/>
              <a:chOff x="0" y="0"/>
              <a:chExt cx="848212" cy="847833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1121915"/>
              <a:ext cx="1198526" cy="261915"/>
              <a:chOff x="0" y="0"/>
              <a:chExt cx="238885" cy="52204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89481"/>
              <a:ext cx="1198526" cy="261915"/>
              <a:chOff x="0" y="0"/>
              <a:chExt cx="238885" cy="52204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0" y="2154349"/>
              <a:ext cx="1198526" cy="261915"/>
              <a:chOff x="0" y="0"/>
              <a:chExt cx="238885" cy="52204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0" y="3186782"/>
              <a:ext cx="1198526" cy="261915"/>
              <a:chOff x="0" y="0"/>
              <a:chExt cx="238885" cy="52204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0" y="4219216"/>
              <a:ext cx="1198526" cy="261915"/>
              <a:chOff x="0" y="0"/>
              <a:chExt cx="238885" cy="52204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0" y="5251650"/>
              <a:ext cx="1198526" cy="261915"/>
              <a:chOff x="0" y="0"/>
              <a:chExt cx="238885" cy="52204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1" id="61"/>
            <p:cNvGrpSpPr/>
            <p:nvPr/>
          </p:nvGrpSpPr>
          <p:grpSpPr>
            <a:xfrm rot="0">
              <a:off x="0" y="6284084"/>
              <a:ext cx="1198526" cy="261915"/>
              <a:chOff x="0" y="0"/>
              <a:chExt cx="238885" cy="52204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0" y="7316518"/>
              <a:ext cx="1198526" cy="261915"/>
              <a:chOff x="0" y="0"/>
              <a:chExt cx="238885" cy="52204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</p:grpSp>
      <p:sp>
        <p:nvSpPr>
          <p:cNvPr name="Freeform 67" id="67"/>
          <p:cNvSpPr/>
          <p:nvPr/>
        </p:nvSpPr>
        <p:spPr>
          <a:xfrm flipH="false" flipV="false" rot="0">
            <a:off x="14735991" y="6997483"/>
            <a:ext cx="1550861" cy="1985102"/>
          </a:xfrm>
          <a:custGeom>
            <a:avLst/>
            <a:gdLst/>
            <a:ahLst/>
            <a:cxnLst/>
            <a:rect r="r" b="b" t="t" l="l"/>
            <a:pathLst>
              <a:path h="1985102" w="1550861">
                <a:moveTo>
                  <a:pt x="0" y="0"/>
                </a:moveTo>
                <a:lnTo>
                  <a:pt x="1550861" y="0"/>
                </a:lnTo>
                <a:lnTo>
                  <a:pt x="1550861" y="1985103"/>
                </a:lnTo>
                <a:lnTo>
                  <a:pt x="0" y="19851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4055752" y="4531785"/>
            <a:ext cx="4170104" cy="4064909"/>
            <a:chOff x="0" y="0"/>
            <a:chExt cx="5560139" cy="5419878"/>
          </a:xfrm>
        </p:grpSpPr>
        <p:grpSp>
          <p:nvGrpSpPr>
            <p:cNvPr name="Group 69" id="69"/>
            <p:cNvGrpSpPr/>
            <p:nvPr/>
          </p:nvGrpSpPr>
          <p:grpSpPr>
            <a:xfrm rot="0">
              <a:off x="0" y="0"/>
              <a:ext cx="5560139" cy="5419878"/>
              <a:chOff x="0" y="0"/>
              <a:chExt cx="1150300" cy="1121283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1150300" cy="1121283"/>
              </a:xfrm>
              <a:custGeom>
                <a:avLst/>
                <a:gdLst/>
                <a:ahLst/>
                <a:cxnLst/>
                <a:rect r="r" b="b" t="t" l="l"/>
                <a:pathLst>
                  <a:path h="1121283" w="1150300">
                    <a:moveTo>
                      <a:pt x="37131" y="0"/>
                    </a:moveTo>
                    <a:lnTo>
                      <a:pt x="1113170" y="0"/>
                    </a:lnTo>
                    <a:cubicBezTo>
                      <a:pt x="1133676" y="0"/>
                      <a:pt x="1150300" y="16624"/>
                      <a:pt x="1150300" y="37131"/>
                    </a:cubicBezTo>
                    <a:lnTo>
                      <a:pt x="1150300" y="1084152"/>
                    </a:lnTo>
                    <a:cubicBezTo>
                      <a:pt x="1150300" y="1094000"/>
                      <a:pt x="1146388" y="1103444"/>
                      <a:pt x="1139425" y="1110407"/>
                    </a:cubicBezTo>
                    <a:cubicBezTo>
                      <a:pt x="1132462" y="1117371"/>
                      <a:pt x="1123017" y="1121283"/>
                      <a:pt x="1113170" y="1121283"/>
                    </a:cubicBezTo>
                    <a:lnTo>
                      <a:pt x="37131" y="1121283"/>
                    </a:lnTo>
                    <a:cubicBezTo>
                      <a:pt x="16624" y="1121283"/>
                      <a:pt x="0" y="1104659"/>
                      <a:pt x="0" y="1084152"/>
                    </a:cubicBezTo>
                    <a:lnTo>
                      <a:pt x="0" y="37131"/>
                    </a:lnTo>
                    <a:cubicBezTo>
                      <a:pt x="0" y="27283"/>
                      <a:pt x="3912" y="17839"/>
                      <a:pt x="10875" y="10875"/>
                    </a:cubicBezTo>
                    <a:cubicBezTo>
                      <a:pt x="17839" y="3912"/>
                      <a:pt x="27283" y="0"/>
                      <a:pt x="37131" y="0"/>
                    </a:cubicBezTo>
                    <a:close/>
                  </a:path>
                </a:pathLst>
              </a:custGeom>
              <a:solidFill>
                <a:srgbClr val="FCF6FF"/>
              </a:solidFill>
              <a:ln w="28575" cap="sq">
                <a:solidFill>
                  <a:srgbClr val="2D2D2D"/>
                </a:solidFill>
                <a:prstDash val="dash"/>
                <a:miter/>
              </a:ln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-38100"/>
                <a:ext cx="1150300" cy="11593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2" id="72"/>
            <p:cNvSpPr txBox="true"/>
            <p:nvPr/>
          </p:nvSpPr>
          <p:spPr>
            <a:xfrm rot="0">
              <a:off x="436603" y="749614"/>
              <a:ext cx="4738504" cy="2950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24"/>
                </a:lnSpc>
              </a:pPr>
              <a:r>
                <a:rPr lang="en-US" sz="3499" spc="-244">
                  <a:solidFill>
                    <a:srgbClr val="962CD8"/>
                  </a:solidFill>
                  <a:latin typeface="Tlab 모던라운드 Light"/>
                  <a:ea typeface="Tlab 모던라운드 Light"/>
                  <a:cs typeface="Tlab 모던라운드 Light"/>
                  <a:sym typeface="Tlab 모던라운드 Light"/>
                </a:rPr>
                <a:t>1) 사실성</a:t>
              </a:r>
            </a:p>
            <a:p>
              <a:pPr algn="ctr">
                <a:lnSpc>
                  <a:spcPts val="6124"/>
                </a:lnSpc>
              </a:pPr>
              <a:r>
                <a:rPr lang="en-US" sz="3499" spc="-244">
                  <a:solidFill>
                    <a:srgbClr val="962CD8"/>
                  </a:solidFill>
                  <a:latin typeface="Tlab 모던라운드 Light"/>
                  <a:ea typeface="Tlab 모던라운드 Light"/>
                  <a:cs typeface="Tlab 모던라운드 Light"/>
                  <a:sym typeface="Tlab 모던라운드 Light"/>
                </a:rPr>
                <a:t>2) 관련성(유기성)</a:t>
              </a:r>
            </a:p>
            <a:p>
              <a:pPr algn="ctr">
                <a:lnSpc>
                  <a:spcPts val="6124"/>
                </a:lnSpc>
              </a:pPr>
              <a:r>
                <a:rPr lang="en-US" sz="3499" spc="-244">
                  <a:solidFill>
                    <a:srgbClr val="962CD8"/>
                  </a:solidFill>
                  <a:latin typeface="Tlab 모던라운드 Light"/>
                  <a:ea typeface="Tlab 모던라운드 Light"/>
                  <a:cs typeface="Tlab 모던라운드 Light"/>
                  <a:sym typeface="Tlab 모던라운드 Light"/>
                </a:rPr>
                <a:t>3) 충분성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463610" y="4531785"/>
            <a:ext cx="4095771" cy="4064909"/>
            <a:chOff x="0" y="0"/>
            <a:chExt cx="5461028" cy="5419878"/>
          </a:xfrm>
        </p:grpSpPr>
        <p:grpSp>
          <p:nvGrpSpPr>
            <p:cNvPr name="Group 74" id="74"/>
            <p:cNvGrpSpPr/>
            <p:nvPr/>
          </p:nvGrpSpPr>
          <p:grpSpPr>
            <a:xfrm rot="0">
              <a:off x="0" y="0"/>
              <a:ext cx="5461028" cy="5419878"/>
              <a:chOff x="0" y="0"/>
              <a:chExt cx="1129796" cy="1121283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1129796" cy="1121283"/>
              </a:xfrm>
              <a:custGeom>
                <a:avLst/>
                <a:gdLst/>
                <a:ahLst/>
                <a:cxnLst/>
                <a:rect r="r" b="b" t="t" l="l"/>
                <a:pathLst>
                  <a:path h="1121283" w="1129796">
                    <a:moveTo>
                      <a:pt x="37804" y="0"/>
                    </a:moveTo>
                    <a:lnTo>
                      <a:pt x="1091991" y="0"/>
                    </a:lnTo>
                    <a:cubicBezTo>
                      <a:pt x="1102018" y="0"/>
                      <a:pt x="1111634" y="3983"/>
                      <a:pt x="1118723" y="11073"/>
                    </a:cubicBezTo>
                    <a:cubicBezTo>
                      <a:pt x="1125813" y="18162"/>
                      <a:pt x="1129796" y="27778"/>
                      <a:pt x="1129796" y="37804"/>
                    </a:cubicBezTo>
                    <a:lnTo>
                      <a:pt x="1129796" y="1083478"/>
                    </a:lnTo>
                    <a:cubicBezTo>
                      <a:pt x="1129796" y="1093505"/>
                      <a:pt x="1125813" y="1103120"/>
                      <a:pt x="1118723" y="1110210"/>
                    </a:cubicBezTo>
                    <a:cubicBezTo>
                      <a:pt x="1111634" y="1117300"/>
                      <a:pt x="1102018" y="1121283"/>
                      <a:pt x="1091991" y="1121283"/>
                    </a:cubicBezTo>
                    <a:lnTo>
                      <a:pt x="37804" y="1121283"/>
                    </a:lnTo>
                    <a:cubicBezTo>
                      <a:pt x="27778" y="1121283"/>
                      <a:pt x="18162" y="1117300"/>
                      <a:pt x="11073" y="1110210"/>
                    </a:cubicBezTo>
                    <a:cubicBezTo>
                      <a:pt x="3983" y="1103120"/>
                      <a:pt x="0" y="1093505"/>
                      <a:pt x="0" y="1083478"/>
                    </a:cubicBezTo>
                    <a:lnTo>
                      <a:pt x="0" y="37804"/>
                    </a:lnTo>
                    <a:cubicBezTo>
                      <a:pt x="0" y="27778"/>
                      <a:pt x="3983" y="18162"/>
                      <a:pt x="11073" y="11073"/>
                    </a:cubicBezTo>
                    <a:cubicBezTo>
                      <a:pt x="18162" y="3983"/>
                      <a:pt x="27778" y="0"/>
                      <a:pt x="37804" y="0"/>
                    </a:cubicBezTo>
                    <a:close/>
                  </a:path>
                </a:pathLst>
              </a:custGeom>
              <a:solidFill>
                <a:srgbClr val="FCF6FF"/>
              </a:solidFill>
              <a:ln w="28575" cap="sq">
                <a:solidFill>
                  <a:srgbClr val="2D2D2D"/>
                </a:solidFill>
                <a:prstDash val="dash"/>
                <a:miter/>
              </a:ln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0" y="-38100"/>
                <a:ext cx="1129796" cy="11593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7" id="77"/>
            <p:cNvSpPr txBox="true"/>
            <p:nvPr/>
          </p:nvSpPr>
          <p:spPr>
            <a:xfrm rot="0">
              <a:off x="436603" y="749614"/>
              <a:ext cx="4267621" cy="19218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24"/>
                </a:lnSpc>
              </a:pPr>
              <a:r>
                <a:rPr lang="en-US" sz="3499" spc="-244">
                  <a:solidFill>
                    <a:srgbClr val="962CD8"/>
                  </a:solidFill>
                  <a:latin typeface="Tlab 모던라운드 Light"/>
                  <a:ea typeface="Tlab 모던라운드 Light"/>
                  <a:cs typeface="Tlab 모던라운드 Light"/>
                  <a:sym typeface="Tlab 모던라운드 Light"/>
                </a:rPr>
                <a:t>4) 부작용 찾기</a:t>
              </a:r>
            </a:p>
            <a:p>
              <a:pPr algn="ctr">
                <a:lnSpc>
                  <a:spcPts val="6124"/>
                </a:lnSpc>
              </a:pPr>
              <a:r>
                <a:rPr lang="en-US" sz="3499" spc="-244">
                  <a:solidFill>
                    <a:srgbClr val="962CD8"/>
                  </a:solidFill>
                  <a:latin typeface="Tlab 모던라운드 Light"/>
                  <a:ea typeface="Tlab 모던라운드 Light"/>
                  <a:cs typeface="Tlab 모던라운드 Light"/>
                  <a:sym typeface="Tlab 모던라운드 Light"/>
                </a:rPr>
                <a:t>5) 새 방안 찾기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8542625" y="5469220"/>
            <a:ext cx="1740010" cy="1740010"/>
            <a:chOff x="0" y="0"/>
            <a:chExt cx="812800" cy="8128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A764C1"/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06"/>
                </a:lnSpc>
              </a:pPr>
            </a:p>
          </p:txBody>
        </p:sp>
      </p:grpSp>
      <p:sp>
        <p:nvSpPr>
          <p:cNvPr name="TextBox 81" id="81"/>
          <p:cNvSpPr txBox="true"/>
          <p:nvPr/>
        </p:nvSpPr>
        <p:spPr>
          <a:xfrm rot="0">
            <a:off x="3009561" y="2723966"/>
            <a:ext cx="6050686" cy="1403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spc="-280">
                <a:solidFill>
                  <a:srgbClr val="000000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논증</a:t>
            </a:r>
            <a:r>
              <a:rPr lang="en-US" b="true" sz="4000" spc="-280" strike="noStrike" u="none">
                <a:solidFill>
                  <a:srgbClr val="000000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 </a:t>
            </a:r>
            <a:r>
              <a:rPr lang="en-US" b="true" sz="4000" spc="-280" strike="noStrike" u="none">
                <a:solidFill>
                  <a:srgbClr val="000000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구조를</a:t>
            </a:r>
            <a:r>
              <a:rPr lang="en-US" b="true" sz="4000" spc="-280" strike="noStrike" u="none">
                <a:solidFill>
                  <a:srgbClr val="000000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 </a:t>
            </a:r>
            <a:r>
              <a:rPr lang="en-US" b="true" sz="4000" spc="-280" strike="noStrike" u="none">
                <a:solidFill>
                  <a:srgbClr val="000000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논리적으로</a:t>
            </a:r>
            <a:r>
              <a:rPr lang="en-US" b="true" sz="4000" spc="-280" strike="noStrike" u="none">
                <a:solidFill>
                  <a:srgbClr val="000000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 </a:t>
            </a:r>
          </a:p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spc="-280" strike="noStrike" u="none">
                <a:solidFill>
                  <a:srgbClr val="000000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직접 반론하는</a:t>
            </a:r>
            <a:r>
              <a:rPr lang="en-US" b="true" sz="4000" spc="-280" strike="noStrike" u="none">
                <a:solidFill>
                  <a:srgbClr val="000000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 </a:t>
            </a:r>
            <a:r>
              <a:rPr lang="en-US" b="true" sz="4000" spc="-280" strike="noStrike" u="none">
                <a:solidFill>
                  <a:srgbClr val="000000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방법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4548265" y="1226478"/>
            <a:ext cx="9780077" cy="773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b="true" sz="4400" spc="-308">
                <a:solidFill>
                  <a:srgbClr val="2D2D2D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“효과적인  반론 방법”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9644029" y="2733491"/>
            <a:ext cx="6078939" cy="1393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 spc="-279">
                <a:solidFill>
                  <a:srgbClr val="000000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부작용·문제점</a:t>
            </a:r>
            <a:r>
              <a:rPr lang="en-US" b="true" sz="3999" spc="-279" strike="noStrike" u="none">
                <a:solidFill>
                  <a:srgbClr val="000000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 지적</a:t>
            </a:r>
            <a:r>
              <a:rPr lang="en-US" b="true" sz="3999" spc="-279" strike="noStrike" u="none">
                <a:solidFill>
                  <a:srgbClr val="000000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,</a:t>
            </a:r>
            <a:r>
              <a:rPr lang="en-US" b="true" sz="3999" spc="-279" strike="noStrike" u="none">
                <a:solidFill>
                  <a:srgbClr val="000000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 대안 </a:t>
            </a:r>
            <a:r>
              <a:rPr lang="en-US" b="true" sz="3999" spc="-279" strike="noStrike" u="none">
                <a:solidFill>
                  <a:srgbClr val="000000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제시 </a:t>
            </a:r>
          </a:p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 spc="-279" strike="noStrike" u="none">
                <a:solidFill>
                  <a:srgbClr val="000000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:</a:t>
            </a:r>
            <a:r>
              <a:rPr lang="en-US" b="true" sz="3999" spc="-279" strike="noStrike" u="none">
                <a:solidFill>
                  <a:srgbClr val="000000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 자료 조사, 문헌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85639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22968" y="8022696"/>
            <a:ext cx="1874402" cy="1919779"/>
          </a:xfrm>
          <a:custGeom>
            <a:avLst/>
            <a:gdLst/>
            <a:ahLst/>
            <a:cxnLst/>
            <a:rect r="r" b="b" t="t" l="l"/>
            <a:pathLst>
              <a:path h="1919779" w="1874402">
                <a:moveTo>
                  <a:pt x="0" y="0"/>
                </a:moveTo>
                <a:lnTo>
                  <a:pt x="1874402" y="0"/>
                </a:lnTo>
                <a:lnTo>
                  <a:pt x="1874402" y="1919779"/>
                </a:lnTo>
                <a:lnTo>
                  <a:pt x="0" y="191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96130"/>
            <a:ext cx="1827704" cy="1804442"/>
          </a:xfrm>
          <a:custGeom>
            <a:avLst/>
            <a:gdLst/>
            <a:ahLst/>
            <a:cxnLst/>
            <a:rect r="r" b="b" t="t" l="l"/>
            <a:pathLst>
              <a:path h="1804442" w="1827704">
                <a:moveTo>
                  <a:pt x="0" y="0"/>
                </a:moveTo>
                <a:lnTo>
                  <a:pt x="1827704" y="0"/>
                </a:lnTo>
                <a:lnTo>
                  <a:pt x="1827704" y="1804442"/>
                </a:lnTo>
                <a:lnTo>
                  <a:pt x="0" y="18044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98089" y="720772"/>
            <a:ext cx="15381143" cy="8845456"/>
            <a:chOff x="0" y="0"/>
            <a:chExt cx="4051001" cy="23296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83789" y="720772"/>
            <a:ext cx="15381143" cy="8845456"/>
            <a:chOff x="0" y="0"/>
            <a:chExt cx="4051001" cy="23296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53428" y="720772"/>
            <a:ext cx="15381143" cy="8845456"/>
            <a:chOff x="0" y="0"/>
            <a:chExt cx="4051001" cy="23296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45308" y="2264304"/>
            <a:ext cx="1038862" cy="5758393"/>
            <a:chOff x="0" y="0"/>
            <a:chExt cx="1385149" cy="7677857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924175" y="1031052"/>
              <a:ext cx="460953" cy="460747"/>
              <a:chOff x="0" y="0"/>
              <a:chExt cx="848212" cy="847833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924155" y="0"/>
              <a:ext cx="460993" cy="460787"/>
              <a:chOff x="0" y="0"/>
              <a:chExt cx="848212" cy="84783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924175" y="2062064"/>
              <a:ext cx="460953" cy="460747"/>
              <a:chOff x="0" y="0"/>
              <a:chExt cx="848212" cy="84783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924179" y="3093076"/>
              <a:ext cx="460946" cy="460740"/>
              <a:chOff x="0" y="0"/>
              <a:chExt cx="848212" cy="847833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924183" y="4124081"/>
              <a:ext cx="460938" cy="460731"/>
              <a:chOff x="0" y="0"/>
              <a:chExt cx="848212" cy="847833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924187" y="5155077"/>
              <a:ext cx="460930" cy="460724"/>
              <a:chOff x="0" y="0"/>
              <a:chExt cx="848212" cy="847833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924167" y="6186066"/>
              <a:ext cx="460969" cy="460763"/>
              <a:chOff x="0" y="0"/>
              <a:chExt cx="848212" cy="847833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924167" y="7217094"/>
              <a:ext cx="460969" cy="460763"/>
              <a:chOff x="0" y="0"/>
              <a:chExt cx="848212" cy="847833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0" y="1121915"/>
              <a:ext cx="1198526" cy="261915"/>
              <a:chOff x="0" y="0"/>
              <a:chExt cx="238885" cy="52204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89481"/>
              <a:ext cx="1198526" cy="261915"/>
              <a:chOff x="0" y="0"/>
              <a:chExt cx="238885" cy="52204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2154349"/>
              <a:ext cx="1198526" cy="261915"/>
              <a:chOff x="0" y="0"/>
              <a:chExt cx="238885" cy="52204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0" y="3186782"/>
              <a:ext cx="1198526" cy="261915"/>
              <a:chOff x="0" y="0"/>
              <a:chExt cx="238885" cy="52204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0" y="4219216"/>
              <a:ext cx="1198526" cy="261915"/>
              <a:chOff x="0" y="0"/>
              <a:chExt cx="238885" cy="52204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0" y="5251650"/>
              <a:ext cx="1198526" cy="261915"/>
              <a:chOff x="0" y="0"/>
              <a:chExt cx="238885" cy="52204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0" y="6284084"/>
              <a:ext cx="1198526" cy="261915"/>
              <a:chOff x="0" y="0"/>
              <a:chExt cx="238885" cy="52204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1" id="61"/>
            <p:cNvGrpSpPr/>
            <p:nvPr/>
          </p:nvGrpSpPr>
          <p:grpSpPr>
            <a:xfrm rot="0">
              <a:off x="0" y="7316518"/>
              <a:ext cx="1198526" cy="261915"/>
              <a:chOff x="0" y="0"/>
              <a:chExt cx="238885" cy="52204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</p:grpSp>
      <p:grpSp>
        <p:nvGrpSpPr>
          <p:cNvPr name="Group 64" id="64"/>
          <p:cNvGrpSpPr/>
          <p:nvPr/>
        </p:nvGrpSpPr>
        <p:grpSpPr>
          <a:xfrm rot="0">
            <a:off x="2216438" y="916974"/>
            <a:ext cx="14443732" cy="1497847"/>
            <a:chOff x="0" y="0"/>
            <a:chExt cx="3804110" cy="39449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804110" cy="394495"/>
            </a:xfrm>
            <a:custGeom>
              <a:avLst/>
              <a:gdLst/>
              <a:ahLst/>
              <a:cxnLst/>
              <a:rect r="r" b="b" t="t" l="l"/>
              <a:pathLst>
                <a:path h="394495" w="3804110">
                  <a:moveTo>
                    <a:pt x="13400" y="0"/>
                  </a:moveTo>
                  <a:lnTo>
                    <a:pt x="3790710" y="0"/>
                  </a:lnTo>
                  <a:cubicBezTo>
                    <a:pt x="3794264" y="0"/>
                    <a:pt x="3797672" y="1412"/>
                    <a:pt x="3800185" y="3925"/>
                  </a:cubicBezTo>
                  <a:cubicBezTo>
                    <a:pt x="3802699" y="6438"/>
                    <a:pt x="3804110" y="9846"/>
                    <a:pt x="3804110" y="13400"/>
                  </a:cubicBezTo>
                  <a:lnTo>
                    <a:pt x="3804110" y="381095"/>
                  </a:lnTo>
                  <a:cubicBezTo>
                    <a:pt x="3804110" y="384649"/>
                    <a:pt x="3802699" y="388057"/>
                    <a:pt x="3800185" y="390570"/>
                  </a:cubicBezTo>
                  <a:cubicBezTo>
                    <a:pt x="3797672" y="393083"/>
                    <a:pt x="3794264" y="394495"/>
                    <a:pt x="3790710" y="394495"/>
                  </a:cubicBezTo>
                  <a:lnTo>
                    <a:pt x="13400" y="394495"/>
                  </a:lnTo>
                  <a:cubicBezTo>
                    <a:pt x="9846" y="394495"/>
                    <a:pt x="6438" y="393083"/>
                    <a:pt x="3925" y="390570"/>
                  </a:cubicBezTo>
                  <a:cubicBezTo>
                    <a:pt x="1412" y="388057"/>
                    <a:pt x="0" y="384649"/>
                    <a:pt x="0" y="381095"/>
                  </a:cubicBezTo>
                  <a:lnTo>
                    <a:pt x="0" y="13400"/>
                  </a:lnTo>
                  <a:cubicBezTo>
                    <a:pt x="0" y="9846"/>
                    <a:pt x="1412" y="6438"/>
                    <a:pt x="3925" y="3925"/>
                  </a:cubicBezTo>
                  <a:cubicBezTo>
                    <a:pt x="6438" y="1412"/>
                    <a:pt x="9846" y="0"/>
                    <a:pt x="13400" y="0"/>
                  </a:cubicBezTo>
                  <a:close/>
                </a:path>
              </a:pathLst>
            </a:custGeom>
            <a:solidFill>
              <a:srgbClr val="FEFBED"/>
            </a:solidFill>
            <a:ln cap="rnd">
              <a:noFill/>
              <a:prstDash val="dash"/>
              <a:round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3804110" cy="451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AutoShape 67" id="67"/>
          <p:cNvSpPr/>
          <p:nvPr/>
        </p:nvSpPr>
        <p:spPr>
          <a:xfrm>
            <a:off x="3161442" y="3419572"/>
            <a:ext cx="12553723" cy="0"/>
          </a:xfrm>
          <a:prstGeom prst="line">
            <a:avLst/>
          </a:prstGeom>
          <a:ln cap="flat" w="19050">
            <a:solidFill>
              <a:srgbClr val="DAC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8" id="68"/>
          <p:cNvSpPr/>
          <p:nvPr/>
        </p:nvSpPr>
        <p:spPr>
          <a:xfrm>
            <a:off x="3247085" y="6309860"/>
            <a:ext cx="12553723" cy="0"/>
          </a:xfrm>
          <a:prstGeom prst="line">
            <a:avLst/>
          </a:prstGeom>
          <a:ln cap="flat" w="19050">
            <a:solidFill>
              <a:srgbClr val="DAC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9" id="69"/>
          <p:cNvSpPr/>
          <p:nvPr/>
        </p:nvSpPr>
        <p:spPr>
          <a:xfrm>
            <a:off x="3161442" y="8356071"/>
            <a:ext cx="12553723" cy="0"/>
          </a:xfrm>
          <a:prstGeom prst="line">
            <a:avLst/>
          </a:prstGeom>
          <a:ln cap="flat" w="19050">
            <a:solidFill>
              <a:srgbClr val="DAC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0" id="70"/>
          <p:cNvSpPr/>
          <p:nvPr/>
        </p:nvSpPr>
        <p:spPr>
          <a:xfrm flipH="false" flipV="false" rot="0">
            <a:off x="14623402" y="7276879"/>
            <a:ext cx="1874920" cy="1981421"/>
          </a:xfrm>
          <a:custGeom>
            <a:avLst/>
            <a:gdLst/>
            <a:ahLst/>
            <a:cxnLst/>
            <a:rect r="r" b="b" t="t" l="l"/>
            <a:pathLst>
              <a:path h="1981421" w="1874920">
                <a:moveTo>
                  <a:pt x="0" y="0"/>
                </a:moveTo>
                <a:lnTo>
                  <a:pt x="1874920" y="0"/>
                </a:lnTo>
                <a:lnTo>
                  <a:pt x="1874920" y="1981421"/>
                </a:lnTo>
                <a:lnTo>
                  <a:pt x="0" y="19814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1" id="71"/>
          <p:cNvSpPr txBox="true"/>
          <p:nvPr/>
        </p:nvSpPr>
        <p:spPr>
          <a:xfrm rot="0">
            <a:off x="4574457" y="3390246"/>
            <a:ext cx="9727692" cy="2834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5400" b="true">
                <a:solidFill>
                  <a:srgbClr val="2D2D2D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질문 21. </a:t>
            </a:r>
          </a:p>
          <a:p>
            <a:pPr algn="ctr">
              <a:lnSpc>
                <a:spcPts val="7560"/>
              </a:lnSpc>
            </a:pPr>
            <a:r>
              <a:rPr lang="en-US" b="true" sz="5400" u="sng">
                <a:solidFill>
                  <a:srgbClr val="2D2D2D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오류</a:t>
            </a:r>
            <a:r>
              <a:rPr lang="en-US" sz="5400" b="true">
                <a:solidFill>
                  <a:srgbClr val="2D2D2D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를</a:t>
            </a:r>
            <a:r>
              <a:rPr lang="en-US" b="true" sz="5400" u="none">
                <a:solidFill>
                  <a:srgbClr val="2D2D2D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 </a:t>
            </a:r>
            <a:r>
              <a:rPr lang="en-US" sz="5400" b="true">
                <a:solidFill>
                  <a:srgbClr val="2D2D2D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찾아내</a:t>
            </a:r>
            <a:r>
              <a:rPr lang="en-US" b="true" sz="5400" u="none">
                <a:solidFill>
                  <a:srgbClr val="2D2D2D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면</a:t>
            </a:r>
            <a:r>
              <a:rPr lang="en-US" sz="5400" b="true">
                <a:solidFill>
                  <a:srgbClr val="2D2D2D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 </a:t>
            </a:r>
          </a:p>
          <a:p>
            <a:pPr algn="ctr">
              <a:lnSpc>
                <a:spcPts val="7560"/>
              </a:lnSpc>
              <a:spcBef>
                <a:spcPct val="0"/>
              </a:spcBef>
            </a:pPr>
            <a:r>
              <a:rPr lang="en-US" b="true" sz="5400" u="none">
                <a:solidFill>
                  <a:srgbClr val="2D2D2D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반론을 잘할 수 있나요?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85639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96130"/>
            <a:ext cx="1827704" cy="1804442"/>
          </a:xfrm>
          <a:custGeom>
            <a:avLst/>
            <a:gdLst/>
            <a:ahLst/>
            <a:cxnLst/>
            <a:rect r="r" b="b" t="t" l="l"/>
            <a:pathLst>
              <a:path h="1804442" w="1827704">
                <a:moveTo>
                  <a:pt x="0" y="0"/>
                </a:moveTo>
                <a:lnTo>
                  <a:pt x="1827704" y="0"/>
                </a:lnTo>
                <a:lnTo>
                  <a:pt x="1827704" y="1804442"/>
                </a:lnTo>
                <a:lnTo>
                  <a:pt x="0" y="1804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2968" y="8022696"/>
            <a:ext cx="1874402" cy="1919779"/>
          </a:xfrm>
          <a:custGeom>
            <a:avLst/>
            <a:gdLst/>
            <a:ahLst/>
            <a:cxnLst/>
            <a:rect r="r" b="b" t="t" l="l"/>
            <a:pathLst>
              <a:path h="1919779" w="1874402">
                <a:moveTo>
                  <a:pt x="0" y="0"/>
                </a:moveTo>
                <a:lnTo>
                  <a:pt x="1874402" y="0"/>
                </a:lnTo>
                <a:lnTo>
                  <a:pt x="1874402" y="1919779"/>
                </a:lnTo>
                <a:lnTo>
                  <a:pt x="0" y="19197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98089" y="720772"/>
            <a:ext cx="15381143" cy="8845456"/>
            <a:chOff x="0" y="0"/>
            <a:chExt cx="4051001" cy="23296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83789" y="720772"/>
            <a:ext cx="15381143" cy="8845456"/>
            <a:chOff x="0" y="0"/>
            <a:chExt cx="4051001" cy="23296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53428" y="720772"/>
            <a:ext cx="15381143" cy="8845456"/>
            <a:chOff x="0" y="0"/>
            <a:chExt cx="4051001" cy="23296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279182" y="4007749"/>
            <a:ext cx="12318244" cy="4198472"/>
            <a:chOff x="0" y="0"/>
            <a:chExt cx="16424325" cy="5597963"/>
          </a:xfrm>
        </p:grpSpPr>
        <p:sp>
          <p:nvSpPr>
            <p:cNvPr name="AutoShape 16" id="16"/>
            <p:cNvSpPr/>
            <p:nvPr/>
          </p:nvSpPr>
          <p:spPr>
            <a:xfrm>
              <a:off x="0" y="1870556"/>
              <a:ext cx="16424325" cy="0"/>
            </a:xfrm>
            <a:prstGeom prst="line">
              <a:avLst/>
            </a:prstGeom>
            <a:ln cap="flat" w="2384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>
              <a:off x="0" y="2799427"/>
              <a:ext cx="16424325" cy="0"/>
            </a:xfrm>
            <a:prstGeom prst="line">
              <a:avLst/>
            </a:prstGeom>
            <a:ln cap="flat" w="2384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>
              <a:off x="0" y="3728299"/>
              <a:ext cx="16424325" cy="0"/>
            </a:xfrm>
            <a:prstGeom prst="line">
              <a:avLst/>
            </a:prstGeom>
            <a:ln cap="flat" w="2384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0" y="4657171"/>
              <a:ext cx="16424325" cy="0"/>
            </a:xfrm>
            <a:prstGeom prst="line">
              <a:avLst/>
            </a:prstGeom>
            <a:ln cap="flat" w="2384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>
              <a:off x="0" y="5586043"/>
              <a:ext cx="16424325" cy="0"/>
            </a:xfrm>
            <a:prstGeom prst="line">
              <a:avLst/>
            </a:prstGeom>
            <a:ln cap="flat" w="2384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0" y="941684"/>
              <a:ext cx="16424325" cy="0"/>
            </a:xfrm>
            <a:prstGeom prst="line">
              <a:avLst/>
            </a:prstGeom>
            <a:ln cap="flat" w="2384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2" id="22"/>
            <p:cNvSpPr/>
            <p:nvPr/>
          </p:nvSpPr>
          <p:spPr>
            <a:xfrm>
              <a:off x="0" y="11920"/>
              <a:ext cx="16424325" cy="0"/>
            </a:xfrm>
            <a:prstGeom prst="line">
              <a:avLst/>
            </a:prstGeom>
            <a:ln cap="flat" w="2384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2216438" y="916974"/>
            <a:ext cx="14443732" cy="1497847"/>
            <a:chOff x="0" y="0"/>
            <a:chExt cx="3804110" cy="3944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04110" cy="394495"/>
            </a:xfrm>
            <a:custGeom>
              <a:avLst/>
              <a:gdLst/>
              <a:ahLst/>
              <a:cxnLst/>
              <a:rect r="r" b="b" t="t" l="l"/>
              <a:pathLst>
                <a:path h="394495" w="3804110">
                  <a:moveTo>
                    <a:pt x="13400" y="0"/>
                  </a:moveTo>
                  <a:lnTo>
                    <a:pt x="3790710" y="0"/>
                  </a:lnTo>
                  <a:cubicBezTo>
                    <a:pt x="3794264" y="0"/>
                    <a:pt x="3797672" y="1412"/>
                    <a:pt x="3800185" y="3925"/>
                  </a:cubicBezTo>
                  <a:cubicBezTo>
                    <a:pt x="3802699" y="6438"/>
                    <a:pt x="3804110" y="9846"/>
                    <a:pt x="3804110" y="13400"/>
                  </a:cubicBezTo>
                  <a:lnTo>
                    <a:pt x="3804110" y="381095"/>
                  </a:lnTo>
                  <a:cubicBezTo>
                    <a:pt x="3804110" y="384649"/>
                    <a:pt x="3802699" y="388057"/>
                    <a:pt x="3800185" y="390570"/>
                  </a:cubicBezTo>
                  <a:cubicBezTo>
                    <a:pt x="3797672" y="393083"/>
                    <a:pt x="3794264" y="394495"/>
                    <a:pt x="3790710" y="394495"/>
                  </a:cubicBezTo>
                  <a:lnTo>
                    <a:pt x="13400" y="394495"/>
                  </a:lnTo>
                  <a:cubicBezTo>
                    <a:pt x="9846" y="394495"/>
                    <a:pt x="6438" y="393083"/>
                    <a:pt x="3925" y="390570"/>
                  </a:cubicBezTo>
                  <a:cubicBezTo>
                    <a:pt x="1412" y="388057"/>
                    <a:pt x="0" y="384649"/>
                    <a:pt x="0" y="381095"/>
                  </a:cubicBezTo>
                  <a:lnTo>
                    <a:pt x="0" y="13400"/>
                  </a:lnTo>
                  <a:cubicBezTo>
                    <a:pt x="0" y="9846"/>
                    <a:pt x="1412" y="6438"/>
                    <a:pt x="3925" y="3925"/>
                  </a:cubicBezTo>
                  <a:cubicBezTo>
                    <a:pt x="6438" y="1412"/>
                    <a:pt x="9846" y="0"/>
                    <a:pt x="13400" y="0"/>
                  </a:cubicBezTo>
                  <a:close/>
                </a:path>
              </a:pathLst>
            </a:custGeom>
            <a:solidFill>
              <a:srgbClr val="FEFBED"/>
            </a:solidFill>
            <a:ln cap="rnd">
              <a:noFill/>
              <a:prstDash val="dash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3804110" cy="451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45308" y="2264304"/>
            <a:ext cx="1038862" cy="5758393"/>
            <a:chOff x="0" y="0"/>
            <a:chExt cx="1385149" cy="7677857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924175" y="1031052"/>
              <a:ext cx="460953" cy="460747"/>
              <a:chOff x="0" y="0"/>
              <a:chExt cx="848212" cy="84783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924155" y="0"/>
              <a:ext cx="460993" cy="460787"/>
              <a:chOff x="0" y="0"/>
              <a:chExt cx="848212" cy="84783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924175" y="2062064"/>
              <a:ext cx="460953" cy="460747"/>
              <a:chOff x="0" y="0"/>
              <a:chExt cx="848212" cy="84783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924179" y="3093076"/>
              <a:ext cx="460946" cy="460740"/>
              <a:chOff x="0" y="0"/>
              <a:chExt cx="848212" cy="84783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924183" y="4124081"/>
              <a:ext cx="460938" cy="460731"/>
              <a:chOff x="0" y="0"/>
              <a:chExt cx="848212" cy="84783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924187" y="5155077"/>
              <a:ext cx="460930" cy="460724"/>
              <a:chOff x="0" y="0"/>
              <a:chExt cx="848212" cy="847833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924167" y="6186066"/>
              <a:ext cx="460969" cy="460763"/>
              <a:chOff x="0" y="0"/>
              <a:chExt cx="848212" cy="847833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924167" y="7217094"/>
              <a:ext cx="460969" cy="460763"/>
              <a:chOff x="0" y="0"/>
              <a:chExt cx="848212" cy="847833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0" y="1121915"/>
              <a:ext cx="1198526" cy="261915"/>
              <a:chOff x="0" y="0"/>
              <a:chExt cx="238885" cy="52204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0" y="89481"/>
              <a:ext cx="1198526" cy="261915"/>
              <a:chOff x="0" y="0"/>
              <a:chExt cx="238885" cy="52204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0" y="2154349"/>
              <a:ext cx="1198526" cy="261915"/>
              <a:chOff x="0" y="0"/>
              <a:chExt cx="238885" cy="52204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0" y="3186782"/>
              <a:ext cx="1198526" cy="261915"/>
              <a:chOff x="0" y="0"/>
              <a:chExt cx="238885" cy="52204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0" y="4219216"/>
              <a:ext cx="1198526" cy="261915"/>
              <a:chOff x="0" y="0"/>
              <a:chExt cx="238885" cy="52204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0" y="5251650"/>
              <a:ext cx="1198526" cy="261915"/>
              <a:chOff x="0" y="0"/>
              <a:chExt cx="238885" cy="52204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9" id="69"/>
            <p:cNvGrpSpPr/>
            <p:nvPr/>
          </p:nvGrpSpPr>
          <p:grpSpPr>
            <a:xfrm rot="0">
              <a:off x="0" y="6284084"/>
              <a:ext cx="1198526" cy="261915"/>
              <a:chOff x="0" y="0"/>
              <a:chExt cx="238885" cy="52204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72" id="72"/>
            <p:cNvGrpSpPr/>
            <p:nvPr/>
          </p:nvGrpSpPr>
          <p:grpSpPr>
            <a:xfrm rot="0">
              <a:off x="0" y="7316518"/>
              <a:ext cx="1198526" cy="261915"/>
              <a:chOff x="0" y="0"/>
              <a:chExt cx="238885" cy="52204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</p:grpSp>
      <p:sp>
        <p:nvSpPr>
          <p:cNvPr name="Freeform 75" id="75"/>
          <p:cNvSpPr/>
          <p:nvPr/>
        </p:nvSpPr>
        <p:spPr>
          <a:xfrm flipH="true" flipV="false" rot="0">
            <a:off x="14063516" y="6155941"/>
            <a:ext cx="2131247" cy="2607030"/>
          </a:xfrm>
          <a:custGeom>
            <a:avLst/>
            <a:gdLst/>
            <a:ahLst/>
            <a:cxnLst/>
            <a:rect r="r" b="b" t="t" l="l"/>
            <a:pathLst>
              <a:path h="2607030" w="2131247">
                <a:moveTo>
                  <a:pt x="2131247" y="0"/>
                </a:moveTo>
                <a:lnTo>
                  <a:pt x="0" y="0"/>
                </a:lnTo>
                <a:lnTo>
                  <a:pt x="0" y="2607030"/>
                </a:lnTo>
                <a:lnTo>
                  <a:pt x="2131247" y="2607030"/>
                </a:lnTo>
                <a:lnTo>
                  <a:pt x="213124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6" id="76"/>
          <p:cNvSpPr txBox="true"/>
          <p:nvPr/>
        </p:nvSpPr>
        <p:spPr>
          <a:xfrm rot="0">
            <a:off x="3693024" y="2137091"/>
            <a:ext cx="861248" cy="1330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42"/>
              </a:lnSpc>
            </a:pPr>
            <a:r>
              <a:rPr lang="en-US" sz="5958">
                <a:solidFill>
                  <a:srgbClr val="EF6969"/>
                </a:solidFill>
                <a:latin typeface="Black Bones"/>
                <a:ea typeface="Black Bones"/>
                <a:cs typeface="Black Bones"/>
                <a:sym typeface="Black Bones"/>
              </a:rPr>
              <a:t>TIP</a:t>
            </a:r>
          </a:p>
        </p:txBody>
      </p:sp>
      <p:sp>
        <p:nvSpPr>
          <p:cNvPr name="Freeform 77" id="77"/>
          <p:cNvSpPr/>
          <p:nvPr/>
        </p:nvSpPr>
        <p:spPr>
          <a:xfrm flipH="false" flipV="false" rot="0">
            <a:off x="6742740" y="4007749"/>
            <a:ext cx="2014447" cy="1598967"/>
          </a:xfrm>
          <a:custGeom>
            <a:avLst/>
            <a:gdLst/>
            <a:ahLst/>
            <a:cxnLst/>
            <a:rect r="r" b="b" t="t" l="l"/>
            <a:pathLst>
              <a:path h="1598967" w="2014447">
                <a:moveTo>
                  <a:pt x="0" y="0"/>
                </a:moveTo>
                <a:lnTo>
                  <a:pt x="2014446" y="0"/>
                </a:lnTo>
                <a:lnTo>
                  <a:pt x="2014446" y="1598967"/>
                </a:lnTo>
                <a:lnTo>
                  <a:pt x="0" y="15989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8" id="78"/>
          <p:cNvSpPr txBox="true"/>
          <p:nvPr/>
        </p:nvSpPr>
        <p:spPr>
          <a:xfrm rot="0">
            <a:off x="3491422" y="1771049"/>
            <a:ext cx="11113829" cy="6251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20"/>
              </a:lnSpc>
            </a:pPr>
            <a:r>
              <a:rPr lang="en-US" sz="5014">
                <a:solidFill>
                  <a:srgbClr val="3A2D4D"/>
                </a:solidFill>
                <a:latin typeface="Tlab 모던라운드 Light"/>
                <a:ea typeface="Tlab 모던라운드 Light"/>
                <a:cs typeface="Tlab 모던라운드 Light"/>
                <a:sym typeface="Tlab 모던라운드 Light"/>
              </a:rPr>
              <a:t>네! 그렇습니다.</a:t>
            </a:r>
          </a:p>
          <a:p>
            <a:pPr algn="ctr">
              <a:lnSpc>
                <a:spcPts val="6320"/>
              </a:lnSpc>
            </a:pPr>
            <a:r>
              <a:rPr lang="en-US" sz="4514">
                <a:solidFill>
                  <a:srgbClr val="3A2D4D"/>
                </a:solidFill>
                <a:latin typeface="Tlab 모던라운드 Light"/>
                <a:ea typeface="Tlab 모던라운드 Light"/>
                <a:cs typeface="Tlab 모던라운드 Light"/>
                <a:sym typeface="Tlab 모던라운드 Light"/>
              </a:rPr>
              <a:t>반론에서는 </a:t>
            </a:r>
          </a:p>
          <a:p>
            <a:pPr algn="ctr">
              <a:lnSpc>
                <a:spcPts val="6320"/>
              </a:lnSpc>
            </a:pPr>
            <a:r>
              <a:rPr lang="en-US" sz="4514">
                <a:solidFill>
                  <a:srgbClr val="3A2D4D"/>
                </a:solidFill>
                <a:latin typeface="Tlab 모던라운드 Light"/>
                <a:ea typeface="Tlab 모던라운드 Light"/>
                <a:cs typeface="Tlab 모던라운드 Light"/>
                <a:sym typeface="Tlab 모던라운드 Light"/>
              </a:rPr>
              <a:t>상대측이 제시한 의견에 들어 있는 </a:t>
            </a:r>
          </a:p>
          <a:p>
            <a:pPr algn="ctr">
              <a:lnSpc>
                <a:spcPts val="7300"/>
              </a:lnSpc>
            </a:pPr>
            <a:r>
              <a:rPr lang="en-US" sz="5214" b="true">
                <a:solidFill>
                  <a:srgbClr val="FF0000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오류</a:t>
            </a:r>
            <a:r>
              <a:rPr lang="en-US" sz="5214">
                <a:solidFill>
                  <a:srgbClr val="FF0000"/>
                </a:solidFill>
                <a:latin typeface="Tlab 모던라운드 Light"/>
                <a:ea typeface="Tlab 모던라운드 Light"/>
                <a:cs typeface="Tlab 모던라운드 Light"/>
                <a:sym typeface="Tlab 모던라운드 Light"/>
              </a:rPr>
              <a:t> 를 찾아 </a:t>
            </a:r>
          </a:p>
          <a:p>
            <a:pPr algn="ctr">
              <a:lnSpc>
                <a:spcPts val="8140"/>
              </a:lnSpc>
            </a:pPr>
            <a:r>
              <a:rPr lang="en-US" sz="5814">
                <a:solidFill>
                  <a:srgbClr val="5170FF"/>
                </a:solidFill>
                <a:latin typeface="Tlab 모던라운드 Light"/>
                <a:ea typeface="Tlab 모던라운드 Light"/>
                <a:cs typeface="Tlab 모던라운드 Light"/>
                <a:sym typeface="Tlab 모던라운드 Light"/>
              </a:rPr>
              <a:t>이를 증명하고</a:t>
            </a:r>
            <a:r>
              <a:rPr lang="en-US" sz="5814">
                <a:solidFill>
                  <a:srgbClr val="FF0000"/>
                </a:solidFill>
                <a:latin typeface="Tlab 모던라운드 Light"/>
                <a:ea typeface="Tlab 모던라운드 Light"/>
                <a:cs typeface="Tlab 모던라운드 Light"/>
                <a:sym typeface="Tlab 모던라운드 Light"/>
              </a:rPr>
              <a:t> </a:t>
            </a:r>
          </a:p>
          <a:p>
            <a:pPr algn="ctr">
              <a:lnSpc>
                <a:spcPts val="8140"/>
              </a:lnSpc>
            </a:pPr>
            <a:r>
              <a:rPr lang="en-US" sz="5814">
                <a:solidFill>
                  <a:srgbClr val="962CD8"/>
                </a:solidFill>
                <a:latin typeface="Tlab 모던라운드 Light"/>
                <a:ea typeface="Tlab 모던라운드 Light"/>
                <a:cs typeface="Tlab 모던라운드 Light"/>
                <a:sym typeface="Tlab 모던라운드 Light"/>
              </a:rPr>
              <a:t>논증의 부당함을 주장</a:t>
            </a:r>
            <a:r>
              <a:rPr lang="en-US" sz="5814">
                <a:solidFill>
                  <a:srgbClr val="3A2D4D"/>
                </a:solidFill>
                <a:latin typeface="Tlab 모던라운드 Light"/>
                <a:ea typeface="Tlab 모던라운드 Light"/>
                <a:cs typeface="Tlab 모던라운드 Light"/>
                <a:sym typeface="Tlab 모던라운드 Light"/>
              </a:rPr>
              <a:t>하는 것이 </a:t>
            </a:r>
          </a:p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3A2D4D"/>
                </a:solidFill>
                <a:latin typeface="Tlab 모던라운드 Light"/>
                <a:ea typeface="Tlab 모던라운드 Light"/>
                <a:cs typeface="Tlab 모던라운드 Light"/>
                <a:sym typeface="Tlab 모던라운드 Light"/>
              </a:rPr>
              <a:t>필수 요소입니다.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3279182" y="3833970"/>
            <a:ext cx="3183288" cy="3017986"/>
            <a:chOff x="0" y="0"/>
            <a:chExt cx="4244383" cy="4023981"/>
          </a:xfrm>
        </p:grpSpPr>
        <p:sp>
          <p:nvSpPr>
            <p:cNvPr name="Freeform 80" id="80"/>
            <p:cNvSpPr/>
            <p:nvPr/>
          </p:nvSpPr>
          <p:spPr>
            <a:xfrm flipH="false" flipV="false" rot="-2078493">
              <a:off x="419632" y="742809"/>
              <a:ext cx="3405120" cy="2538362"/>
            </a:xfrm>
            <a:custGeom>
              <a:avLst/>
              <a:gdLst/>
              <a:ahLst/>
              <a:cxnLst/>
              <a:rect r="r" b="b" t="t" l="l"/>
              <a:pathLst>
                <a:path h="2538362" w="3405120">
                  <a:moveTo>
                    <a:pt x="0" y="0"/>
                  </a:moveTo>
                  <a:lnTo>
                    <a:pt x="3405120" y="0"/>
                  </a:lnTo>
                  <a:lnTo>
                    <a:pt x="3405120" y="2538363"/>
                  </a:lnTo>
                  <a:lnTo>
                    <a:pt x="0" y="25383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 rot="-1481633">
              <a:off x="301783" y="1634475"/>
              <a:ext cx="3608983" cy="6857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893141"/>
                  </a:solidFill>
                  <a:latin typeface="210 빛글"/>
                  <a:ea typeface="210 빛글"/>
                  <a:cs typeface="210 빛글"/>
                  <a:sym typeface="210 빛글"/>
                </a:rPr>
                <a:t>비논리적 요소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96130"/>
            <a:ext cx="1827704" cy="1804442"/>
          </a:xfrm>
          <a:custGeom>
            <a:avLst/>
            <a:gdLst/>
            <a:ahLst/>
            <a:cxnLst/>
            <a:rect r="r" b="b" t="t" l="l"/>
            <a:pathLst>
              <a:path h="1804442" w="1827704">
                <a:moveTo>
                  <a:pt x="0" y="0"/>
                </a:moveTo>
                <a:lnTo>
                  <a:pt x="1827704" y="0"/>
                </a:lnTo>
                <a:lnTo>
                  <a:pt x="1827704" y="1804442"/>
                </a:lnTo>
                <a:lnTo>
                  <a:pt x="0" y="1804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85639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98089" y="720772"/>
            <a:ext cx="14152139" cy="8845456"/>
            <a:chOff x="0" y="0"/>
            <a:chExt cx="3727312" cy="23296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27312" cy="2329667"/>
            </a:xfrm>
            <a:custGeom>
              <a:avLst/>
              <a:gdLst/>
              <a:ahLst/>
              <a:cxnLst/>
              <a:rect r="r" b="b" t="t" l="l"/>
              <a:pathLst>
                <a:path h="2329667" w="3727312">
                  <a:moveTo>
                    <a:pt x="20241" y="0"/>
                  </a:moveTo>
                  <a:lnTo>
                    <a:pt x="3707071" y="0"/>
                  </a:lnTo>
                  <a:cubicBezTo>
                    <a:pt x="3712440" y="0"/>
                    <a:pt x="3717588" y="2133"/>
                    <a:pt x="3721384" y="5928"/>
                  </a:cubicBezTo>
                  <a:cubicBezTo>
                    <a:pt x="3725180" y="9724"/>
                    <a:pt x="3727312" y="14873"/>
                    <a:pt x="3727312" y="20241"/>
                  </a:cubicBezTo>
                  <a:lnTo>
                    <a:pt x="3727312" y="2309427"/>
                  </a:lnTo>
                  <a:cubicBezTo>
                    <a:pt x="3727312" y="2314795"/>
                    <a:pt x="3725180" y="2319943"/>
                    <a:pt x="3721384" y="2323739"/>
                  </a:cubicBezTo>
                  <a:cubicBezTo>
                    <a:pt x="3717588" y="2327535"/>
                    <a:pt x="3712440" y="2329667"/>
                    <a:pt x="3707071" y="2329667"/>
                  </a:cubicBezTo>
                  <a:lnTo>
                    <a:pt x="20241" y="2329667"/>
                  </a:lnTo>
                  <a:cubicBezTo>
                    <a:pt x="14873" y="2329667"/>
                    <a:pt x="9724" y="2327535"/>
                    <a:pt x="5928" y="2323739"/>
                  </a:cubicBezTo>
                  <a:cubicBezTo>
                    <a:pt x="2133" y="2319943"/>
                    <a:pt x="0" y="2314795"/>
                    <a:pt x="0" y="2309427"/>
                  </a:cubicBezTo>
                  <a:lnTo>
                    <a:pt x="0" y="20241"/>
                  </a:lnTo>
                  <a:cubicBezTo>
                    <a:pt x="0" y="14873"/>
                    <a:pt x="2133" y="9724"/>
                    <a:pt x="5928" y="5928"/>
                  </a:cubicBezTo>
                  <a:cubicBezTo>
                    <a:pt x="9724" y="2133"/>
                    <a:pt x="14873" y="0"/>
                    <a:pt x="20241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727312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722968" y="8022696"/>
            <a:ext cx="1874402" cy="1919779"/>
          </a:xfrm>
          <a:custGeom>
            <a:avLst/>
            <a:gdLst/>
            <a:ahLst/>
            <a:cxnLst/>
            <a:rect r="r" b="b" t="t" l="l"/>
            <a:pathLst>
              <a:path h="1919779" w="1874402">
                <a:moveTo>
                  <a:pt x="0" y="0"/>
                </a:moveTo>
                <a:lnTo>
                  <a:pt x="1874402" y="0"/>
                </a:lnTo>
                <a:lnTo>
                  <a:pt x="1874402" y="1919779"/>
                </a:lnTo>
                <a:lnTo>
                  <a:pt x="0" y="19197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83789" y="720772"/>
            <a:ext cx="15381143" cy="8845456"/>
            <a:chOff x="0" y="0"/>
            <a:chExt cx="4051001" cy="23296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53428" y="720772"/>
            <a:ext cx="15381143" cy="8845456"/>
            <a:chOff x="0" y="0"/>
            <a:chExt cx="4051001" cy="23296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279182" y="3044264"/>
            <a:ext cx="12318244" cy="4198472"/>
            <a:chOff x="0" y="0"/>
            <a:chExt cx="16424325" cy="5597963"/>
          </a:xfrm>
        </p:grpSpPr>
        <p:sp>
          <p:nvSpPr>
            <p:cNvPr name="AutoShape 16" id="16"/>
            <p:cNvSpPr/>
            <p:nvPr/>
          </p:nvSpPr>
          <p:spPr>
            <a:xfrm>
              <a:off x="0" y="1870556"/>
              <a:ext cx="16424325" cy="0"/>
            </a:xfrm>
            <a:prstGeom prst="line">
              <a:avLst/>
            </a:prstGeom>
            <a:ln cap="flat" w="2384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>
              <a:off x="0" y="2799427"/>
              <a:ext cx="16424325" cy="0"/>
            </a:xfrm>
            <a:prstGeom prst="line">
              <a:avLst/>
            </a:prstGeom>
            <a:ln cap="flat" w="2384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>
              <a:off x="0" y="3728299"/>
              <a:ext cx="16424325" cy="0"/>
            </a:xfrm>
            <a:prstGeom prst="line">
              <a:avLst/>
            </a:prstGeom>
            <a:ln cap="flat" w="2384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0" y="4657171"/>
              <a:ext cx="16424325" cy="0"/>
            </a:xfrm>
            <a:prstGeom prst="line">
              <a:avLst/>
            </a:prstGeom>
            <a:ln cap="flat" w="2384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>
              <a:off x="0" y="5586043"/>
              <a:ext cx="16424325" cy="0"/>
            </a:xfrm>
            <a:prstGeom prst="line">
              <a:avLst/>
            </a:prstGeom>
            <a:ln cap="flat" w="2384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0" y="941684"/>
              <a:ext cx="16424325" cy="0"/>
            </a:xfrm>
            <a:prstGeom prst="line">
              <a:avLst/>
            </a:prstGeom>
            <a:ln cap="flat" w="2384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2" id="22"/>
            <p:cNvSpPr/>
            <p:nvPr/>
          </p:nvSpPr>
          <p:spPr>
            <a:xfrm>
              <a:off x="0" y="11920"/>
              <a:ext cx="16424325" cy="0"/>
            </a:xfrm>
            <a:prstGeom prst="line">
              <a:avLst/>
            </a:prstGeom>
            <a:ln cap="flat" w="2384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045308" y="2264304"/>
            <a:ext cx="1038862" cy="5758393"/>
            <a:chOff x="0" y="0"/>
            <a:chExt cx="1385149" cy="7677857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924175" y="1031052"/>
              <a:ext cx="460953" cy="460747"/>
              <a:chOff x="0" y="0"/>
              <a:chExt cx="848212" cy="84783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924155" y="0"/>
              <a:ext cx="460993" cy="460787"/>
              <a:chOff x="0" y="0"/>
              <a:chExt cx="848212" cy="84783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924175" y="2062064"/>
              <a:ext cx="460953" cy="460747"/>
              <a:chOff x="0" y="0"/>
              <a:chExt cx="848212" cy="84783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924179" y="3093076"/>
              <a:ext cx="460946" cy="460740"/>
              <a:chOff x="0" y="0"/>
              <a:chExt cx="848212" cy="84783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924183" y="4124081"/>
              <a:ext cx="460938" cy="460731"/>
              <a:chOff x="0" y="0"/>
              <a:chExt cx="848212" cy="84783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924187" y="5155077"/>
              <a:ext cx="460930" cy="460724"/>
              <a:chOff x="0" y="0"/>
              <a:chExt cx="848212" cy="84783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924167" y="6186066"/>
              <a:ext cx="460969" cy="460763"/>
              <a:chOff x="0" y="0"/>
              <a:chExt cx="848212" cy="847833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924167" y="7217094"/>
              <a:ext cx="460969" cy="460763"/>
              <a:chOff x="0" y="0"/>
              <a:chExt cx="848212" cy="847833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0" y="1121915"/>
              <a:ext cx="1198526" cy="261915"/>
              <a:chOff x="0" y="0"/>
              <a:chExt cx="238885" cy="52204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0" y="89481"/>
              <a:ext cx="1198526" cy="261915"/>
              <a:chOff x="0" y="0"/>
              <a:chExt cx="238885" cy="52204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0" y="2154349"/>
              <a:ext cx="1198526" cy="261915"/>
              <a:chOff x="0" y="0"/>
              <a:chExt cx="238885" cy="52204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0" y="3186782"/>
              <a:ext cx="1198526" cy="261915"/>
              <a:chOff x="0" y="0"/>
              <a:chExt cx="238885" cy="52204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0" y="4219216"/>
              <a:ext cx="1198526" cy="261915"/>
              <a:chOff x="0" y="0"/>
              <a:chExt cx="238885" cy="52204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0" y="5251650"/>
              <a:ext cx="1198526" cy="261915"/>
              <a:chOff x="0" y="0"/>
              <a:chExt cx="238885" cy="52204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0" y="6284084"/>
              <a:ext cx="1198526" cy="261915"/>
              <a:chOff x="0" y="0"/>
              <a:chExt cx="238885" cy="52204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9" id="69"/>
            <p:cNvGrpSpPr/>
            <p:nvPr/>
          </p:nvGrpSpPr>
          <p:grpSpPr>
            <a:xfrm rot="0">
              <a:off x="0" y="7316518"/>
              <a:ext cx="1198526" cy="261915"/>
              <a:chOff x="0" y="0"/>
              <a:chExt cx="238885" cy="52204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</p:grpSp>
      <p:grpSp>
        <p:nvGrpSpPr>
          <p:cNvPr name="Group 72" id="72"/>
          <p:cNvGrpSpPr/>
          <p:nvPr/>
        </p:nvGrpSpPr>
        <p:grpSpPr>
          <a:xfrm rot="0">
            <a:off x="2245229" y="2571354"/>
            <a:ext cx="5146534" cy="953373"/>
            <a:chOff x="0" y="0"/>
            <a:chExt cx="6862045" cy="1271164"/>
          </a:xfrm>
        </p:grpSpPr>
        <p:grpSp>
          <p:nvGrpSpPr>
            <p:cNvPr name="Group 73" id="73"/>
            <p:cNvGrpSpPr/>
            <p:nvPr/>
          </p:nvGrpSpPr>
          <p:grpSpPr>
            <a:xfrm rot="0">
              <a:off x="861625" y="0"/>
              <a:ext cx="6000420" cy="932176"/>
              <a:chOff x="0" y="0"/>
              <a:chExt cx="819534" cy="127316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819534" cy="127316"/>
              </a:xfrm>
              <a:custGeom>
                <a:avLst/>
                <a:gdLst/>
                <a:ahLst/>
                <a:cxnLst/>
                <a:rect r="r" b="b" t="t" l="l"/>
                <a:pathLst>
                  <a:path h="127316" w="819534">
                    <a:moveTo>
                      <a:pt x="63658" y="0"/>
                    </a:moveTo>
                    <a:lnTo>
                      <a:pt x="755876" y="0"/>
                    </a:lnTo>
                    <a:cubicBezTo>
                      <a:pt x="791033" y="0"/>
                      <a:pt x="819534" y="28501"/>
                      <a:pt x="819534" y="63658"/>
                    </a:cubicBezTo>
                    <a:lnTo>
                      <a:pt x="819534" y="63658"/>
                    </a:lnTo>
                    <a:cubicBezTo>
                      <a:pt x="819534" y="98815"/>
                      <a:pt x="791033" y="127316"/>
                      <a:pt x="755876" y="127316"/>
                    </a:cubicBezTo>
                    <a:lnTo>
                      <a:pt x="63658" y="127316"/>
                    </a:lnTo>
                    <a:cubicBezTo>
                      <a:pt x="28501" y="127316"/>
                      <a:pt x="0" y="98815"/>
                      <a:pt x="0" y="63658"/>
                    </a:cubicBezTo>
                    <a:lnTo>
                      <a:pt x="0" y="63658"/>
                    </a:lnTo>
                    <a:cubicBezTo>
                      <a:pt x="0" y="28501"/>
                      <a:pt x="28501" y="0"/>
                      <a:pt x="63658" y="0"/>
                    </a:cubicBezTo>
                    <a:close/>
                  </a:path>
                </a:pathLst>
              </a:custGeom>
              <a:solidFill>
                <a:srgbClr val="D0CF87"/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-85725"/>
                <a:ext cx="819534" cy="2130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5040"/>
                  </a:lnSpc>
                </a:pP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0" y="338988"/>
              <a:ext cx="6624355" cy="932176"/>
              <a:chOff x="0" y="0"/>
              <a:chExt cx="904751" cy="127316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904751" cy="127316"/>
              </a:xfrm>
              <a:custGeom>
                <a:avLst/>
                <a:gdLst/>
                <a:ahLst/>
                <a:cxnLst/>
                <a:rect r="r" b="b" t="t" l="l"/>
                <a:pathLst>
                  <a:path h="127316" w="904751">
                    <a:moveTo>
                      <a:pt x="63658" y="0"/>
                    </a:moveTo>
                    <a:lnTo>
                      <a:pt x="841093" y="0"/>
                    </a:lnTo>
                    <a:cubicBezTo>
                      <a:pt x="876250" y="0"/>
                      <a:pt x="904751" y="28501"/>
                      <a:pt x="904751" y="63658"/>
                    </a:cubicBezTo>
                    <a:lnTo>
                      <a:pt x="904751" y="63658"/>
                    </a:lnTo>
                    <a:cubicBezTo>
                      <a:pt x="904751" y="98815"/>
                      <a:pt x="876250" y="127316"/>
                      <a:pt x="841093" y="127316"/>
                    </a:cubicBezTo>
                    <a:lnTo>
                      <a:pt x="63658" y="127316"/>
                    </a:lnTo>
                    <a:cubicBezTo>
                      <a:pt x="28501" y="127316"/>
                      <a:pt x="0" y="98815"/>
                      <a:pt x="0" y="63658"/>
                    </a:cubicBezTo>
                    <a:lnTo>
                      <a:pt x="0" y="63658"/>
                    </a:lnTo>
                    <a:cubicBezTo>
                      <a:pt x="0" y="28501"/>
                      <a:pt x="28501" y="0"/>
                      <a:pt x="6365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C89116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-85725"/>
                <a:ext cx="904751" cy="2130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5040"/>
                  </a:lnSpc>
                </a:pPr>
                <a:r>
                  <a:rPr lang="en-US" sz="3600">
                    <a:solidFill>
                      <a:srgbClr val="FFD21F"/>
                    </a:solidFill>
                    <a:latin typeface="210 빛글"/>
                    <a:ea typeface="210 빛글"/>
                    <a:cs typeface="210 빛글"/>
                    <a:sym typeface="210 빛글"/>
                  </a:rPr>
                  <a:t> 1) 논점 일탈의 오류</a:t>
                </a:r>
              </a:p>
            </p:txBody>
          </p:sp>
        </p:grpSp>
      </p:grpSp>
      <p:grpSp>
        <p:nvGrpSpPr>
          <p:cNvPr name="Group 79" id="79"/>
          <p:cNvGrpSpPr/>
          <p:nvPr/>
        </p:nvGrpSpPr>
        <p:grpSpPr>
          <a:xfrm rot="0">
            <a:off x="8506338" y="8054559"/>
            <a:ext cx="5758625" cy="1143150"/>
            <a:chOff x="0" y="0"/>
            <a:chExt cx="1048680" cy="20817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48680" cy="208174"/>
            </a:xfrm>
            <a:custGeom>
              <a:avLst/>
              <a:gdLst/>
              <a:ahLst/>
              <a:cxnLst/>
              <a:rect r="r" b="b" t="t" l="l"/>
              <a:pathLst>
                <a:path h="208174" w="1048680">
                  <a:moveTo>
                    <a:pt x="67220" y="0"/>
                  </a:moveTo>
                  <a:lnTo>
                    <a:pt x="981460" y="0"/>
                  </a:lnTo>
                  <a:cubicBezTo>
                    <a:pt x="1018584" y="0"/>
                    <a:pt x="1048680" y="30096"/>
                    <a:pt x="1048680" y="67220"/>
                  </a:cubicBezTo>
                  <a:lnTo>
                    <a:pt x="1048680" y="140954"/>
                  </a:lnTo>
                  <a:cubicBezTo>
                    <a:pt x="1048680" y="178079"/>
                    <a:pt x="1018584" y="208174"/>
                    <a:pt x="981460" y="208174"/>
                  </a:cubicBezTo>
                  <a:lnTo>
                    <a:pt x="67220" y="208174"/>
                  </a:lnTo>
                  <a:cubicBezTo>
                    <a:pt x="30096" y="208174"/>
                    <a:pt x="0" y="178079"/>
                    <a:pt x="0" y="140954"/>
                  </a:cubicBezTo>
                  <a:lnTo>
                    <a:pt x="0" y="67220"/>
                  </a:lnTo>
                  <a:cubicBezTo>
                    <a:pt x="0" y="30096"/>
                    <a:pt x="30096" y="0"/>
                    <a:pt x="6722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CF5">
                    <a:alpha val="100000"/>
                  </a:srgbClr>
                </a:gs>
                <a:gs pos="100000">
                  <a:srgbClr val="D8D5C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66675"/>
              <a:ext cx="1048680" cy="274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3A2D4D"/>
                  </a:solidFill>
                  <a:latin typeface="Tlab 모던라운드 Light"/>
                  <a:ea typeface="Tlab 모던라운드 Light"/>
                  <a:cs typeface="Tlab 모던라운드 Light"/>
                  <a:sym typeface="Tlab 모던라운드 Light"/>
                </a:rPr>
                <a:t> 충분하지 못한 근거로 주장을 세운 경우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8506338" y="6602376"/>
            <a:ext cx="8125040" cy="1143150"/>
            <a:chOff x="0" y="0"/>
            <a:chExt cx="1479618" cy="20817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479618" cy="208174"/>
            </a:xfrm>
            <a:custGeom>
              <a:avLst/>
              <a:gdLst/>
              <a:ahLst/>
              <a:cxnLst/>
              <a:rect r="r" b="b" t="t" l="l"/>
              <a:pathLst>
                <a:path h="208174" w="1479618">
                  <a:moveTo>
                    <a:pt x="47642" y="0"/>
                  </a:moveTo>
                  <a:lnTo>
                    <a:pt x="1431976" y="0"/>
                  </a:lnTo>
                  <a:cubicBezTo>
                    <a:pt x="1458288" y="0"/>
                    <a:pt x="1479618" y="21330"/>
                    <a:pt x="1479618" y="47642"/>
                  </a:cubicBezTo>
                  <a:lnTo>
                    <a:pt x="1479618" y="160532"/>
                  </a:lnTo>
                  <a:cubicBezTo>
                    <a:pt x="1479618" y="186844"/>
                    <a:pt x="1458288" y="208174"/>
                    <a:pt x="1431976" y="208174"/>
                  </a:cubicBezTo>
                  <a:lnTo>
                    <a:pt x="47642" y="208174"/>
                  </a:lnTo>
                  <a:cubicBezTo>
                    <a:pt x="21330" y="208174"/>
                    <a:pt x="0" y="186844"/>
                    <a:pt x="0" y="160532"/>
                  </a:cubicBezTo>
                  <a:lnTo>
                    <a:pt x="0" y="47642"/>
                  </a:lnTo>
                  <a:cubicBezTo>
                    <a:pt x="0" y="21330"/>
                    <a:pt x="21330" y="0"/>
                    <a:pt x="4764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CF5">
                    <a:alpha val="100000"/>
                  </a:srgbClr>
                </a:gs>
                <a:gs pos="100000">
                  <a:srgbClr val="D8D5C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66675"/>
              <a:ext cx="1479618" cy="274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3A2D4D"/>
                  </a:solidFill>
                  <a:latin typeface="Tlab 모던라운드 Light"/>
                  <a:ea typeface="Tlab 모던라운드 Light"/>
                  <a:cs typeface="Tlab 모던라운드 Light"/>
                  <a:sym typeface="Tlab 모던라운드 Light"/>
                </a:rPr>
                <a:t> 발생 당시의 문제를 어느 상황에나 적용시켜 주장하는 오류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8506338" y="3698009"/>
            <a:ext cx="8125040" cy="1143150"/>
            <a:chOff x="0" y="0"/>
            <a:chExt cx="1479618" cy="20817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479618" cy="208174"/>
            </a:xfrm>
            <a:custGeom>
              <a:avLst/>
              <a:gdLst/>
              <a:ahLst/>
              <a:cxnLst/>
              <a:rect r="r" b="b" t="t" l="l"/>
              <a:pathLst>
                <a:path h="208174" w="1479618">
                  <a:moveTo>
                    <a:pt x="47642" y="0"/>
                  </a:moveTo>
                  <a:lnTo>
                    <a:pt x="1431976" y="0"/>
                  </a:lnTo>
                  <a:cubicBezTo>
                    <a:pt x="1458288" y="0"/>
                    <a:pt x="1479618" y="21330"/>
                    <a:pt x="1479618" y="47642"/>
                  </a:cubicBezTo>
                  <a:lnTo>
                    <a:pt x="1479618" y="160532"/>
                  </a:lnTo>
                  <a:cubicBezTo>
                    <a:pt x="1479618" y="186844"/>
                    <a:pt x="1458288" y="208174"/>
                    <a:pt x="1431976" y="208174"/>
                  </a:cubicBezTo>
                  <a:lnTo>
                    <a:pt x="47642" y="208174"/>
                  </a:lnTo>
                  <a:cubicBezTo>
                    <a:pt x="21330" y="208174"/>
                    <a:pt x="0" y="186844"/>
                    <a:pt x="0" y="160532"/>
                  </a:cubicBezTo>
                  <a:lnTo>
                    <a:pt x="0" y="47642"/>
                  </a:lnTo>
                  <a:cubicBezTo>
                    <a:pt x="0" y="21330"/>
                    <a:pt x="21330" y="0"/>
                    <a:pt x="4764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CF5">
                    <a:alpha val="100000"/>
                  </a:srgbClr>
                </a:gs>
                <a:gs pos="100000">
                  <a:srgbClr val="D8D5C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66675"/>
              <a:ext cx="1479618" cy="274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3A2D4D"/>
                  </a:solidFill>
                  <a:latin typeface="Tlab 모던라운드 Light"/>
                  <a:ea typeface="Tlab 모던라운드 Light"/>
                  <a:cs typeface="Tlab 모던라운드 Light"/>
                  <a:sym typeface="Tlab 모던라운드 Light"/>
                </a:rPr>
                <a:t> 상대 주장을 왜곡하여 자기에게 유리하게 공격하는 오류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8506338" y="2245826"/>
            <a:ext cx="6624023" cy="1143150"/>
            <a:chOff x="0" y="0"/>
            <a:chExt cx="1206274" cy="20817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206274" cy="208174"/>
            </a:xfrm>
            <a:custGeom>
              <a:avLst/>
              <a:gdLst/>
              <a:ahLst/>
              <a:cxnLst/>
              <a:rect r="r" b="b" t="t" l="l"/>
              <a:pathLst>
                <a:path h="208174" w="1206274">
                  <a:moveTo>
                    <a:pt x="58438" y="0"/>
                  </a:moveTo>
                  <a:lnTo>
                    <a:pt x="1147836" y="0"/>
                  </a:lnTo>
                  <a:cubicBezTo>
                    <a:pt x="1163335" y="0"/>
                    <a:pt x="1178199" y="6157"/>
                    <a:pt x="1189158" y="17116"/>
                  </a:cubicBezTo>
                  <a:cubicBezTo>
                    <a:pt x="1200117" y="28075"/>
                    <a:pt x="1206274" y="42939"/>
                    <a:pt x="1206274" y="58438"/>
                  </a:cubicBezTo>
                  <a:lnTo>
                    <a:pt x="1206274" y="149736"/>
                  </a:lnTo>
                  <a:cubicBezTo>
                    <a:pt x="1206274" y="165235"/>
                    <a:pt x="1200117" y="180099"/>
                    <a:pt x="1189158" y="191058"/>
                  </a:cubicBezTo>
                  <a:cubicBezTo>
                    <a:pt x="1178199" y="202017"/>
                    <a:pt x="1163335" y="208174"/>
                    <a:pt x="1147836" y="208174"/>
                  </a:cubicBezTo>
                  <a:lnTo>
                    <a:pt x="58438" y="208174"/>
                  </a:lnTo>
                  <a:cubicBezTo>
                    <a:pt x="42939" y="208174"/>
                    <a:pt x="28075" y="202017"/>
                    <a:pt x="17116" y="191058"/>
                  </a:cubicBezTo>
                  <a:cubicBezTo>
                    <a:pt x="6157" y="180099"/>
                    <a:pt x="0" y="165235"/>
                    <a:pt x="0" y="149736"/>
                  </a:cubicBezTo>
                  <a:lnTo>
                    <a:pt x="0" y="58438"/>
                  </a:lnTo>
                  <a:cubicBezTo>
                    <a:pt x="0" y="42939"/>
                    <a:pt x="6157" y="28075"/>
                    <a:pt x="17116" y="17116"/>
                  </a:cubicBezTo>
                  <a:cubicBezTo>
                    <a:pt x="28075" y="6157"/>
                    <a:pt x="42939" y="0"/>
                    <a:pt x="584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CF5">
                    <a:alpha val="100000"/>
                  </a:srgbClr>
                </a:gs>
                <a:gs pos="100000">
                  <a:srgbClr val="D8D5C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66675"/>
              <a:ext cx="1206274" cy="274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3A2D4D"/>
                  </a:solidFill>
                  <a:latin typeface="Tlab 모던라운드 Light"/>
                  <a:ea typeface="Tlab 모던라운드 Light"/>
                  <a:cs typeface="Tlab 모던라운드 Light"/>
                  <a:sym typeface="Tlab 모던라운드 Light"/>
                </a:rPr>
                <a:t> 주어진 논제와 관련 없는 논증을 만드는 오류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2245229" y="1151669"/>
            <a:ext cx="8828728" cy="875082"/>
            <a:chOff x="0" y="0"/>
            <a:chExt cx="1607764" cy="15935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607764" cy="159358"/>
            </a:xfrm>
            <a:custGeom>
              <a:avLst/>
              <a:gdLst/>
              <a:ahLst/>
              <a:cxnLst/>
              <a:rect r="r" b="b" t="t" l="l"/>
              <a:pathLst>
                <a:path h="159358" w="1607764">
                  <a:moveTo>
                    <a:pt x="43845" y="0"/>
                  </a:moveTo>
                  <a:lnTo>
                    <a:pt x="1563919" y="0"/>
                  </a:lnTo>
                  <a:cubicBezTo>
                    <a:pt x="1588134" y="0"/>
                    <a:pt x="1607764" y="19630"/>
                    <a:pt x="1607764" y="43845"/>
                  </a:cubicBezTo>
                  <a:lnTo>
                    <a:pt x="1607764" y="115513"/>
                  </a:lnTo>
                  <a:cubicBezTo>
                    <a:pt x="1607764" y="127141"/>
                    <a:pt x="1603144" y="138293"/>
                    <a:pt x="1594922" y="146516"/>
                  </a:cubicBezTo>
                  <a:cubicBezTo>
                    <a:pt x="1586699" y="154738"/>
                    <a:pt x="1575547" y="159358"/>
                    <a:pt x="1563919" y="159358"/>
                  </a:cubicBezTo>
                  <a:lnTo>
                    <a:pt x="43845" y="159358"/>
                  </a:lnTo>
                  <a:cubicBezTo>
                    <a:pt x="32217" y="159358"/>
                    <a:pt x="21064" y="154738"/>
                    <a:pt x="12842" y="146516"/>
                  </a:cubicBezTo>
                  <a:cubicBezTo>
                    <a:pt x="4619" y="138293"/>
                    <a:pt x="0" y="127141"/>
                    <a:pt x="0" y="115513"/>
                  </a:cubicBezTo>
                  <a:lnTo>
                    <a:pt x="0" y="43845"/>
                  </a:lnTo>
                  <a:cubicBezTo>
                    <a:pt x="0" y="32217"/>
                    <a:pt x="4619" y="21064"/>
                    <a:pt x="12842" y="12842"/>
                  </a:cubicBezTo>
                  <a:cubicBezTo>
                    <a:pt x="21064" y="4619"/>
                    <a:pt x="32217" y="0"/>
                    <a:pt x="43845" y="0"/>
                  </a:cubicBezTo>
                  <a:close/>
                </a:path>
              </a:pathLst>
            </a:custGeom>
            <a:solidFill>
              <a:srgbClr val="DAE1F8"/>
            </a:solidFill>
            <a:ln w="38100" cap="rnd">
              <a:solidFill>
                <a:srgbClr val="CDD6FF"/>
              </a:solidFill>
              <a:prstDash val="solid"/>
              <a:round/>
            </a:ln>
          </p:spPr>
        </p:sp>
        <p:sp>
          <p:nvSpPr>
            <p:cNvPr name="TextBox 93" id="93"/>
            <p:cNvSpPr txBox="true"/>
            <p:nvPr/>
          </p:nvSpPr>
          <p:spPr>
            <a:xfrm>
              <a:off x="0" y="-85725"/>
              <a:ext cx="1607764" cy="245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sz="3599">
                  <a:solidFill>
                    <a:srgbClr val="212B38"/>
                  </a:solidFill>
                  <a:latin typeface="Tlab 모던라운드 Light"/>
                  <a:ea typeface="Tlab 모던라운드 Light"/>
                  <a:cs typeface="Tlab 모던라운드 Light"/>
                  <a:sym typeface="Tlab 모던라운드 Light"/>
                </a:rPr>
                <a:t>토론시 자주 범하는 오류(9가지)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2245229" y="3816724"/>
            <a:ext cx="5217209" cy="953373"/>
            <a:chOff x="0" y="0"/>
            <a:chExt cx="6956279" cy="1271164"/>
          </a:xfrm>
        </p:grpSpPr>
        <p:grpSp>
          <p:nvGrpSpPr>
            <p:cNvPr name="Group 95" id="95"/>
            <p:cNvGrpSpPr/>
            <p:nvPr/>
          </p:nvGrpSpPr>
          <p:grpSpPr>
            <a:xfrm rot="0">
              <a:off x="873458" y="0"/>
              <a:ext cx="6082821" cy="932176"/>
              <a:chOff x="0" y="0"/>
              <a:chExt cx="830788" cy="127316"/>
            </a:xfrm>
          </p:grpSpPr>
          <p:sp>
            <p:nvSpPr>
              <p:cNvPr name="Freeform 96" id="96"/>
              <p:cNvSpPr/>
              <p:nvPr/>
            </p:nvSpPr>
            <p:spPr>
              <a:xfrm flipH="false" flipV="false" rot="0">
                <a:off x="0" y="0"/>
                <a:ext cx="830788" cy="127316"/>
              </a:xfrm>
              <a:custGeom>
                <a:avLst/>
                <a:gdLst/>
                <a:ahLst/>
                <a:cxnLst/>
                <a:rect r="r" b="b" t="t" l="l"/>
                <a:pathLst>
                  <a:path h="127316" w="830788">
                    <a:moveTo>
                      <a:pt x="63658" y="0"/>
                    </a:moveTo>
                    <a:lnTo>
                      <a:pt x="767130" y="0"/>
                    </a:lnTo>
                    <a:cubicBezTo>
                      <a:pt x="802288" y="0"/>
                      <a:pt x="830788" y="28501"/>
                      <a:pt x="830788" y="63658"/>
                    </a:cubicBezTo>
                    <a:lnTo>
                      <a:pt x="830788" y="63658"/>
                    </a:lnTo>
                    <a:cubicBezTo>
                      <a:pt x="830788" y="98815"/>
                      <a:pt x="802288" y="127316"/>
                      <a:pt x="767130" y="127316"/>
                    </a:cubicBezTo>
                    <a:lnTo>
                      <a:pt x="63658" y="127316"/>
                    </a:lnTo>
                    <a:cubicBezTo>
                      <a:pt x="28501" y="127316"/>
                      <a:pt x="0" y="98815"/>
                      <a:pt x="0" y="63658"/>
                    </a:cubicBezTo>
                    <a:lnTo>
                      <a:pt x="0" y="63658"/>
                    </a:lnTo>
                    <a:cubicBezTo>
                      <a:pt x="0" y="28501"/>
                      <a:pt x="28501" y="0"/>
                      <a:pt x="63658" y="0"/>
                    </a:cubicBezTo>
                    <a:close/>
                  </a:path>
                </a:pathLst>
              </a:custGeom>
              <a:solidFill>
                <a:srgbClr val="D0CF87"/>
              </a:solidFill>
            </p:spPr>
          </p:sp>
          <p:sp>
            <p:nvSpPr>
              <p:cNvPr name="TextBox 97" id="97"/>
              <p:cNvSpPr txBox="true"/>
              <p:nvPr/>
            </p:nvSpPr>
            <p:spPr>
              <a:xfrm>
                <a:off x="0" y="-85725"/>
                <a:ext cx="830788" cy="2130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5040"/>
                  </a:lnSpc>
                </a:pPr>
              </a:p>
            </p:txBody>
          </p:sp>
        </p:grpSp>
        <p:grpSp>
          <p:nvGrpSpPr>
            <p:cNvPr name="Group 98" id="98"/>
            <p:cNvGrpSpPr/>
            <p:nvPr/>
          </p:nvGrpSpPr>
          <p:grpSpPr>
            <a:xfrm rot="0">
              <a:off x="0" y="338988"/>
              <a:ext cx="6715325" cy="932176"/>
              <a:chOff x="0" y="0"/>
              <a:chExt cx="917175" cy="127316"/>
            </a:xfrm>
          </p:grpSpPr>
          <p:sp>
            <p:nvSpPr>
              <p:cNvPr name="Freeform 99" id="99"/>
              <p:cNvSpPr/>
              <p:nvPr/>
            </p:nvSpPr>
            <p:spPr>
              <a:xfrm flipH="false" flipV="false" rot="0">
                <a:off x="0" y="0"/>
                <a:ext cx="917175" cy="127316"/>
              </a:xfrm>
              <a:custGeom>
                <a:avLst/>
                <a:gdLst/>
                <a:ahLst/>
                <a:cxnLst/>
                <a:rect r="r" b="b" t="t" l="l"/>
                <a:pathLst>
                  <a:path h="127316" w="917175">
                    <a:moveTo>
                      <a:pt x="63658" y="0"/>
                    </a:moveTo>
                    <a:lnTo>
                      <a:pt x="853517" y="0"/>
                    </a:lnTo>
                    <a:cubicBezTo>
                      <a:pt x="888675" y="0"/>
                      <a:pt x="917175" y="28501"/>
                      <a:pt x="917175" y="63658"/>
                    </a:cubicBezTo>
                    <a:lnTo>
                      <a:pt x="917175" y="63658"/>
                    </a:lnTo>
                    <a:cubicBezTo>
                      <a:pt x="917175" y="98815"/>
                      <a:pt x="888675" y="127316"/>
                      <a:pt x="853517" y="127316"/>
                    </a:cubicBezTo>
                    <a:lnTo>
                      <a:pt x="63658" y="127316"/>
                    </a:lnTo>
                    <a:cubicBezTo>
                      <a:pt x="28501" y="127316"/>
                      <a:pt x="0" y="98815"/>
                      <a:pt x="0" y="63658"/>
                    </a:cubicBezTo>
                    <a:lnTo>
                      <a:pt x="0" y="63658"/>
                    </a:lnTo>
                    <a:cubicBezTo>
                      <a:pt x="0" y="28501"/>
                      <a:pt x="28501" y="0"/>
                      <a:pt x="63658" y="0"/>
                    </a:cubicBezTo>
                    <a:close/>
                  </a:path>
                </a:pathLst>
              </a:custGeom>
              <a:solidFill>
                <a:srgbClr val="1800AD"/>
              </a:solidFill>
            </p:spPr>
          </p:sp>
          <p:sp>
            <p:nvSpPr>
              <p:cNvPr name="TextBox 100" id="100"/>
              <p:cNvSpPr txBox="true"/>
              <p:nvPr/>
            </p:nvSpPr>
            <p:spPr>
              <a:xfrm>
                <a:off x="0" y="-85725"/>
                <a:ext cx="917175" cy="2130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5040"/>
                  </a:lnSpc>
                </a:pPr>
                <a:r>
                  <a:rPr lang="en-US" sz="3600">
                    <a:solidFill>
                      <a:srgbClr val="FFD21F"/>
                    </a:solidFill>
                    <a:latin typeface="210 빛글"/>
                    <a:ea typeface="210 빛글"/>
                    <a:cs typeface="210 빛글"/>
                    <a:sym typeface="210 빛글"/>
                  </a:rPr>
                  <a:t> 2) 허수아비 논증의 오류</a:t>
                </a:r>
              </a:p>
            </p:txBody>
          </p:sp>
        </p:grpSp>
      </p:grpSp>
      <p:grpSp>
        <p:nvGrpSpPr>
          <p:cNvPr name="Group 101" id="101"/>
          <p:cNvGrpSpPr/>
          <p:nvPr/>
        </p:nvGrpSpPr>
        <p:grpSpPr>
          <a:xfrm rot="0">
            <a:off x="2245229" y="5062093"/>
            <a:ext cx="5146534" cy="953373"/>
            <a:chOff x="0" y="0"/>
            <a:chExt cx="6862045" cy="1271164"/>
          </a:xfrm>
        </p:grpSpPr>
        <p:grpSp>
          <p:nvGrpSpPr>
            <p:cNvPr name="Group 102" id="102"/>
            <p:cNvGrpSpPr/>
            <p:nvPr/>
          </p:nvGrpSpPr>
          <p:grpSpPr>
            <a:xfrm rot="0">
              <a:off x="861625" y="0"/>
              <a:ext cx="6000420" cy="932176"/>
              <a:chOff x="0" y="0"/>
              <a:chExt cx="819534" cy="127316"/>
            </a:xfrm>
          </p:grpSpPr>
          <p:sp>
            <p:nvSpPr>
              <p:cNvPr name="Freeform 103" id="103"/>
              <p:cNvSpPr/>
              <p:nvPr/>
            </p:nvSpPr>
            <p:spPr>
              <a:xfrm flipH="false" flipV="false" rot="0">
                <a:off x="0" y="0"/>
                <a:ext cx="819534" cy="127316"/>
              </a:xfrm>
              <a:custGeom>
                <a:avLst/>
                <a:gdLst/>
                <a:ahLst/>
                <a:cxnLst/>
                <a:rect r="r" b="b" t="t" l="l"/>
                <a:pathLst>
                  <a:path h="127316" w="819534">
                    <a:moveTo>
                      <a:pt x="63658" y="0"/>
                    </a:moveTo>
                    <a:lnTo>
                      <a:pt x="755876" y="0"/>
                    </a:lnTo>
                    <a:cubicBezTo>
                      <a:pt x="791033" y="0"/>
                      <a:pt x="819534" y="28501"/>
                      <a:pt x="819534" y="63658"/>
                    </a:cubicBezTo>
                    <a:lnTo>
                      <a:pt x="819534" y="63658"/>
                    </a:lnTo>
                    <a:cubicBezTo>
                      <a:pt x="819534" y="98815"/>
                      <a:pt x="791033" y="127316"/>
                      <a:pt x="755876" y="127316"/>
                    </a:cubicBezTo>
                    <a:lnTo>
                      <a:pt x="63658" y="127316"/>
                    </a:lnTo>
                    <a:cubicBezTo>
                      <a:pt x="28501" y="127316"/>
                      <a:pt x="0" y="98815"/>
                      <a:pt x="0" y="63658"/>
                    </a:cubicBezTo>
                    <a:lnTo>
                      <a:pt x="0" y="63658"/>
                    </a:lnTo>
                    <a:cubicBezTo>
                      <a:pt x="0" y="28501"/>
                      <a:pt x="28501" y="0"/>
                      <a:pt x="63658" y="0"/>
                    </a:cubicBezTo>
                    <a:close/>
                  </a:path>
                </a:pathLst>
              </a:custGeom>
              <a:solidFill>
                <a:srgbClr val="D0CF87"/>
              </a:solidFill>
            </p:spPr>
          </p:sp>
          <p:sp>
            <p:nvSpPr>
              <p:cNvPr name="TextBox 104" id="104"/>
              <p:cNvSpPr txBox="true"/>
              <p:nvPr/>
            </p:nvSpPr>
            <p:spPr>
              <a:xfrm>
                <a:off x="0" y="-85725"/>
                <a:ext cx="819534" cy="2130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5040"/>
                  </a:lnSpc>
                </a:pPr>
              </a:p>
            </p:txBody>
          </p:sp>
        </p:grpSp>
        <p:grpSp>
          <p:nvGrpSpPr>
            <p:cNvPr name="Group 105" id="105"/>
            <p:cNvGrpSpPr/>
            <p:nvPr/>
          </p:nvGrpSpPr>
          <p:grpSpPr>
            <a:xfrm rot="0">
              <a:off x="0" y="338988"/>
              <a:ext cx="6624355" cy="932176"/>
              <a:chOff x="0" y="0"/>
              <a:chExt cx="904751" cy="127316"/>
            </a:xfrm>
          </p:grpSpPr>
          <p:sp>
            <p:nvSpPr>
              <p:cNvPr name="Freeform 106" id="106"/>
              <p:cNvSpPr/>
              <p:nvPr/>
            </p:nvSpPr>
            <p:spPr>
              <a:xfrm flipH="false" flipV="false" rot="0">
                <a:off x="0" y="0"/>
                <a:ext cx="904751" cy="127316"/>
              </a:xfrm>
              <a:custGeom>
                <a:avLst/>
                <a:gdLst/>
                <a:ahLst/>
                <a:cxnLst/>
                <a:rect r="r" b="b" t="t" l="l"/>
                <a:pathLst>
                  <a:path h="127316" w="904751">
                    <a:moveTo>
                      <a:pt x="63658" y="0"/>
                    </a:moveTo>
                    <a:lnTo>
                      <a:pt x="841093" y="0"/>
                    </a:lnTo>
                    <a:cubicBezTo>
                      <a:pt x="876250" y="0"/>
                      <a:pt x="904751" y="28501"/>
                      <a:pt x="904751" y="63658"/>
                    </a:cubicBezTo>
                    <a:lnTo>
                      <a:pt x="904751" y="63658"/>
                    </a:lnTo>
                    <a:cubicBezTo>
                      <a:pt x="904751" y="98815"/>
                      <a:pt x="876250" y="127316"/>
                      <a:pt x="841093" y="127316"/>
                    </a:cubicBezTo>
                    <a:lnTo>
                      <a:pt x="63658" y="127316"/>
                    </a:lnTo>
                    <a:cubicBezTo>
                      <a:pt x="28501" y="127316"/>
                      <a:pt x="0" y="98815"/>
                      <a:pt x="0" y="63658"/>
                    </a:cubicBezTo>
                    <a:lnTo>
                      <a:pt x="0" y="63658"/>
                    </a:lnTo>
                    <a:cubicBezTo>
                      <a:pt x="0" y="28501"/>
                      <a:pt x="28501" y="0"/>
                      <a:pt x="6365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C89116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07" id="107"/>
              <p:cNvSpPr txBox="true"/>
              <p:nvPr/>
            </p:nvSpPr>
            <p:spPr>
              <a:xfrm>
                <a:off x="0" y="-85725"/>
                <a:ext cx="904751" cy="2130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5040"/>
                  </a:lnSpc>
                </a:pPr>
                <a:r>
                  <a:rPr lang="en-US" sz="3600">
                    <a:solidFill>
                      <a:srgbClr val="FFD21F"/>
                    </a:solidFill>
                    <a:latin typeface="210 빛글"/>
                    <a:ea typeface="210 빛글"/>
                    <a:cs typeface="210 빛글"/>
                    <a:sym typeface="210 빛글"/>
                  </a:rPr>
                  <a:t> 3) 인신공격의 오류</a:t>
                </a:r>
              </a:p>
            </p:txBody>
          </p:sp>
        </p:grpSp>
      </p:grpSp>
      <p:grpSp>
        <p:nvGrpSpPr>
          <p:cNvPr name="Group 108" id="108"/>
          <p:cNvGrpSpPr/>
          <p:nvPr/>
        </p:nvGrpSpPr>
        <p:grpSpPr>
          <a:xfrm rot="0">
            <a:off x="2245229" y="6307463"/>
            <a:ext cx="5217209" cy="953373"/>
            <a:chOff x="0" y="0"/>
            <a:chExt cx="6956279" cy="1271164"/>
          </a:xfrm>
        </p:grpSpPr>
        <p:grpSp>
          <p:nvGrpSpPr>
            <p:cNvPr name="Group 109" id="109"/>
            <p:cNvGrpSpPr/>
            <p:nvPr/>
          </p:nvGrpSpPr>
          <p:grpSpPr>
            <a:xfrm rot="0">
              <a:off x="873458" y="0"/>
              <a:ext cx="6082821" cy="932176"/>
              <a:chOff x="0" y="0"/>
              <a:chExt cx="830788" cy="127316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830788" cy="127316"/>
              </a:xfrm>
              <a:custGeom>
                <a:avLst/>
                <a:gdLst/>
                <a:ahLst/>
                <a:cxnLst/>
                <a:rect r="r" b="b" t="t" l="l"/>
                <a:pathLst>
                  <a:path h="127316" w="830788">
                    <a:moveTo>
                      <a:pt x="63658" y="0"/>
                    </a:moveTo>
                    <a:lnTo>
                      <a:pt x="767130" y="0"/>
                    </a:lnTo>
                    <a:cubicBezTo>
                      <a:pt x="802288" y="0"/>
                      <a:pt x="830788" y="28501"/>
                      <a:pt x="830788" y="63658"/>
                    </a:cubicBezTo>
                    <a:lnTo>
                      <a:pt x="830788" y="63658"/>
                    </a:lnTo>
                    <a:cubicBezTo>
                      <a:pt x="830788" y="98815"/>
                      <a:pt x="802288" y="127316"/>
                      <a:pt x="767130" y="127316"/>
                    </a:cubicBezTo>
                    <a:lnTo>
                      <a:pt x="63658" y="127316"/>
                    </a:lnTo>
                    <a:cubicBezTo>
                      <a:pt x="28501" y="127316"/>
                      <a:pt x="0" y="98815"/>
                      <a:pt x="0" y="63658"/>
                    </a:cubicBezTo>
                    <a:lnTo>
                      <a:pt x="0" y="63658"/>
                    </a:lnTo>
                    <a:cubicBezTo>
                      <a:pt x="0" y="28501"/>
                      <a:pt x="28501" y="0"/>
                      <a:pt x="63658" y="0"/>
                    </a:cubicBezTo>
                    <a:close/>
                  </a:path>
                </a:pathLst>
              </a:custGeom>
              <a:solidFill>
                <a:srgbClr val="D0CF87"/>
              </a:solidFill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0" y="-85725"/>
                <a:ext cx="830788" cy="2130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5040"/>
                  </a:lnSpc>
                </a:pPr>
              </a:p>
            </p:txBody>
          </p:sp>
        </p:grpSp>
        <p:grpSp>
          <p:nvGrpSpPr>
            <p:cNvPr name="Group 112" id="112"/>
            <p:cNvGrpSpPr/>
            <p:nvPr/>
          </p:nvGrpSpPr>
          <p:grpSpPr>
            <a:xfrm rot="0">
              <a:off x="0" y="338988"/>
              <a:ext cx="6715325" cy="932176"/>
              <a:chOff x="0" y="0"/>
              <a:chExt cx="917175" cy="127316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917175" cy="127316"/>
              </a:xfrm>
              <a:custGeom>
                <a:avLst/>
                <a:gdLst/>
                <a:ahLst/>
                <a:cxnLst/>
                <a:rect r="r" b="b" t="t" l="l"/>
                <a:pathLst>
                  <a:path h="127316" w="917175">
                    <a:moveTo>
                      <a:pt x="63658" y="0"/>
                    </a:moveTo>
                    <a:lnTo>
                      <a:pt x="853517" y="0"/>
                    </a:lnTo>
                    <a:cubicBezTo>
                      <a:pt x="888675" y="0"/>
                      <a:pt x="917175" y="28501"/>
                      <a:pt x="917175" y="63658"/>
                    </a:cubicBezTo>
                    <a:lnTo>
                      <a:pt x="917175" y="63658"/>
                    </a:lnTo>
                    <a:cubicBezTo>
                      <a:pt x="917175" y="98815"/>
                      <a:pt x="888675" y="127316"/>
                      <a:pt x="853517" y="127316"/>
                    </a:cubicBezTo>
                    <a:lnTo>
                      <a:pt x="63658" y="127316"/>
                    </a:lnTo>
                    <a:cubicBezTo>
                      <a:pt x="28501" y="127316"/>
                      <a:pt x="0" y="98815"/>
                      <a:pt x="0" y="63658"/>
                    </a:cubicBezTo>
                    <a:lnTo>
                      <a:pt x="0" y="63658"/>
                    </a:lnTo>
                    <a:cubicBezTo>
                      <a:pt x="0" y="28501"/>
                      <a:pt x="28501" y="0"/>
                      <a:pt x="63658" y="0"/>
                    </a:cubicBezTo>
                    <a:close/>
                  </a:path>
                </a:pathLst>
              </a:custGeom>
              <a:solidFill>
                <a:srgbClr val="1800AD"/>
              </a:solidFill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0" y="-85725"/>
                <a:ext cx="917175" cy="2130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5040"/>
                  </a:lnSpc>
                </a:pPr>
                <a:r>
                  <a:rPr lang="en-US" sz="3600">
                    <a:solidFill>
                      <a:srgbClr val="FFD21F"/>
                    </a:solidFill>
                    <a:latin typeface="210 빛글"/>
                    <a:ea typeface="210 빛글"/>
                    <a:cs typeface="210 빛글"/>
                    <a:sym typeface="210 빛글"/>
                  </a:rPr>
                  <a:t> 4) 발생적 오류</a:t>
                </a:r>
              </a:p>
            </p:txBody>
          </p:sp>
        </p:grpSp>
      </p:grpSp>
      <p:grpSp>
        <p:nvGrpSpPr>
          <p:cNvPr name="Group 115" id="115"/>
          <p:cNvGrpSpPr/>
          <p:nvPr/>
        </p:nvGrpSpPr>
        <p:grpSpPr>
          <a:xfrm rot="0">
            <a:off x="2245229" y="7552832"/>
            <a:ext cx="5146534" cy="953373"/>
            <a:chOff x="0" y="0"/>
            <a:chExt cx="6862045" cy="1271164"/>
          </a:xfrm>
        </p:grpSpPr>
        <p:grpSp>
          <p:nvGrpSpPr>
            <p:cNvPr name="Group 116" id="116"/>
            <p:cNvGrpSpPr/>
            <p:nvPr/>
          </p:nvGrpSpPr>
          <p:grpSpPr>
            <a:xfrm rot="0">
              <a:off x="861625" y="0"/>
              <a:ext cx="6000420" cy="932176"/>
              <a:chOff x="0" y="0"/>
              <a:chExt cx="819534" cy="127316"/>
            </a:xfrm>
          </p:grpSpPr>
          <p:sp>
            <p:nvSpPr>
              <p:cNvPr name="Freeform 117" id="117"/>
              <p:cNvSpPr/>
              <p:nvPr/>
            </p:nvSpPr>
            <p:spPr>
              <a:xfrm flipH="false" flipV="false" rot="0">
                <a:off x="0" y="0"/>
                <a:ext cx="819534" cy="127316"/>
              </a:xfrm>
              <a:custGeom>
                <a:avLst/>
                <a:gdLst/>
                <a:ahLst/>
                <a:cxnLst/>
                <a:rect r="r" b="b" t="t" l="l"/>
                <a:pathLst>
                  <a:path h="127316" w="819534">
                    <a:moveTo>
                      <a:pt x="63658" y="0"/>
                    </a:moveTo>
                    <a:lnTo>
                      <a:pt x="755876" y="0"/>
                    </a:lnTo>
                    <a:cubicBezTo>
                      <a:pt x="791033" y="0"/>
                      <a:pt x="819534" y="28501"/>
                      <a:pt x="819534" y="63658"/>
                    </a:cubicBezTo>
                    <a:lnTo>
                      <a:pt x="819534" y="63658"/>
                    </a:lnTo>
                    <a:cubicBezTo>
                      <a:pt x="819534" y="98815"/>
                      <a:pt x="791033" y="127316"/>
                      <a:pt x="755876" y="127316"/>
                    </a:cubicBezTo>
                    <a:lnTo>
                      <a:pt x="63658" y="127316"/>
                    </a:lnTo>
                    <a:cubicBezTo>
                      <a:pt x="28501" y="127316"/>
                      <a:pt x="0" y="98815"/>
                      <a:pt x="0" y="63658"/>
                    </a:cubicBezTo>
                    <a:lnTo>
                      <a:pt x="0" y="63658"/>
                    </a:lnTo>
                    <a:cubicBezTo>
                      <a:pt x="0" y="28501"/>
                      <a:pt x="28501" y="0"/>
                      <a:pt x="63658" y="0"/>
                    </a:cubicBezTo>
                    <a:close/>
                  </a:path>
                </a:pathLst>
              </a:custGeom>
              <a:solidFill>
                <a:srgbClr val="D0CF87"/>
              </a:solidFill>
            </p:spPr>
          </p:sp>
          <p:sp>
            <p:nvSpPr>
              <p:cNvPr name="TextBox 118" id="118"/>
              <p:cNvSpPr txBox="true"/>
              <p:nvPr/>
            </p:nvSpPr>
            <p:spPr>
              <a:xfrm>
                <a:off x="0" y="-85725"/>
                <a:ext cx="819534" cy="2130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5040"/>
                  </a:lnSpc>
                </a:pPr>
              </a:p>
            </p:txBody>
          </p:sp>
        </p:grpSp>
        <p:grpSp>
          <p:nvGrpSpPr>
            <p:cNvPr name="Group 119" id="119"/>
            <p:cNvGrpSpPr/>
            <p:nvPr/>
          </p:nvGrpSpPr>
          <p:grpSpPr>
            <a:xfrm rot="0">
              <a:off x="0" y="338988"/>
              <a:ext cx="6624355" cy="932176"/>
              <a:chOff x="0" y="0"/>
              <a:chExt cx="904751" cy="127316"/>
            </a:xfrm>
          </p:grpSpPr>
          <p:sp>
            <p:nvSpPr>
              <p:cNvPr name="Freeform 120" id="120"/>
              <p:cNvSpPr/>
              <p:nvPr/>
            </p:nvSpPr>
            <p:spPr>
              <a:xfrm flipH="false" flipV="false" rot="0">
                <a:off x="0" y="0"/>
                <a:ext cx="904751" cy="127316"/>
              </a:xfrm>
              <a:custGeom>
                <a:avLst/>
                <a:gdLst/>
                <a:ahLst/>
                <a:cxnLst/>
                <a:rect r="r" b="b" t="t" l="l"/>
                <a:pathLst>
                  <a:path h="127316" w="904751">
                    <a:moveTo>
                      <a:pt x="63658" y="0"/>
                    </a:moveTo>
                    <a:lnTo>
                      <a:pt x="841093" y="0"/>
                    </a:lnTo>
                    <a:cubicBezTo>
                      <a:pt x="876250" y="0"/>
                      <a:pt x="904751" y="28501"/>
                      <a:pt x="904751" y="63658"/>
                    </a:cubicBezTo>
                    <a:lnTo>
                      <a:pt x="904751" y="63658"/>
                    </a:lnTo>
                    <a:cubicBezTo>
                      <a:pt x="904751" y="98815"/>
                      <a:pt x="876250" y="127316"/>
                      <a:pt x="841093" y="127316"/>
                    </a:cubicBezTo>
                    <a:lnTo>
                      <a:pt x="63658" y="127316"/>
                    </a:lnTo>
                    <a:cubicBezTo>
                      <a:pt x="28501" y="127316"/>
                      <a:pt x="0" y="98815"/>
                      <a:pt x="0" y="63658"/>
                    </a:cubicBezTo>
                    <a:lnTo>
                      <a:pt x="0" y="63658"/>
                    </a:lnTo>
                    <a:cubicBezTo>
                      <a:pt x="0" y="28501"/>
                      <a:pt x="28501" y="0"/>
                      <a:pt x="6365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C89116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21" id="121"/>
              <p:cNvSpPr txBox="true"/>
              <p:nvPr/>
            </p:nvSpPr>
            <p:spPr>
              <a:xfrm>
                <a:off x="0" y="-85725"/>
                <a:ext cx="904751" cy="2130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5040"/>
                  </a:lnSpc>
                </a:pPr>
                <a:r>
                  <a:rPr lang="en-US" sz="3600">
                    <a:solidFill>
                      <a:srgbClr val="FFD21F"/>
                    </a:solidFill>
                    <a:latin typeface="210 빛글"/>
                    <a:ea typeface="210 빛글"/>
                    <a:cs typeface="210 빛글"/>
                    <a:sym typeface="210 빛글"/>
                  </a:rPr>
                  <a:t> 5) 성급한 일반화의 오류</a:t>
                </a:r>
              </a:p>
            </p:txBody>
          </p:sp>
        </p:grpSp>
      </p:grpSp>
      <p:grpSp>
        <p:nvGrpSpPr>
          <p:cNvPr name="Group 122" id="122"/>
          <p:cNvGrpSpPr/>
          <p:nvPr/>
        </p:nvGrpSpPr>
        <p:grpSpPr>
          <a:xfrm rot="0">
            <a:off x="8506338" y="5150193"/>
            <a:ext cx="6735245" cy="1143150"/>
            <a:chOff x="0" y="0"/>
            <a:chExt cx="1226528" cy="20817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226528" cy="208174"/>
            </a:xfrm>
            <a:custGeom>
              <a:avLst/>
              <a:gdLst/>
              <a:ahLst/>
              <a:cxnLst/>
              <a:rect r="r" b="b" t="t" l="l"/>
              <a:pathLst>
                <a:path h="208174" w="1226528">
                  <a:moveTo>
                    <a:pt x="57473" y="0"/>
                  </a:moveTo>
                  <a:lnTo>
                    <a:pt x="1169055" y="0"/>
                  </a:lnTo>
                  <a:cubicBezTo>
                    <a:pt x="1184298" y="0"/>
                    <a:pt x="1198916" y="6055"/>
                    <a:pt x="1209695" y="16834"/>
                  </a:cubicBezTo>
                  <a:cubicBezTo>
                    <a:pt x="1220473" y="27612"/>
                    <a:pt x="1226528" y="42230"/>
                    <a:pt x="1226528" y="57473"/>
                  </a:cubicBezTo>
                  <a:lnTo>
                    <a:pt x="1226528" y="150701"/>
                  </a:lnTo>
                  <a:cubicBezTo>
                    <a:pt x="1226528" y="182443"/>
                    <a:pt x="1200796" y="208174"/>
                    <a:pt x="1169055" y="208174"/>
                  </a:cubicBezTo>
                  <a:lnTo>
                    <a:pt x="57473" y="208174"/>
                  </a:lnTo>
                  <a:cubicBezTo>
                    <a:pt x="42230" y="208174"/>
                    <a:pt x="27612" y="202119"/>
                    <a:pt x="16834" y="191341"/>
                  </a:cubicBezTo>
                  <a:cubicBezTo>
                    <a:pt x="6055" y="180563"/>
                    <a:pt x="0" y="165944"/>
                    <a:pt x="0" y="150701"/>
                  </a:cubicBezTo>
                  <a:lnTo>
                    <a:pt x="0" y="57473"/>
                  </a:lnTo>
                  <a:cubicBezTo>
                    <a:pt x="0" y="42230"/>
                    <a:pt x="6055" y="27612"/>
                    <a:pt x="16834" y="16834"/>
                  </a:cubicBezTo>
                  <a:cubicBezTo>
                    <a:pt x="27612" y="6055"/>
                    <a:pt x="42230" y="0"/>
                    <a:pt x="574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CF5">
                    <a:alpha val="100000"/>
                  </a:srgbClr>
                </a:gs>
                <a:gs pos="100000">
                  <a:srgbClr val="D8D5C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66675"/>
              <a:ext cx="1226528" cy="274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3A2D4D"/>
                  </a:solidFill>
                  <a:latin typeface="Tlab 모던라운드 Light"/>
                  <a:ea typeface="Tlab 모던라운드 Light"/>
                  <a:cs typeface="Tlab 모던라운드 Light"/>
                  <a:sym typeface="Tlab 모던라운드 Light"/>
                </a:rPr>
                <a:t> 상대측의 인격이나 약점을 이용한 경우의 오류</a:t>
              </a:r>
            </a:p>
          </p:txBody>
        </p:sp>
      </p:grpSp>
      <p:sp>
        <p:nvSpPr>
          <p:cNvPr name="AutoShape 125" id="125"/>
          <p:cNvSpPr/>
          <p:nvPr/>
        </p:nvSpPr>
        <p:spPr>
          <a:xfrm flipV="true">
            <a:off x="7354205" y="2817401"/>
            <a:ext cx="1152132" cy="340378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26" id="126"/>
          <p:cNvSpPr/>
          <p:nvPr/>
        </p:nvSpPr>
        <p:spPr>
          <a:xfrm flipV="true">
            <a:off x="7349426" y="4269584"/>
            <a:ext cx="1156912" cy="203447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27" id="127"/>
          <p:cNvSpPr/>
          <p:nvPr/>
        </p:nvSpPr>
        <p:spPr>
          <a:xfrm>
            <a:off x="7278751" y="5721767"/>
            <a:ext cx="1237793" cy="193859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28" id="128"/>
          <p:cNvSpPr/>
          <p:nvPr/>
        </p:nvSpPr>
        <p:spPr>
          <a:xfrm>
            <a:off x="7391763" y="6971401"/>
            <a:ext cx="1114575" cy="20255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29" id="129"/>
          <p:cNvSpPr/>
          <p:nvPr/>
        </p:nvSpPr>
        <p:spPr>
          <a:xfrm>
            <a:off x="7278751" y="8215958"/>
            <a:ext cx="1227587" cy="410176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96130"/>
            <a:ext cx="1827704" cy="1804442"/>
          </a:xfrm>
          <a:custGeom>
            <a:avLst/>
            <a:gdLst/>
            <a:ahLst/>
            <a:cxnLst/>
            <a:rect r="r" b="b" t="t" l="l"/>
            <a:pathLst>
              <a:path h="1804442" w="1827704">
                <a:moveTo>
                  <a:pt x="0" y="0"/>
                </a:moveTo>
                <a:lnTo>
                  <a:pt x="1827704" y="0"/>
                </a:lnTo>
                <a:lnTo>
                  <a:pt x="1827704" y="1804442"/>
                </a:lnTo>
                <a:lnTo>
                  <a:pt x="0" y="1804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85639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2968" y="8022696"/>
            <a:ext cx="1874402" cy="1919779"/>
          </a:xfrm>
          <a:custGeom>
            <a:avLst/>
            <a:gdLst/>
            <a:ahLst/>
            <a:cxnLst/>
            <a:rect r="r" b="b" t="t" l="l"/>
            <a:pathLst>
              <a:path h="1919779" w="1874402">
                <a:moveTo>
                  <a:pt x="0" y="0"/>
                </a:moveTo>
                <a:lnTo>
                  <a:pt x="1874402" y="0"/>
                </a:lnTo>
                <a:lnTo>
                  <a:pt x="1874402" y="1919779"/>
                </a:lnTo>
                <a:lnTo>
                  <a:pt x="0" y="19197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98089" y="720772"/>
            <a:ext cx="15381143" cy="8845456"/>
            <a:chOff x="0" y="0"/>
            <a:chExt cx="4051001" cy="23296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83789" y="720772"/>
            <a:ext cx="15381143" cy="8845456"/>
            <a:chOff x="0" y="0"/>
            <a:chExt cx="4051001" cy="23296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53428" y="720772"/>
            <a:ext cx="15381143" cy="8845456"/>
            <a:chOff x="0" y="0"/>
            <a:chExt cx="4051001" cy="23296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279182" y="3044264"/>
            <a:ext cx="12318244" cy="4198472"/>
            <a:chOff x="0" y="0"/>
            <a:chExt cx="16424325" cy="5597963"/>
          </a:xfrm>
        </p:grpSpPr>
        <p:sp>
          <p:nvSpPr>
            <p:cNvPr name="AutoShape 16" id="16"/>
            <p:cNvSpPr/>
            <p:nvPr/>
          </p:nvSpPr>
          <p:spPr>
            <a:xfrm>
              <a:off x="0" y="1870556"/>
              <a:ext cx="16424325" cy="0"/>
            </a:xfrm>
            <a:prstGeom prst="line">
              <a:avLst/>
            </a:prstGeom>
            <a:ln cap="flat" w="2384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>
              <a:off x="0" y="2799427"/>
              <a:ext cx="16424325" cy="0"/>
            </a:xfrm>
            <a:prstGeom prst="line">
              <a:avLst/>
            </a:prstGeom>
            <a:ln cap="flat" w="2384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>
              <a:off x="0" y="4657171"/>
              <a:ext cx="16424325" cy="0"/>
            </a:xfrm>
            <a:prstGeom prst="line">
              <a:avLst/>
            </a:prstGeom>
            <a:ln cap="flat" w="2384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0" y="5586043"/>
              <a:ext cx="16424325" cy="0"/>
            </a:xfrm>
            <a:prstGeom prst="line">
              <a:avLst/>
            </a:prstGeom>
            <a:ln cap="flat" w="2384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>
              <a:off x="0" y="941684"/>
              <a:ext cx="16424325" cy="0"/>
            </a:xfrm>
            <a:prstGeom prst="line">
              <a:avLst/>
            </a:prstGeom>
            <a:ln cap="flat" w="2384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0" y="11920"/>
              <a:ext cx="16424325" cy="0"/>
            </a:xfrm>
            <a:prstGeom prst="line">
              <a:avLst/>
            </a:prstGeom>
            <a:ln cap="flat" w="2384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45308" y="2264304"/>
            <a:ext cx="1038862" cy="5758393"/>
            <a:chOff x="0" y="0"/>
            <a:chExt cx="1385149" cy="7677857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924175" y="1031052"/>
              <a:ext cx="460953" cy="460747"/>
              <a:chOff x="0" y="0"/>
              <a:chExt cx="848212" cy="847833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924155" y="0"/>
              <a:ext cx="460993" cy="460787"/>
              <a:chOff x="0" y="0"/>
              <a:chExt cx="848212" cy="847833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924175" y="2062064"/>
              <a:ext cx="460953" cy="460747"/>
              <a:chOff x="0" y="0"/>
              <a:chExt cx="848212" cy="847833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924179" y="3093076"/>
              <a:ext cx="460946" cy="460740"/>
              <a:chOff x="0" y="0"/>
              <a:chExt cx="848212" cy="847833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924183" y="4124081"/>
              <a:ext cx="460938" cy="460731"/>
              <a:chOff x="0" y="0"/>
              <a:chExt cx="848212" cy="847833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924187" y="5155077"/>
              <a:ext cx="460930" cy="460724"/>
              <a:chOff x="0" y="0"/>
              <a:chExt cx="848212" cy="847833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924167" y="6186066"/>
              <a:ext cx="460969" cy="460763"/>
              <a:chOff x="0" y="0"/>
              <a:chExt cx="848212" cy="847833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924167" y="7217094"/>
              <a:ext cx="460969" cy="460763"/>
              <a:chOff x="0" y="0"/>
              <a:chExt cx="848212" cy="847833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0" y="1121915"/>
              <a:ext cx="1198526" cy="261915"/>
              <a:chOff x="0" y="0"/>
              <a:chExt cx="238885" cy="52204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0" y="89481"/>
              <a:ext cx="1198526" cy="261915"/>
              <a:chOff x="0" y="0"/>
              <a:chExt cx="238885" cy="52204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0" y="2154349"/>
              <a:ext cx="1198526" cy="261915"/>
              <a:chOff x="0" y="0"/>
              <a:chExt cx="238885" cy="52204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0">
              <a:off x="0" y="3186782"/>
              <a:ext cx="1198526" cy="261915"/>
              <a:chOff x="0" y="0"/>
              <a:chExt cx="238885" cy="52204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9" id="59"/>
            <p:cNvGrpSpPr/>
            <p:nvPr/>
          </p:nvGrpSpPr>
          <p:grpSpPr>
            <a:xfrm rot="0">
              <a:off x="0" y="4219216"/>
              <a:ext cx="1198526" cy="261915"/>
              <a:chOff x="0" y="0"/>
              <a:chExt cx="238885" cy="52204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2" id="62"/>
            <p:cNvGrpSpPr/>
            <p:nvPr/>
          </p:nvGrpSpPr>
          <p:grpSpPr>
            <a:xfrm rot="0">
              <a:off x="0" y="5251650"/>
              <a:ext cx="1198526" cy="261915"/>
              <a:chOff x="0" y="0"/>
              <a:chExt cx="238885" cy="52204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5" id="65"/>
            <p:cNvGrpSpPr/>
            <p:nvPr/>
          </p:nvGrpSpPr>
          <p:grpSpPr>
            <a:xfrm rot="0">
              <a:off x="0" y="6284084"/>
              <a:ext cx="1198526" cy="261915"/>
              <a:chOff x="0" y="0"/>
              <a:chExt cx="238885" cy="52204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8" id="68"/>
            <p:cNvGrpSpPr/>
            <p:nvPr/>
          </p:nvGrpSpPr>
          <p:grpSpPr>
            <a:xfrm rot="0">
              <a:off x="0" y="7316518"/>
              <a:ext cx="1198526" cy="261915"/>
              <a:chOff x="0" y="0"/>
              <a:chExt cx="238885" cy="52204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</p:grpSp>
      <p:sp>
        <p:nvSpPr>
          <p:cNvPr name="Freeform 71" id="71"/>
          <p:cNvSpPr/>
          <p:nvPr/>
        </p:nvSpPr>
        <p:spPr>
          <a:xfrm flipH="true" flipV="false" rot="0">
            <a:off x="15264124" y="8041996"/>
            <a:ext cx="1396045" cy="1216304"/>
          </a:xfrm>
          <a:custGeom>
            <a:avLst/>
            <a:gdLst/>
            <a:ahLst/>
            <a:cxnLst/>
            <a:rect r="r" b="b" t="t" l="l"/>
            <a:pathLst>
              <a:path h="1216304" w="1396045">
                <a:moveTo>
                  <a:pt x="1396045" y="0"/>
                </a:moveTo>
                <a:lnTo>
                  <a:pt x="0" y="0"/>
                </a:lnTo>
                <a:lnTo>
                  <a:pt x="0" y="1216304"/>
                </a:lnTo>
                <a:lnTo>
                  <a:pt x="1396045" y="1216304"/>
                </a:lnTo>
                <a:lnTo>
                  <a:pt x="139604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2" id="72"/>
          <p:cNvGrpSpPr/>
          <p:nvPr/>
        </p:nvGrpSpPr>
        <p:grpSpPr>
          <a:xfrm rot="0">
            <a:off x="9570671" y="6999101"/>
            <a:ext cx="6542995" cy="1143150"/>
            <a:chOff x="0" y="0"/>
            <a:chExt cx="1191518" cy="20817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91518" cy="208174"/>
            </a:xfrm>
            <a:custGeom>
              <a:avLst/>
              <a:gdLst/>
              <a:ahLst/>
              <a:cxnLst/>
              <a:rect r="r" b="b" t="t" l="l"/>
              <a:pathLst>
                <a:path h="208174" w="1191518">
                  <a:moveTo>
                    <a:pt x="59162" y="0"/>
                  </a:moveTo>
                  <a:lnTo>
                    <a:pt x="1132356" y="0"/>
                  </a:lnTo>
                  <a:cubicBezTo>
                    <a:pt x="1148047" y="0"/>
                    <a:pt x="1163095" y="6233"/>
                    <a:pt x="1174190" y="17328"/>
                  </a:cubicBezTo>
                  <a:cubicBezTo>
                    <a:pt x="1185285" y="28423"/>
                    <a:pt x="1191518" y="43471"/>
                    <a:pt x="1191518" y="59162"/>
                  </a:cubicBezTo>
                  <a:lnTo>
                    <a:pt x="1191518" y="149012"/>
                  </a:lnTo>
                  <a:cubicBezTo>
                    <a:pt x="1191518" y="181687"/>
                    <a:pt x="1165031" y="208174"/>
                    <a:pt x="1132356" y="208174"/>
                  </a:cubicBezTo>
                  <a:lnTo>
                    <a:pt x="59162" y="208174"/>
                  </a:lnTo>
                  <a:cubicBezTo>
                    <a:pt x="43471" y="208174"/>
                    <a:pt x="28423" y="201941"/>
                    <a:pt x="17328" y="190846"/>
                  </a:cubicBezTo>
                  <a:cubicBezTo>
                    <a:pt x="6233" y="179751"/>
                    <a:pt x="0" y="164703"/>
                    <a:pt x="0" y="149012"/>
                  </a:cubicBezTo>
                  <a:lnTo>
                    <a:pt x="0" y="59162"/>
                  </a:lnTo>
                  <a:cubicBezTo>
                    <a:pt x="0" y="43471"/>
                    <a:pt x="6233" y="28423"/>
                    <a:pt x="17328" y="17328"/>
                  </a:cubicBezTo>
                  <a:cubicBezTo>
                    <a:pt x="28423" y="6233"/>
                    <a:pt x="43471" y="0"/>
                    <a:pt x="5916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CF5">
                    <a:alpha val="100000"/>
                  </a:srgbClr>
                </a:gs>
                <a:gs pos="100000">
                  <a:srgbClr val="D8D5C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66675"/>
              <a:ext cx="1191518" cy="274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3A2D4D"/>
                  </a:solidFill>
                  <a:latin typeface="Tlab 모던라운드 Light"/>
                  <a:ea typeface="Tlab 모던라운드 Light"/>
                  <a:cs typeface="Tlab 모던라운드 Light"/>
                  <a:sym typeface="Tlab 모던라운드 Light"/>
                </a:rPr>
                <a:t> 실제로 두 사실 간에 인과적 관련성이 없는 경우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832862" y="5598776"/>
            <a:ext cx="8880145" cy="1143150"/>
            <a:chOff x="0" y="0"/>
            <a:chExt cx="1617127" cy="20817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617127" cy="208174"/>
            </a:xfrm>
            <a:custGeom>
              <a:avLst/>
              <a:gdLst/>
              <a:ahLst/>
              <a:cxnLst/>
              <a:rect r="r" b="b" t="t" l="l"/>
              <a:pathLst>
                <a:path h="208174" w="1617127">
                  <a:moveTo>
                    <a:pt x="43591" y="0"/>
                  </a:moveTo>
                  <a:lnTo>
                    <a:pt x="1573536" y="0"/>
                  </a:lnTo>
                  <a:cubicBezTo>
                    <a:pt x="1585097" y="0"/>
                    <a:pt x="1596185" y="4593"/>
                    <a:pt x="1604360" y="12768"/>
                  </a:cubicBezTo>
                  <a:cubicBezTo>
                    <a:pt x="1612535" y="20942"/>
                    <a:pt x="1617127" y="32030"/>
                    <a:pt x="1617127" y="43591"/>
                  </a:cubicBezTo>
                  <a:lnTo>
                    <a:pt x="1617127" y="164583"/>
                  </a:lnTo>
                  <a:cubicBezTo>
                    <a:pt x="1617127" y="176144"/>
                    <a:pt x="1612535" y="187232"/>
                    <a:pt x="1604360" y="195407"/>
                  </a:cubicBezTo>
                  <a:cubicBezTo>
                    <a:pt x="1596185" y="203582"/>
                    <a:pt x="1585097" y="208174"/>
                    <a:pt x="1573536" y="208174"/>
                  </a:cubicBezTo>
                  <a:lnTo>
                    <a:pt x="43591" y="208174"/>
                  </a:lnTo>
                  <a:cubicBezTo>
                    <a:pt x="32030" y="208174"/>
                    <a:pt x="20942" y="203582"/>
                    <a:pt x="12768" y="195407"/>
                  </a:cubicBezTo>
                  <a:cubicBezTo>
                    <a:pt x="4593" y="187232"/>
                    <a:pt x="0" y="176144"/>
                    <a:pt x="0" y="164583"/>
                  </a:cubicBezTo>
                  <a:lnTo>
                    <a:pt x="0" y="43591"/>
                  </a:lnTo>
                  <a:cubicBezTo>
                    <a:pt x="0" y="32030"/>
                    <a:pt x="4593" y="20942"/>
                    <a:pt x="12768" y="12768"/>
                  </a:cubicBezTo>
                  <a:cubicBezTo>
                    <a:pt x="20942" y="4593"/>
                    <a:pt x="32030" y="0"/>
                    <a:pt x="435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CF5">
                    <a:alpha val="100000"/>
                  </a:srgbClr>
                </a:gs>
                <a:gs pos="100000">
                  <a:srgbClr val="D8D5C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66675"/>
              <a:ext cx="1617127" cy="274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3A2D4D"/>
                  </a:solidFill>
                  <a:latin typeface="Tlab 모던라운드 Light"/>
                  <a:ea typeface="Tlab 모던라운드 Light"/>
                  <a:cs typeface="Tlab 모던라운드 Light"/>
                  <a:sym typeface="Tlab 모던라운드 Light"/>
                </a:rPr>
                <a:t> 상대측이 전혀 의도하지 않은 것을 의도한 것으로 몰아세우는 오류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570671" y="4194903"/>
            <a:ext cx="6391476" cy="1143150"/>
            <a:chOff x="0" y="0"/>
            <a:chExt cx="1163926" cy="20817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63926" cy="208174"/>
            </a:xfrm>
            <a:custGeom>
              <a:avLst/>
              <a:gdLst/>
              <a:ahLst/>
              <a:cxnLst/>
              <a:rect r="r" b="b" t="t" l="l"/>
              <a:pathLst>
                <a:path h="208174" w="1163926">
                  <a:moveTo>
                    <a:pt x="60564" y="0"/>
                  </a:moveTo>
                  <a:lnTo>
                    <a:pt x="1103361" y="0"/>
                  </a:lnTo>
                  <a:cubicBezTo>
                    <a:pt x="1119424" y="0"/>
                    <a:pt x="1134829" y="6381"/>
                    <a:pt x="1146187" y="17739"/>
                  </a:cubicBezTo>
                  <a:cubicBezTo>
                    <a:pt x="1157545" y="29097"/>
                    <a:pt x="1163926" y="44502"/>
                    <a:pt x="1163926" y="60564"/>
                  </a:cubicBezTo>
                  <a:lnTo>
                    <a:pt x="1163926" y="147610"/>
                  </a:lnTo>
                  <a:cubicBezTo>
                    <a:pt x="1163926" y="163673"/>
                    <a:pt x="1157545" y="179077"/>
                    <a:pt x="1146187" y="190435"/>
                  </a:cubicBezTo>
                  <a:cubicBezTo>
                    <a:pt x="1134829" y="201793"/>
                    <a:pt x="1119424" y="208174"/>
                    <a:pt x="1103361" y="208174"/>
                  </a:cubicBezTo>
                  <a:lnTo>
                    <a:pt x="60564" y="208174"/>
                  </a:lnTo>
                  <a:cubicBezTo>
                    <a:pt x="44502" y="208174"/>
                    <a:pt x="29097" y="201793"/>
                    <a:pt x="17739" y="190435"/>
                  </a:cubicBezTo>
                  <a:cubicBezTo>
                    <a:pt x="6381" y="179077"/>
                    <a:pt x="0" y="163673"/>
                    <a:pt x="0" y="147610"/>
                  </a:cubicBezTo>
                  <a:lnTo>
                    <a:pt x="0" y="60564"/>
                  </a:lnTo>
                  <a:cubicBezTo>
                    <a:pt x="0" y="44502"/>
                    <a:pt x="6381" y="29097"/>
                    <a:pt x="17739" y="17739"/>
                  </a:cubicBezTo>
                  <a:cubicBezTo>
                    <a:pt x="29097" y="6381"/>
                    <a:pt x="44502" y="0"/>
                    <a:pt x="6056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CF5">
                    <a:alpha val="100000"/>
                  </a:srgbClr>
                </a:gs>
                <a:gs pos="100000">
                  <a:srgbClr val="D8D5C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66675"/>
              <a:ext cx="1163926" cy="274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3A2D4D"/>
                  </a:solidFill>
                  <a:latin typeface="Tlab 모던라운드 Light"/>
                  <a:ea typeface="Tlab 모던라운드 Light"/>
                  <a:cs typeface="Tlab 모던라운드 Light"/>
                  <a:sym typeface="Tlab 모던라운드 Light"/>
                </a:rPr>
                <a:t> 다수의 주장을 근거로 결론을 이끌어내는 오류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484736" y="2681156"/>
            <a:ext cx="7004935" cy="1143150"/>
            <a:chOff x="0" y="0"/>
            <a:chExt cx="1275640" cy="20817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275640" cy="208174"/>
            </a:xfrm>
            <a:custGeom>
              <a:avLst/>
              <a:gdLst/>
              <a:ahLst/>
              <a:cxnLst/>
              <a:rect r="r" b="b" t="t" l="l"/>
              <a:pathLst>
                <a:path h="208174" w="1275640">
                  <a:moveTo>
                    <a:pt x="55260" y="0"/>
                  </a:moveTo>
                  <a:lnTo>
                    <a:pt x="1220380" y="0"/>
                  </a:lnTo>
                  <a:cubicBezTo>
                    <a:pt x="1235036" y="0"/>
                    <a:pt x="1249091" y="5822"/>
                    <a:pt x="1259455" y="16185"/>
                  </a:cubicBezTo>
                  <a:cubicBezTo>
                    <a:pt x="1269818" y="26549"/>
                    <a:pt x="1275640" y="40604"/>
                    <a:pt x="1275640" y="55260"/>
                  </a:cubicBezTo>
                  <a:lnTo>
                    <a:pt x="1275640" y="152914"/>
                  </a:lnTo>
                  <a:cubicBezTo>
                    <a:pt x="1275640" y="167570"/>
                    <a:pt x="1269818" y="181626"/>
                    <a:pt x="1259455" y="191989"/>
                  </a:cubicBezTo>
                  <a:cubicBezTo>
                    <a:pt x="1249091" y="202352"/>
                    <a:pt x="1235036" y="208174"/>
                    <a:pt x="1220380" y="208174"/>
                  </a:cubicBezTo>
                  <a:lnTo>
                    <a:pt x="55260" y="208174"/>
                  </a:lnTo>
                  <a:cubicBezTo>
                    <a:pt x="40604" y="208174"/>
                    <a:pt x="26549" y="202352"/>
                    <a:pt x="16185" y="191989"/>
                  </a:cubicBezTo>
                  <a:cubicBezTo>
                    <a:pt x="5822" y="181626"/>
                    <a:pt x="0" y="167570"/>
                    <a:pt x="0" y="152914"/>
                  </a:cubicBezTo>
                  <a:lnTo>
                    <a:pt x="0" y="55260"/>
                  </a:lnTo>
                  <a:cubicBezTo>
                    <a:pt x="0" y="40604"/>
                    <a:pt x="5822" y="26549"/>
                    <a:pt x="16185" y="16185"/>
                  </a:cubicBezTo>
                  <a:cubicBezTo>
                    <a:pt x="26549" y="5822"/>
                    <a:pt x="40604" y="0"/>
                    <a:pt x="552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CF5">
                    <a:alpha val="100000"/>
                  </a:srgbClr>
                </a:gs>
                <a:gs pos="100000">
                  <a:srgbClr val="D8D5C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66675"/>
              <a:ext cx="1275640" cy="274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3A2D4D"/>
                  </a:solidFill>
                  <a:latin typeface="Tlab 모던라운드 Light"/>
                  <a:ea typeface="Tlab 모던라운드 Light"/>
                  <a:cs typeface="Tlab 모던라운드 Light"/>
                  <a:sym typeface="Tlab 모던라운드 Light"/>
                </a:rPr>
                <a:t> 해당 논제와 관련 없는 전문가의 말을 인용하는 오류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2450167" y="2946233"/>
            <a:ext cx="5217209" cy="953373"/>
            <a:chOff x="0" y="0"/>
            <a:chExt cx="6956279" cy="1271164"/>
          </a:xfrm>
        </p:grpSpPr>
        <p:grpSp>
          <p:nvGrpSpPr>
            <p:cNvPr name="Group 85" id="85"/>
            <p:cNvGrpSpPr/>
            <p:nvPr/>
          </p:nvGrpSpPr>
          <p:grpSpPr>
            <a:xfrm rot="0">
              <a:off x="873458" y="0"/>
              <a:ext cx="6082821" cy="932176"/>
              <a:chOff x="0" y="0"/>
              <a:chExt cx="830788" cy="127316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830788" cy="127316"/>
              </a:xfrm>
              <a:custGeom>
                <a:avLst/>
                <a:gdLst/>
                <a:ahLst/>
                <a:cxnLst/>
                <a:rect r="r" b="b" t="t" l="l"/>
                <a:pathLst>
                  <a:path h="127316" w="830788">
                    <a:moveTo>
                      <a:pt x="63658" y="0"/>
                    </a:moveTo>
                    <a:lnTo>
                      <a:pt x="767130" y="0"/>
                    </a:lnTo>
                    <a:cubicBezTo>
                      <a:pt x="802288" y="0"/>
                      <a:pt x="830788" y="28501"/>
                      <a:pt x="830788" y="63658"/>
                    </a:cubicBezTo>
                    <a:lnTo>
                      <a:pt x="830788" y="63658"/>
                    </a:lnTo>
                    <a:cubicBezTo>
                      <a:pt x="830788" y="98815"/>
                      <a:pt x="802288" y="127316"/>
                      <a:pt x="767130" y="127316"/>
                    </a:cubicBezTo>
                    <a:lnTo>
                      <a:pt x="63658" y="127316"/>
                    </a:lnTo>
                    <a:cubicBezTo>
                      <a:pt x="28501" y="127316"/>
                      <a:pt x="0" y="98815"/>
                      <a:pt x="0" y="63658"/>
                    </a:cubicBezTo>
                    <a:lnTo>
                      <a:pt x="0" y="63658"/>
                    </a:lnTo>
                    <a:cubicBezTo>
                      <a:pt x="0" y="28501"/>
                      <a:pt x="28501" y="0"/>
                      <a:pt x="63658" y="0"/>
                    </a:cubicBezTo>
                    <a:close/>
                  </a:path>
                </a:pathLst>
              </a:custGeom>
              <a:solidFill>
                <a:srgbClr val="D0CF87"/>
              </a:solid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-85725"/>
                <a:ext cx="830788" cy="2130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5040"/>
                  </a:lnSpc>
                </a:pP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0" y="338988"/>
              <a:ext cx="6715325" cy="932176"/>
              <a:chOff x="0" y="0"/>
              <a:chExt cx="917175" cy="127316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917175" cy="127316"/>
              </a:xfrm>
              <a:custGeom>
                <a:avLst/>
                <a:gdLst/>
                <a:ahLst/>
                <a:cxnLst/>
                <a:rect r="r" b="b" t="t" l="l"/>
                <a:pathLst>
                  <a:path h="127316" w="917175">
                    <a:moveTo>
                      <a:pt x="63658" y="0"/>
                    </a:moveTo>
                    <a:lnTo>
                      <a:pt x="853517" y="0"/>
                    </a:lnTo>
                    <a:cubicBezTo>
                      <a:pt x="888675" y="0"/>
                      <a:pt x="917175" y="28501"/>
                      <a:pt x="917175" y="63658"/>
                    </a:cubicBezTo>
                    <a:lnTo>
                      <a:pt x="917175" y="63658"/>
                    </a:lnTo>
                    <a:cubicBezTo>
                      <a:pt x="917175" y="98815"/>
                      <a:pt x="888675" y="127316"/>
                      <a:pt x="853517" y="127316"/>
                    </a:cubicBezTo>
                    <a:lnTo>
                      <a:pt x="63658" y="127316"/>
                    </a:lnTo>
                    <a:cubicBezTo>
                      <a:pt x="28501" y="127316"/>
                      <a:pt x="0" y="98815"/>
                      <a:pt x="0" y="63658"/>
                    </a:cubicBezTo>
                    <a:lnTo>
                      <a:pt x="0" y="63658"/>
                    </a:lnTo>
                    <a:cubicBezTo>
                      <a:pt x="0" y="28501"/>
                      <a:pt x="28501" y="0"/>
                      <a:pt x="63658" y="0"/>
                    </a:cubicBezTo>
                    <a:close/>
                  </a:path>
                </a:pathLst>
              </a:custGeom>
              <a:solidFill>
                <a:srgbClr val="1800AD"/>
              </a:solidFill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-85725"/>
                <a:ext cx="917175" cy="2130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5040"/>
                  </a:lnSpc>
                </a:pPr>
                <a:r>
                  <a:rPr lang="en-US" sz="3600">
                    <a:solidFill>
                      <a:srgbClr val="FFD21F"/>
                    </a:solidFill>
                    <a:latin typeface="210 빛글"/>
                    <a:ea typeface="210 빛글"/>
                    <a:cs typeface="210 빛글"/>
                    <a:sym typeface="210 빛글"/>
                  </a:rPr>
                  <a:t> 6) 권위에 호소하는 오류</a:t>
                </a:r>
              </a:p>
            </p:txBody>
          </p:sp>
        </p:grpSp>
      </p:grpSp>
      <p:grpSp>
        <p:nvGrpSpPr>
          <p:cNvPr name="Group 91" id="91"/>
          <p:cNvGrpSpPr/>
          <p:nvPr/>
        </p:nvGrpSpPr>
        <p:grpSpPr>
          <a:xfrm rot="0">
            <a:off x="2450167" y="4406532"/>
            <a:ext cx="6824194" cy="888032"/>
            <a:chOff x="0" y="0"/>
            <a:chExt cx="9098925" cy="1184043"/>
          </a:xfrm>
        </p:grpSpPr>
        <p:grpSp>
          <p:nvGrpSpPr>
            <p:cNvPr name="Group 92" id="92"/>
            <p:cNvGrpSpPr/>
            <p:nvPr/>
          </p:nvGrpSpPr>
          <p:grpSpPr>
            <a:xfrm rot="0">
              <a:off x="1053353" y="0"/>
              <a:ext cx="8045572" cy="986225"/>
              <a:chOff x="0" y="0"/>
              <a:chExt cx="1098860" cy="134698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1098860" cy="134698"/>
              </a:xfrm>
              <a:custGeom>
                <a:avLst/>
                <a:gdLst/>
                <a:ahLst/>
                <a:cxnLst/>
                <a:rect r="r" b="b" t="t" l="l"/>
                <a:pathLst>
                  <a:path h="134698" w="1098860">
                    <a:moveTo>
                      <a:pt x="64151" y="0"/>
                    </a:moveTo>
                    <a:lnTo>
                      <a:pt x="1034709" y="0"/>
                    </a:lnTo>
                    <a:cubicBezTo>
                      <a:pt x="1070139" y="0"/>
                      <a:pt x="1098860" y="28721"/>
                      <a:pt x="1098860" y="64151"/>
                    </a:cubicBezTo>
                    <a:lnTo>
                      <a:pt x="1098860" y="70548"/>
                    </a:lnTo>
                    <a:cubicBezTo>
                      <a:pt x="1098860" y="87561"/>
                      <a:pt x="1092101" y="103878"/>
                      <a:pt x="1080071" y="115909"/>
                    </a:cubicBezTo>
                    <a:cubicBezTo>
                      <a:pt x="1068040" y="127939"/>
                      <a:pt x="1051723" y="134698"/>
                      <a:pt x="1034709" y="134698"/>
                    </a:cubicBezTo>
                    <a:lnTo>
                      <a:pt x="64151" y="134698"/>
                    </a:lnTo>
                    <a:cubicBezTo>
                      <a:pt x="47137" y="134698"/>
                      <a:pt x="30820" y="127939"/>
                      <a:pt x="18789" y="115909"/>
                    </a:cubicBezTo>
                    <a:cubicBezTo>
                      <a:pt x="6759" y="103878"/>
                      <a:pt x="0" y="87561"/>
                      <a:pt x="0" y="70548"/>
                    </a:cubicBezTo>
                    <a:lnTo>
                      <a:pt x="0" y="64151"/>
                    </a:lnTo>
                    <a:cubicBezTo>
                      <a:pt x="0" y="47137"/>
                      <a:pt x="6759" y="30820"/>
                      <a:pt x="18789" y="18789"/>
                    </a:cubicBezTo>
                    <a:cubicBezTo>
                      <a:pt x="30820" y="6759"/>
                      <a:pt x="47137" y="0"/>
                      <a:pt x="64151" y="0"/>
                    </a:cubicBezTo>
                    <a:close/>
                  </a:path>
                </a:pathLst>
              </a:custGeom>
              <a:solidFill>
                <a:srgbClr val="D0CF87"/>
              </a:solidFill>
            </p:spPr>
          </p:sp>
          <p:sp>
            <p:nvSpPr>
              <p:cNvPr name="TextBox 94" id="94"/>
              <p:cNvSpPr txBox="true"/>
              <p:nvPr/>
            </p:nvSpPr>
            <p:spPr>
              <a:xfrm>
                <a:off x="0" y="-85725"/>
                <a:ext cx="1098860" cy="2204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5040"/>
                  </a:lnSpc>
                </a:pPr>
              </a:p>
            </p:txBody>
          </p:sp>
        </p:grpSp>
        <p:grpSp>
          <p:nvGrpSpPr>
            <p:cNvPr name="Group 95" id="95"/>
            <p:cNvGrpSpPr/>
            <p:nvPr/>
          </p:nvGrpSpPr>
          <p:grpSpPr>
            <a:xfrm rot="0">
              <a:off x="0" y="251867"/>
              <a:ext cx="8882167" cy="932176"/>
              <a:chOff x="0" y="0"/>
              <a:chExt cx="1213122" cy="127316"/>
            </a:xfrm>
          </p:grpSpPr>
          <p:sp>
            <p:nvSpPr>
              <p:cNvPr name="Freeform 96" id="96"/>
              <p:cNvSpPr/>
              <p:nvPr/>
            </p:nvSpPr>
            <p:spPr>
              <a:xfrm flipH="false" flipV="false" rot="0">
                <a:off x="0" y="0"/>
                <a:ext cx="1213121" cy="127316"/>
              </a:xfrm>
              <a:custGeom>
                <a:avLst/>
                <a:gdLst/>
                <a:ahLst/>
                <a:cxnLst/>
                <a:rect r="r" b="b" t="t" l="l"/>
                <a:pathLst>
                  <a:path h="127316" w="1213121">
                    <a:moveTo>
                      <a:pt x="58108" y="0"/>
                    </a:moveTo>
                    <a:lnTo>
                      <a:pt x="1155013" y="0"/>
                    </a:lnTo>
                    <a:cubicBezTo>
                      <a:pt x="1187106" y="0"/>
                      <a:pt x="1213121" y="26016"/>
                      <a:pt x="1213121" y="58108"/>
                    </a:cubicBezTo>
                    <a:lnTo>
                      <a:pt x="1213121" y="69208"/>
                    </a:lnTo>
                    <a:cubicBezTo>
                      <a:pt x="1213121" y="101300"/>
                      <a:pt x="1187106" y="127316"/>
                      <a:pt x="1155013" y="127316"/>
                    </a:cubicBezTo>
                    <a:lnTo>
                      <a:pt x="58108" y="127316"/>
                    </a:lnTo>
                    <a:cubicBezTo>
                      <a:pt x="26016" y="127316"/>
                      <a:pt x="0" y="101300"/>
                      <a:pt x="0" y="69208"/>
                    </a:cubicBezTo>
                    <a:lnTo>
                      <a:pt x="0" y="58108"/>
                    </a:lnTo>
                    <a:cubicBezTo>
                      <a:pt x="0" y="26016"/>
                      <a:pt x="26016" y="0"/>
                      <a:pt x="5810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C89116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97" id="97"/>
              <p:cNvSpPr txBox="true"/>
              <p:nvPr/>
            </p:nvSpPr>
            <p:spPr>
              <a:xfrm>
                <a:off x="0" y="-66675"/>
                <a:ext cx="1213122" cy="1939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4760"/>
                  </a:lnSpc>
                </a:pPr>
                <a:r>
                  <a:rPr lang="en-US" sz="3400">
                    <a:solidFill>
                      <a:srgbClr val="FFD21F"/>
                    </a:solidFill>
                    <a:latin typeface="210 빛글"/>
                    <a:ea typeface="210 빛글"/>
                    <a:cs typeface="210 빛글"/>
                    <a:sym typeface="210 빛글"/>
                  </a:rPr>
                  <a:t> 7) 군중(대중)심리에 호소하는 오류</a:t>
                </a:r>
              </a:p>
            </p:txBody>
          </p:sp>
        </p:grpSp>
      </p:grpSp>
      <p:grpSp>
        <p:nvGrpSpPr>
          <p:cNvPr name="Group 98" id="98"/>
          <p:cNvGrpSpPr/>
          <p:nvPr/>
        </p:nvGrpSpPr>
        <p:grpSpPr>
          <a:xfrm rot="0">
            <a:off x="2450167" y="5693664"/>
            <a:ext cx="5020745" cy="953373"/>
            <a:chOff x="0" y="0"/>
            <a:chExt cx="6694327" cy="1271164"/>
          </a:xfrm>
        </p:grpSpPr>
        <p:grpSp>
          <p:nvGrpSpPr>
            <p:cNvPr name="Group 99" id="99"/>
            <p:cNvGrpSpPr/>
            <p:nvPr/>
          </p:nvGrpSpPr>
          <p:grpSpPr>
            <a:xfrm rot="0">
              <a:off x="840566" y="0"/>
              <a:ext cx="5853761" cy="932176"/>
              <a:chOff x="0" y="0"/>
              <a:chExt cx="799503" cy="127316"/>
            </a:xfrm>
          </p:grpSpPr>
          <p:sp>
            <p:nvSpPr>
              <p:cNvPr name="Freeform 100" id="100"/>
              <p:cNvSpPr/>
              <p:nvPr/>
            </p:nvSpPr>
            <p:spPr>
              <a:xfrm flipH="false" flipV="false" rot="0">
                <a:off x="0" y="0"/>
                <a:ext cx="799503" cy="127316"/>
              </a:xfrm>
              <a:custGeom>
                <a:avLst/>
                <a:gdLst/>
                <a:ahLst/>
                <a:cxnLst/>
                <a:rect r="r" b="b" t="t" l="l"/>
                <a:pathLst>
                  <a:path h="127316" w="799503">
                    <a:moveTo>
                      <a:pt x="63658" y="0"/>
                    </a:moveTo>
                    <a:lnTo>
                      <a:pt x="735845" y="0"/>
                    </a:lnTo>
                    <a:cubicBezTo>
                      <a:pt x="771003" y="0"/>
                      <a:pt x="799503" y="28501"/>
                      <a:pt x="799503" y="63658"/>
                    </a:cubicBezTo>
                    <a:lnTo>
                      <a:pt x="799503" y="63658"/>
                    </a:lnTo>
                    <a:cubicBezTo>
                      <a:pt x="799503" y="98815"/>
                      <a:pt x="771003" y="127316"/>
                      <a:pt x="735845" y="127316"/>
                    </a:cubicBezTo>
                    <a:lnTo>
                      <a:pt x="63658" y="127316"/>
                    </a:lnTo>
                    <a:cubicBezTo>
                      <a:pt x="28501" y="127316"/>
                      <a:pt x="0" y="98815"/>
                      <a:pt x="0" y="63658"/>
                    </a:cubicBezTo>
                    <a:lnTo>
                      <a:pt x="0" y="63658"/>
                    </a:lnTo>
                    <a:cubicBezTo>
                      <a:pt x="0" y="28501"/>
                      <a:pt x="28501" y="0"/>
                      <a:pt x="63658" y="0"/>
                    </a:cubicBezTo>
                    <a:close/>
                  </a:path>
                </a:pathLst>
              </a:custGeom>
              <a:solidFill>
                <a:srgbClr val="D0CF87"/>
              </a:solidFill>
            </p:spPr>
          </p:sp>
          <p:sp>
            <p:nvSpPr>
              <p:cNvPr name="TextBox 101" id="101"/>
              <p:cNvSpPr txBox="true"/>
              <p:nvPr/>
            </p:nvSpPr>
            <p:spPr>
              <a:xfrm>
                <a:off x="0" y="-85725"/>
                <a:ext cx="799503" cy="2130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5040"/>
                  </a:lnSpc>
                </a:pPr>
              </a:p>
            </p:txBody>
          </p:sp>
        </p:grpSp>
        <p:grpSp>
          <p:nvGrpSpPr>
            <p:cNvPr name="Group 102" id="102"/>
            <p:cNvGrpSpPr/>
            <p:nvPr/>
          </p:nvGrpSpPr>
          <p:grpSpPr>
            <a:xfrm rot="0">
              <a:off x="0" y="338988"/>
              <a:ext cx="6462446" cy="932176"/>
              <a:chOff x="0" y="0"/>
              <a:chExt cx="882637" cy="127316"/>
            </a:xfrm>
          </p:grpSpPr>
          <p:sp>
            <p:nvSpPr>
              <p:cNvPr name="Freeform 103" id="103"/>
              <p:cNvSpPr/>
              <p:nvPr/>
            </p:nvSpPr>
            <p:spPr>
              <a:xfrm flipH="false" flipV="false" rot="0">
                <a:off x="0" y="0"/>
                <a:ext cx="882637" cy="127316"/>
              </a:xfrm>
              <a:custGeom>
                <a:avLst/>
                <a:gdLst/>
                <a:ahLst/>
                <a:cxnLst/>
                <a:rect r="r" b="b" t="t" l="l"/>
                <a:pathLst>
                  <a:path h="127316" w="882637">
                    <a:moveTo>
                      <a:pt x="63658" y="0"/>
                    </a:moveTo>
                    <a:lnTo>
                      <a:pt x="818979" y="0"/>
                    </a:lnTo>
                    <a:cubicBezTo>
                      <a:pt x="854137" y="0"/>
                      <a:pt x="882637" y="28501"/>
                      <a:pt x="882637" y="63658"/>
                    </a:cubicBezTo>
                    <a:lnTo>
                      <a:pt x="882637" y="63658"/>
                    </a:lnTo>
                    <a:cubicBezTo>
                      <a:pt x="882637" y="98815"/>
                      <a:pt x="854137" y="127316"/>
                      <a:pt x="818979" y="127316"/>
                    </a:cubicBezTo>
                    <a:lnTo>
                      <a:pt x="63658" y="127316"/>
                    </a:lnTo>
                    <a:cubicBezTo>
                      <a:pt x="28501" y="127316"/>
                      <a:pt x="0" y="98815"/>
                      <a:pt x="0" y="63658"/>
                    </a:cubicBezTo>
                    <a:lnTo>
                      <a:pt x="0" y="63658"/>
                    </a:lnTo>
                    <a:cubicBezTo>
                      <a:pt x="0" y="28501"/>
                      <a:pt x="28501" y="0"/>
                      <a:pt x="63658" y="0"/>
                    </a:cubicBezTo>
                    <a:close/>
                  </a:path>
                </a:pathLst>
              </a:custGeom>
              <a:solidFill>
                <a:srgbClr val="1800AD"/>
              </a:solidFill>
            </p:spPr>
          </p:sp>
          <p:sp>
            <p:nvSpPr>
              <p:cNvPr name="TextBox 104" id="104"/>
              <p:cNvSpPr txBox="true"/>
              <p:nvPr/>
            </p:nvSpPr>
            <p:spPr>
              <a:xfrm>
                <a:off x="0" y="-85725"/>
                <a:ext cx="882637" cy="2130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5040"/>
                  </a:lnSpc>
                </a:pPr>
                <a:r>
                  <a:rPr lang="en-US" sz="3600">
                    <a:solidFill>
                      <a:srgbClr val="FFD21F"/>
                    </a:solidFill>
                    <a:latin typeface="210 빛글"/>
                    <a:ea typeface="210 빛글"/>
                    <a:cs typeface="210 빛글"/>
                    <a:sym typeface="210 빛글"/>
                  </a:rPr>
                  <a:t> 8) 의도 확대의 오류</a:t>
                </a:r>
              </a:p>
            </p:txBody>
          </p:sp>
        </p:grpSp>
      </p:grpSp>
      <p:grpSp>
        <p:nvGrpSpPr>
          <p:cNvPr name="Group 105" id="105"/>
          <p:cNvGrpSpPr/>
          <p:nvPr/>
        </p:nvGrpSpPr>
        <p:grpSpPr>
          <a:xfrm rot="0">
            <a:off x="2450167" y="7046137"/>
            <a:ext cx="6161932" cy="995858"/>
            <a:chOff x="0" y="0"/>
            <a:chExt cx="8215909" cy="1327811"/>
          </a:xfrm>
        </p:grpSpPr>
        <p:grpSp>
          <p:nvGrpSpPr>
            <p:cNvPr name="Group 106" id="106"/>
            <p:cNvGrpSpPr/>
            <p:nvPr/>
          </p:nvGrpSpPr>
          <p:grpSpPr>
            <a:xfrm rot="0">
              <a:off x="1031622" y="0"/>
              <a:ext cx="7184287" cy="932176"/>
              <a:chOff x="0" y="0"/>
              <a:chExt cx="981226" cy="127316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981226" cy="127316"/>
              </a:xfrm>
              <a:custGeom>
                <a:avLst/>
                <a:gdLst/>
                <a:ahLst/>
                <a:cxnLst/>
                <a:rect r="r" b="b" t="t" l="l"/>
                <a:pathLst>
                  <a:path h="127316" w="981226">
                    <a:moveTo>
                      <a:pt x="63658" y="0"/>
                    </a:moveTo>
                    <a:lnTo>
                      <a:pt x="917568" y="0"/>
                    </a:lnTo>
                    <a:cubicBezTo>
                      <a:pt x="952725" y="0"/>
                      <a:pt x="981226" y="28501"/>
                      <a:pt x="981226" y="63658"/>
                    </a:cubicBezTo>
                    <a:lnTo>
                      <a:pt x="981226" y="63658"/>
                    </a:lnTo>
                    <a:cubicBezTo>
                      <a:pt x="981226" y="98815"/>
                      <a:pt x="952725" y="127316"/>
                      <a:pt x="917568" y="127316"/>
                    </a:cubicBezTo>
                    <a:lnTo>
                      <a:pt x="63658" y="127316"/>
                    </a:lnTo>
                    <a:cubicBezTo>
                      <a:pt x="28501" y="127316"/>
                      <a:pt x="0" y="98815"/>
                      <a:pt x="0" y="63658"/>
                    </a:cubicBezTo>
                    <a:lnTo>
                      <a:pt x="0" y="63658"/>
                    </a:lnTo>
                    <a:cubicBezTo>
                      <a:pt x="0" y="28501"/>
                      <a:pt x="28501" y="0"/>
                      <a:pt x="63658" y="0"/>
                    </a:cubicBezTo>
                    <a:close/>
                  </a:path>
                </a:pathLst>
              </a:custGeom>
              <a:solidFill>
                <a:srgbClr val="D0CF87"/>
              </a:solidFill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0" y="-85725"/>
                <a:ext cx="981226" cy="2130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5040"/>
                  </a:lnSpc>
                </a:pP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0" y="395636"/>
              <a:ext cx="7931324" cy="932176"/>
              <a:chOff x="0" y="0"/>
              <a:chExt cx="1083256" cy="127316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1083256" cy="127316"/>
              </a:xfrm>
              <a:custGeom>
                <a:avLst/>
                <a:gdLst/>
                <a:ahLst/>
                <a:cxnLst/>
                <a:rect r="r" b="b" t="t" l="l"/>
                <a:pathLst>
                  <a:path h="127316" w="1083256">
                    <a:moveTo>
                      <a:pt x="63658" y="0"/>
                    </a:moveTo>
                    <a:lnTo>
                      <a:pt x="1019598" y="0"/>
                    </a:lnTo>
                    <a:cubicBezTo>
                      <a:pt x="1054755" y="0"/>
                      <a:pt x="1083256" y="28501"/>
                      <a:pt x="1083256" y="63658"/>
                    </a:cubicBezTo>
                    <a:lnTo>
                      <a:pt x="1083256" y="63658"/>
                    </a:lnTo>
                    <a:cubicBezTo>
                      <a:pt x="1083256" y="98815"/>
                      <a:pt x="1054755" y="127316"/>
                      <a:pt x="1019598" y="127316"/>
                    </a:cubicBezTo>
                    <a:lnTo>
                      <a:pt x="63658" y="127316"/>
                    </a:lnTo>
                    <a:cubicBezTo>
                      <a:pt x="28501" y="127316"/>
                      <a:pt x="0" y="98815"/>
                      <a:pt x="0" y="63658"/>
                    </a:cubicBezTo>
                    <a:lnTo>
                      <a:pt x="0" y="63658"/>
                    </a:lnTo>
                    <a:cubicBezTo>
                      <a:pt x="0" y="28501"/>
                      <a:pt x="28501" y="0"/>
                      <a:pt x="6365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C89116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0" y="-85725"/>
                <a:ext cx="1083256" cy="2130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5040"/>
                  </a:lnSpc>
                </a:pPr>
                <a:r>
                  <a:rPr lang="en-US" sz="3600">
                    <a:solidFill>
                      <a:srgbClr val="FFD21F"/>
                    </a:solidFill>
                    <a:latin typeface="210 빛글"/>
                    <a:ea typeface="210 빛글"/>
                    <a:cs typeface="210 빛글"/>
                    <a:sym typeface="210 빛글"/>
                  </a:rPr>
                  <a:t> 9) 잘못된 인과관계의 오류</a:t>
                </a:r>
              </a:p>
            </p:txBody>
          </p:sp>
        </p:grpSp>
      </p:grpSp>
      <p:grpSp>
        <p:nvGrpSpPr>
          <p:cNvPr name="Group 112" id="112"/>
          <p:cNvGrpSpPr/>
          <p:nvPr/>
        </p:nvGrpSpPr>
        <p:grpSpPr>
          <a:xfrm rot="0">
            <a:off x="2450167" y="1389221"/>
            <a:ext cx="8828728" cy="875083"/>
            <a:chOff x="0" y="0"/>
            <a:chExt cx="1607764" cy="15935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607764" cy="159358"/>
            </a:xfrm>
            <a:custGeom>
              <a:avLst/>
              <a:gdLst/>
              <a:ahLst/>
              <a:cxnLst/>
              <a:rect r="r" b="b" t="t" l="l"/>
              <a:pathLst>
                <a:path h="159358" w="1607764">
                  <a:moveTo>
                    <a:pt x="43845" y="0"/>
                  </a:moveTo>
                  <a:lnTo>
                    <a:pt x="1563919" y="0"/>
                  </a:lnTo>
                  <a:cubicBezTo>
                    <a:pt x="1588134" y="0"/>
                    <a:pt x="1607764" y="19630"/>
                    <a:pt x="1607764" y="43845"/>
                  </a:cubicBezTo>
                  <a:lnTo>
                    <a:pt x="1607764" y="115513"/>
                  </a:lnTo>
                  <a:cubicBezTo>
                    <a:pt x="1607764" y="127141"/>
                    <a:pt x="1603144" y="138293"/>
                    <a:pt x="1594922" y="146516"/>
                  </a:cubicBezTo>
                  <a:cubicBezTo>
                    <a:pt x="1586699" y="154738"/>
                    <a:pt x="1575547" y="159358"/>
                    <a:pt x="1563919" y="159358"/>
                  </a:cubicBezTo>
                  <a:lnTo>
                    <a:pt x="43845" y="159358"/>
                  </a:lnTo>
                  <a:cubicBezTo>
                    <a:pt x="32217" y="159358"/>
                    <a:pt x="21064" y="154738"/>
                    <a:pt x="12842" y="146516"/>
                  </a:cubicBezTo>
                  <a:cubicBezTo>
                    <a:pt x="4619" y="138293"/>
                    <a:pt x="0" y="127141"/>
                    <a:pt x="0" y="115513"/>
                  </a:cubicBezTo>
                  <a:lnTo>
                    <a:pt x="0" y="43845"/>
                  </a:lnTo>
                  <a:cubicBezTo>
                    <a:pt x="0" y="32217"/>
                    <a:pt x="4619" y="21064"/>
                    <a:pt x="12842" y="12842"/>
                  </a:cubicBezTo>
                  <a:cubicBezTo>
                    <a:pt x="21064" y="4619"/>
                    <a:pt x="32217" y="0"/>
                    <a:pt x="43845" y="0"/>
                  </a:cubicBezTo>
                  <a:close/>
                </a:path>
              </a:pathLst>
            </a:custGeom>
            <a:solidFill>
              <a:srgbClr val="DAE1F8"/>
            </a:solidFill>
            <a:ln w="38100" cap="rnd">
              <a:solidFill>
                <a:srgbClr val="CDD6FF"/>
              </a:solidFill>
              <a:prstDash val="solid"/>
              <a:round/>
            </a:ln>
          </p:spPr>
        </p:sp>
        <p:sp>
          <p:nvSpPr>
            <p:cNvPr name="TextBox 114" id="114"/>
            <p:cNvSpPr txBox="true"/>
            <p:nvPr/>
          </p:nvSpPr>
          <p:spPr>
            <a:xfrm>
              <a:off x="0" y="-66675"/>
              <a:ext cx="1607764" cy="226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212B38"/>
                  </a:solidFill>
                  <a:latin typeface="Tlab 모던라운드 Light"/>
                  <a:ea typeface="Tlab 모던라운드 Light"/>
                  <a:cs typeface="Tlab 모던라운드 Light"/>
                  <a:sym typeface="Tlab 모던라운드 Light"/>
                </a:rPr>
                <a:t>토론시 자주 범하는 오류(9가지)</a:t>
              </a:r>
            </a:p>
          </p:txBody>
        </p:sp>
      </p:grpSp>
      <p:sp>
        <p:nvSpPr>
          <p:cNvPr name="AutoShape 115" id="115"/>
          <p:cNvSpPr/>
          <p:nvPr/>
        </p:nvSpPr>
        <p:spPr>
          <a:xfrm flipV="true">
            <a:off x="7476309" y="3351616"/>
            <a:ext cx="1912351" cy="241492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16" id="116"/>
          <p:cNvSpPr/>
          <p:nvPr/>
        </p:nvSpPr>
        <p:spPr>
          <a:xfrm flipV="true">
            <a:off x="8410460" y="7562829"/>
            <a:ext cx="1156912" cy="203447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17" id="117"/>
          <p:cNvSpPr/>
          <p:nvPr/>
        </p:nvSpPr>
        <p:spPr>
          <a:xfrm flipV="true">
            <a:off x="9144000" y="4766478"/>
            <a:ext cx="426671" cy="249774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18" id="118"/>
          <p:cNvSpPr/>
          <p:nvPr/>
        </p:nvSpPr>
        <p:spPr>
          <a:xfrm flipV="true">
            <a:off x="7250249" y="6170351"/>
            <a:ext cx="733117" cy="136998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272639" cy="10287000"/>
            <a:chOff x="0" y="0"/>
            <a:chExt cx="27030186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14186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96130"/>
            <a:ext cx="1827704" cy="1804442"/>
          </a:xfrm>
          <a:custGeom>
            <a:avLst/>
            <a:gdLst/>
            <a:ahLst/>
            <a:cxnLst/>
            <a:rect r="r" b="b" t="t" l="l"/>
            <a:pathLst>
              <a:path h="1804442" w="1827704">
                <a:moveTo>
                  <a:pt x="0" y="0"/>
                </a:moveTo>
                <a:lnTo>
                  <a:pt x="1827704" y="0"/>
                </a:lnTo>
                <a:lnTo>
                  <a:pt x="1827704" y="1804442"/>
                </a:lnTo>
                <a:lnTo>
                  <a:pt x="0" y="1804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722968" y="8022696"/>
            <a:ext cx="1874402" cy="1919779"/>
          </a:xfrm>
          <a:custGeom>
            <a:avLst/>
            <a:gdLst/>
            <a:ahLst/>
            <a:cxnLst/>
            <a:rect r="r" b="b" t="t" l="l"/>
            <a:pathLst>
              <a:path h="1919779" w="1874402">
                <a:moveTo>
                  <a:pt x="0" y="0"/>
                </a:moveTo>
                <a:lnTo>
                  <a:pt x="1874402" y="0"/>
                </a:lnTo>
                <a:lnTo>
                  <a:pt x="1874402" y="1919779"/>
                </a:lnTo>
                <a:lnTo>
                  <a:pt x="0" y="19197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98089" y="720772"/>
            <a:ext cx="15381143" cy="8845456"/>
            <a:chOff x="0" y="0"/>
            <a:chExt cx="4051001" cy="23296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83789" y="720772"/>
            <a:ext cx="15381143" cy="8845456"/>
            <a:chOff x="0" y="0"/>
            <a:chExt cx="4051001" cy="23296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216438" y="1347763"/>
            <a:ext cx="14443732" cy="1497847"/>
            <a:chOff x="0" y="0"/>
            <a:chExt cx="3804110" cy="3944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04110" cy="394495"/>
            </a:xfrm>
            <a:custGeom>
              <a:avLst/>
              <a:gdLst/>
              <a:ahLst/>
              <a:cxnLst/>
              <a:rect r="r" b="b" t="t" l="l"/>
              <a:pathLst>
                <a:path h="394495" w="3804110">
                  <a:moveTo>
                    <a:pt x="13400" y="0"/>
                  </a:moveTo>
                  <a:lnTo>
                    <a:pt x="3790710" y="0"/>
                  </a:lnTo>
                  <a:cubicBezTo>
                    <a:pt x="3794264" y="0"/>
                    <a:pt x="3797672" y="1412"/>
                    <a:pt x="3800185" y="3925"/>
                  </a:cubicBezTo>
                  <a:cubicBezTo>
                    <a:pt x="3802699" y="6438"/>
                    <a:pt x="3804110" y="9846"/>
                    <a:pt x="3804110" y="13400"/>
                  </a:cubicBezTo>
                  <a:lnTo>
                    <a:pt x="3804110" y="381095"/>
                  </a:lnTo>
                  <a:cubicBezTo>
                    <a:pt x="3804110" y="384649"/>
                    <a:pt x="3802699" y="388057"/>
                    <a:pt x="3800185" y="390570"/>
                  </a:cubicBezTo>
                  <a:cubicBezTo>
                    <a:pt x="3797672" y="393083"/>
                    <a:pt x="3794264" y="394495"/>
                    <a:pt x="3790710" y="394495"/>
                  </a:cubicBezTo>
                  <a:lnTo>
                    <a:pt x="13400" y="394495"/>
                  </a:lnTo>
                  <a:cubicBezTo>
                    <a:pt x="9846" y="394495"/>
                    <a:pt x="6438" y="393083"/>
                    <a:pt x="3925" y="390570"/>
                  </a:cubicBezTo>
                  <a:cubicBezTo>
                    <a:pt x="1412" y="388057"/>
                    <a:pt x="0" y="384649"/>
                    <a:pt x="0" y="381095"/>
                  </a:cubicBezTo>
                  <a:lnTo>
                    <a:pt x="0" y="13400"/>
                  </a:lnTo>
                  <a:cubicBezTo>
                    <a:pt x="0" y="9846"/>
                    <a:pt x="1412" y="6438"/>
                    <a:pt x="3925" y="3925"/>
                  </a:cubicBezTo>
                  <a:cubicBezTo>
                    <a:pt x="6438" y="1412"/>
                    <a:pt x="9846" y="0"/>
                    <a:pt x="13400" y="0"/>
                  </a:cubicBezTo>
                  <a:close/>
                </a:path>
              </a:pathLst>
            </a:custGeom>
            <a:solidFill>
              <a:srgbClr val="FEFBED"/>
            </a:solidFill>
            <a:ln cap="rnd">
              <a:noFill/>
              <a:prstDash val="dash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3804110" cy="451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45308" y="2264304"/>
            <a:ext cx="1038862" cy="5758393"/>
            <a:chOff x="0" y="0"/>
            <a:chExt cx="1385149" cy="7677857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924175" y="1031052"/>
              <a:ext cx="460953" cy="460747"/>
              <a:chOff x="0" y="0"/>
              <a:chExt cx="848212" cy="84783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924155" y="0"/>
              <a:ext cx="460993" cy="460787"/>
              <a:chOff x="0" y="0"/>
              <a:chExt cx="848212" cy="84783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924175" y="2062064"/>
              <a:ext cx="460953" cy="460747"/>
              <a:chOff x="0" y="0"/>
              <a:chExt cx="848212" cy="847833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924179" y="3093076"/>
              <a:ext cx="460946" cy="460740"/>
              <a:chOff x="0" y="0"/>
              <a:chExt cx="848212" cy="847833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924183" y="4124081"/>
              <a:ext cx="460938" cy="460731"/>
              <a:chOff x="0" y="0"/>
              <a:chExt cx="848212" cy="847833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924187" y="5155077"/>
              <a:ext cx="460930" cy="460724"/>
              <a:chOff x="0" y="0"/>
              <a:chExt cx="848212" cy="847833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924167" y="6186066"/>
              <a:ext cx="460969" cy="460763"/>
              <a:chOff x="0" y="0"/>
              <a:chExt cx="848212" cy="847833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924167" y="7217094"/>
              <a:ext cx="460969" cy="460763"/>
              <a:chOff x="0" y="0"/>
              <a:chExt cx="848212" cy="847833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0" y="1121915"/>
              <a:ext cx="1198526" cy="261915"/>
              <a:chOff x="0" y="0"/>
              <a:chExt cx="238885" cy="52204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0" y="89481"/>
              <a:ext cx="1198526" cy="261915"/>
              <a:chOff x="0" y="0"/>
              <a:chExt cx="238885" cy="52204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0" y="2154349"/>
              <a:ext cx="1198526" cy="261915"/>
              <a:chOff x="0" y="0"/>
              <a:chExt cx="238885" cy="52204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0" y="3186782"/>
              <a:ext cx="1198526" cy="261915"/>
              <a:chOff x="0" y="0"/>
              <a:chExt cx="238885" cy="52204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0" y="4219216"/>
              <a:ext cx="1198526" cy="261915"/>
              <a:chOff x="0" y="0"/>
              <a:chExt cx="238885" cy="52204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0">
              <a:off x="0" y="5251650"/>
              <a:ext cx="1198526" cy="261915"/>
              <a:chOff x="0" y="0"/>
              <a:chExt cx="238885" cy="52204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9" id="59"/>
            <p:cNvGrpSpPr/>
            <p:nvPr/>
          </p:nvGrpSpPr>
          <p:grpSpPr>
            <a:xfrm rot="0">
              <a:off x="0" y="6284084"/>
              <a:ext cx="1198526" cy="261915"/>
              <a:chOff x="0" y="0"/>
              <a:chExt cx="238885" cy="52204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2" id="62"/>
            <p:cNvGrpSpPr/>
            <p:nvPr/>
          </p:nvGrpSpPr>
          <p:grpSpPr>
            <a:xfrm rot="0">
              <a:off x="0" y="7316518"/>
              <a:ext cx="1198526" cy="261915"/>
              <a:chOff x="0" y="0"/>
              <a:chExt cx="238885" cy="52204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</p:grpSp>
      <p:sp>
        <p:nvSpPr>
          <p:cNvPr name="TextBox 65" id="65"/>
          <p:cNvSpPr txBox="true"/>
          <p:nvPr/>
        </p:nvSpPr>
        <p:spPr>
          <a:xfrm rot="0">
            <a:off x="4548265" y="1561189"/>
            <a:ext cx="9780077" cy="773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 spc="-307">
                <a:solidFill>
                  <a:srgbClr val="2D2D2D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실제로 오류를 잘 가려낼 수 있는 방법은?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7360782" y="3655274"/>
            <a:ext cx="4055758" cy="4055758"/>
            <a:chOff x="0" y="0"/>
            <a:chExt cx="5407678" cy="5407678"/>
          </a:xfrm>
        </p:grpSpPr>
        <p:grpSp>
          <p:nvGrpSpPr>
            <p:cNvPr name="Group 67" id="67"/>
            <p:cNvGrpSpPr/>
            <p:nvPr/>
          </p:nvGrpSpPr>
          <p:grpSpPr>
            <a:xfrm rot="0">
              <a:off x="0" y="0"/>
              <a:ext cx="5407678" cy="5407678"/>
              <a:chOff x="0" y="0"/>
              <a:chExt cx="812800" cy="812800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CF6FF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0" id="70"/>
            <p:cNvSpPr txBox="true"/>
            <p:nvPr/>
          </p:nvSpPr>
          <p:spPr>
            <a:xfrm rot="0">
              <a:off x="694178" y="808393"/>
              <a:ext cx="4019321" cy="3714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5"/>
                </a:lnSpc>
              </a:pPr>
              <a:r>
                <a:rPr lang="en-US" b="true" sz="3196" spc="-159">
                  <a:solidFill>
                    <a:srgbClr val="2D2D2D"/>
                  </a:solidFill>
                  <a:latin typeface="Tlab 모던라운드 Medium"/>
                  <a:ea typeface="Tlab 모던라운드 Medium"/>
                  <a:cs typeface="Tlab 모던라운드 Medium"/>
                  <a:sym typeface="Tlab 모던라운드 Medium"/>
                </a:rPr>
                <a:t>2. 논증 구조의 </a:t>
              </a:r>
            </a:p>
            <a:p>
              <a:pPr algn="ctr">
                <a:lnSpc>
                  <a:spcPts val="4475"/>
                </a:lnSpc>
              </a:pPr>
              <a:r>
                <a:rPr lang="en-US" b="true" sz="3196" spc="-159">
                  <a:solidFill>
                    <a:srgbClr val="2D2D2D"/>
                  </a:solidFill>
                  <a:latin typeface="Tlab 모던라운드 Medium"/>
                  <a:ea typeface="Tlab 모던라운드 Medium"/>
                  <a:cs typeface="Tlab 모던라운드 Medium"/>
                  <a:sym typeface="Tlab 모던라운드 Medium"/>
                </a:rPr>
                <a:t>모형 도식화하여 메모한다.</a:t>
              </a:r>
            </a:p>
            <a:p>
              <a:pPr algn="ctr">
                <a:lnSpc>
                  <a:spcPts val="4475"/>
                </a:lnSpc>
                <a:spcBef>
                  <a:spcPct val="0"/>
                </a:spcBef>
              </a:pPr>
              <a:r>
                <a:rPr lang="en-US" b="true" sz="3196" spc="-159">
                  <a:solidFill>
                    <a:srgbClr val="2D2D2D"/>
                  </a:solidFill>
                  <a:latin typeface="Tlab 모던라운드 Medium"/>
                  <a:ea typeface="Tlab 모던라운드 Medium"/>
                  <a:cs typeface="Tlab 모던라운드 Medium"/>
                  <a:sym typeface="Tlab 모던라운드 Medium"/>
                </a:rPr>
                <a:t> (주장-근거-연결고리-사례)</a:t>
              </a:r>
            </a:p>
          </p:txBody>
        </p:sp>
      </p:grpSp>
      <p:sp>
        <p:nvSpPr>
          <p:cNvPr name="Freeform 71" id="71"/>
          <p:cNvSpPr/>
          <p:nvPr/>
        </p:nvSpPr>
        <p:spPr>
          <a:xfrm flipH="false" flipV="false" rot="0">
            <a:off x="14623140" y="7507849"/>
            <a:ext cx="2157721" cy="1750451"/>
          </a:xfrm>
          <a:custGeom>
            <a:avLst/>
            <a:gdLst/>
            <a:ahLst/>
            <a:cxnLst/>
            <a:rect r="r" b="b" t="t" l="l"/>
            <a:pathLst>
              <a:path h="1750451" w="2157721">
                <a:moveTo>
                  <a:pt x="0" y="0"/>
                </a:moveTo>
                <a:lnTo>
                  <a:pt x="2157721" y="0"/>
                </a:lnTo>
                <a:lnTo>
                  <a:pt x="2157721" y="1750451"/>
                </a:lnTo>
                <a:lnTo>
                  <a:pt x="0" y="17504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2" id="72"/>
          <p:cNvGrpSpPr/>
          <p:nvPr/>
        </p:nvGrpSpPr>
        <p:grpSpPr>
          <a:xfrm rot="0">
            <a:off x="11899752" y="3655274"/>
            <a:ext cx="4055758" cy="4055758"/>
            <a:chOff x="0" y="0"/>
            <a:chExt cx="5407678" cy="5407678"/>
          </a:xfrm>
        </p:grpSpPr>
        <p:grpSp>
          <p:nvGrpSpPr>
            <p:cNvPr name="Group 73" id="73"/>
            <p:cNvGrpSpPr/>
            <p:nvPr/>
          </p:nvGrpSpPr>
          <p:grpSpPr>
            <a:xfrm rot="0">
              <a:off x="0" y="0"/>
              <a:ext cx="5407678" cy="5407678"/>
              <a:chOff x="0" y="0"/>
              <a:chExt cx="812800" cy="812800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CF6FF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6" id="76"/>
            <p:cNvSpPr txBox="true"/>
            <p:nvPr/>
          </p:nvSpPr>
          <p:spPr>
            <a:xfrm rot="0">
              <a:off x="564168" y="1168996"/>
              <a:ext cx="4279341" cy="2965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5"/>
                </a:lnSpc>
              </a:pPr>
              <a:r>
                <a:rPr lang="en-US" b="true" sz="3196" spc="-159">
                  <a:solidFill>
                    <a:srgbClr val="2D2D2D"/>
                  </a:solidFill>
                  <a:latin typeface="Tlab 모던라운드 Medium"/>
                  <a:ea typeface="Tlab 모던라운드 Medium"/>
                  <a:cs typeface="Tlab 모던라운드 Medium"/>
                  <a:sym typeface="Tlab 모던라운드 Medium"/>
                </a:rPr>
                <a:t>3. 연관성을 살핀다.</a:t>
              </a:r>
            </a:p>
            <a:p>
              <a:pPr algn="ctr">
                <a:lnSpc>
                  <a:spcPts val="4475"/>
                </a:lnSpc>
                <a:spcBef>
                  <a:spcPct val="0"/>
                </a:spcBef>
              </a:pPr>
              <a:r>
                <a:rPr lang="en-US" b="true" sz="3196" spc="-159">
                  <a:solidFill>
                    <a:srgbClr val="2D2D2D"/>
                  </a:solidFill>
                  <a:latin typeface="Tlab 모던라운드 Medium"/>
                  <a:ea typeface="Tlab 모던라운드 Medium"/>
                  <a:cs typeface="Tlab 모던라운드 Medium"/>
                  <a:sym typeface="Tlab 모던라운드 Medium"/>
                </a:rPr>
                <a:t>(주장과 근거, 근거와 연결</a:t>
              </a:r>
              <a:r>
                <a:rPr lang="en-US" b="true" sz="3196" spc="-159">
                  <a:solidFill>
                    <a:srgbClr val="2D2D2D"/>
                  </a:solidFill>
                  <a:latin typeface="Tlab 모던라운드 Medium"/>
                  <a:ea typeface="Tlab 모던라운드 Medium"/>
                  <a:cs typeface="Tlab 모던라운드 Medium"/>
                  <a:sym typeface="Tlab 모던라운드 Medium"/>
                </a:rPr>
                <a:t> 고리, 주장과 연결 고리 등)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2821811" y="3655274"/>
            <a:ext cx="4055758" cy="4055758"/>
            <a:chOff x="0" y="0"/>
            <a:chExt cx="5407678" cy="5407678"/>
          </a:xfrm>
        </p:grpSpPr>
        <p:grpSp>
          <p:nvGrpSpPr>
            <p:cNvPr name="Group 78" id="78"/>
            <p:cNvGrpSpPr/>
            <p:nvPr/>
          </p:nvGrpSpPr>
          <p:grpSpPr>
            <a:xfrm rot="0">
              <a:off x="0" y="0"/>
              <a:ext cx="5407678" cy="5407678"/>
              <a:chOff x="0" y="0"/>
              <a:chExt cx="812800" cy="812800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CF6FF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80" id="8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1" id="81"/>
            <p:cNvSpPr txBox="true"/>
            <p:nvPr/>
          </p:nvSpPr>
          <p:spPr>
            <a:xfrm rot="0">
              <a:off x="972686" y="1373378"/>
              <a:ext cx="3462305" cy="2215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5"/>
                </a:lnSpc>
                <a:spcBef>
                  <a:spcPct val="0"/>
                </a:spcBef>
              </a:pPr>
              <a:r>
                <a:rPr lang="en-US" b="true" sz="3196" spc="-159">
                  <a:solidFill>
                    <a:srgbClr val="2D2D2D"/>
                  </a:solidFill>
                  <a:latin typeface="Tlab 모던라운드 Medium"/>
                  <a:ea typeface="Tlab 모던라운드 Medium"/>
                  <a:cs typeface="Tlab 모던라운드 Medium"/>
                  <a:sym typeface="Tlab 모던라운드 Medium"/>
                </a:rPr>
                <a:t> </a:t>
              </a:r>
              <a:r>
                <a:rPr lang="en-US" b="true" sz="3196" spc="-159">
                  <a:solidFill>
                    <a:srgbClr val="2D2D2D"/>
                  </a:solidFill>
                  <a:latin typeface="Tlab 모던라운드 Medium"/>
                  <a:ea typeface="Tlab 모던라운드 Medium"/>
                  <a:cs typeface="Tlab 모던라운드 Medium"/>
                  <a:sym typeface="Tlab 모던라운드 Medium"/>
                </a:rPr>
                <a:t>1. 어떤</a:t>
              </a:r>
              <a:r>
                <a:rPr lang="en-US" b="true" sz="3196" spc="-159">
                  <a:solidFill>
                    <a:srgbClr val="2D2D2D"/>
                  </a:solidFill>
                  <a:latin typeface="Tlab 모던라운드 Medium"/>
                  <a:ea typeface="Tlab 모던라운드 Medium"/>
                  <a:cs typeface="Tlab 모던라운드 Medium"/>
                  <a:sym typeface="Tlab 모던라운드 Medium"/>
                </a:rPr>
                <a:t> 것들이 오류가 되는지 알아야 한다.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96130"/>
            <a:ext cx="1827704" cy="1804442"/>
          </a:xfrm>
          <a:custGeom>
            <a:avLst/>
            <a:gdLst/>
            <a:ahLst/>
            <a:cxnLst/>
            <a:rect r="r" b="b" t="t" l="l"/>
            <a:pathLst>
              <a:path h="1804442" w="1827704">
                <a:moveTo>
                  <a:pt x="0" y="0"/>
                </a:moveTo>
                <a:lnTo>
                  <a:pt x="1827704" y="0"/>
                </a:lnTo>
                <a:lnTo>
                  <a:pt x="1827704" y="1804442"/>
                </a:lnTo>
                <a:lnTo>
                  <a:pt x="0" y="1804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85639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2968" y="8022696"/>
            <a:ext cx="1874402" cy="1919779"/>
          </a:xfrm>
          <a:custGeom>
            <a:avLst/>
            <a:gdLst/>
            <a:ahLst/>
            <a:cxnLst/>
            <a:rect r="r" b="b" t="t" l="l"/>
            <a:pathLst>
              <a:path h="1919779" w="1874402">
                <a:moveTo>
                  <a:pt x="0" y="0"/>
                </a:moveTo>
                <a:lnTo>
                  <a:pt x="1874402" y="0"/>
                </a:lnTo>
                <a:lnTo>
                  <a:pt x="1874402" y="1919779"/>
                </a:lnTo>
                <a:lnTo>
                  <a:pt x="0" y="19197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98089" y="720772"/>
            <a:ext cx="15381143" cy="8845456"/>
            <a:chOff x="0" y="0"/>
            <a:chExt cx="4051001" cy="23296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83789" y="720772"/>
            <a:ext cx="15381143" cy="8845456"/>
            <a:chOff x="0" y="0"/>
            <a:chExt cx="4051001" cy="23296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53428" y="720772"/>
            <a:ext cx="15381143" cy="8845456"/>
            <a:chOff x="0" y="0"/>
            <a:chExt cx="4051001" cy="23296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51001" cy="2329667"/>
            </a:xfrm>
            <a:custGeom>
              <a:avLst/>
              <a:gdLst/>
              <a:ahLst/>
              <a:cxnLst/>
              <a:rect r="r" b="b" t="t" l="l"/>
              <a:pathLst>
                <a:path h="2329667" w="4051001">
                  <a:moveTo>
                    <a:pt x="18624" y="0"/>
                  </a:moveTo>
                  <a:lnTo>
                    <a:pt x="4032377" y="0"/>
                  </a:lnTo>
                  <a:cubicBezTo>
                    <a:pt x="4042663" y="0"/>
                    <a:pt x="4051001" y="8338"/>
                    <a:pt x="4051001" y="18624"/>
                  </a:cubicBezTo>
                  <a:lnTo>
                    <a:pt x="4051001" y="2311044"/>
                  </a:lnTo>
                  <a:cubicBezTo>
                    <a:pt x="4051001" y="2321329"/>
                    <a:pt x="4042663" y="2329667"/>
                    <a:pt x="4032377" y="2329667"/>
                  </a:cubicBezTo>
                  <a:lnTo>
                    <a:pt x="18624" y="2329667"/>
                  </a:lnTo>
                  <a:cubicBezTo>
                    <a:pt x="8338" y="2329667"/>
                    <a:pt x="0" y="2321329"/>
                    <a:pt x="0" y="2311044"/>
                  </a:cubicBezTo>
                  <a:lnTo>
                    <a:pt x="0" y="18624"/>
                  </a:lnTo>
                  <a:cubicBezTo>
                    <a:pt x="0" y="8338"/>
                    <a:pt x="8338" y="0"/>
                    <a:pt x="186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D2D2D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4051001" cy="23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279182" y="3044264"/>
            <a:ext cx="12318244" cy="4198472"/>
            <a:chOff x="0" y="0"/>
            <a:chExt cx="16424325" cy="5597963"/>
          </a:xfrm>
        </p:grpSpPr>
        <p:sp>
          <p:nvSpPr>
            <p:cNvPr name="AutoShape 16" id="16"/>
            <p:cNvSpPr/>
            <p:nvPr/>
          </p:nvSpPr>
          <p:spPr>
            <a:xfrm>
              <a:off x="0" y="1870556"/>
              <a:ext cx="16424325" cy="0"/>
            </a:xfrm>
            <a:prstGeom prst="line">
              <a:avLst/>
            </a:prstGeom>
            <a:ln cap="flat" w="2384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>
              <a:off x="0" y="2799427"/>
              <a:ext cx="16424325" cy="0"/>
            </a:xfrm>
            <a:prstGeom prst="line">
              <a:avLst/>
            </a:prstGeom>
            <a:ln cap="flat" w="2384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>
              <a:off x="0" y="3728299"/>
              <a:ext cx="16424325" cy="0"/>
            </a:xfrm>
            <a:prstGeom prst="line">
              <a:avLst/>
            </a:prstGeom>
            <a:ln cap="flat" w="2384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0" y="4657171"/>
              <a:ext cx="16424325" cy="0"/>
            </a:xfrm>
            <a:prstGeom prst="line">
              <a:avLst/>
            </a:prstGeom>
            <a:ln cap="flat" w="2384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>
              <a:off x="0" y="5586043"/>
              <a:ext cx="16424325" cy="0"/>
            </a:xfrm>
            <a:prstGeom prst="line">
              <a:avLst/>
            </a:prstGeom>
            <a:ln cap="flat" w="2384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0" y="941684"/>
              <a:ext cx="16424325" cy="0"/>
            </a:xfrm>
            <a:prstGeom prst="line">
              <a:avLst/>
            </a:prstGeom>
            <a:ln cap="flat" w="2384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2" id="22"/>
            <p:cNvSpPr/>
            <p:nvPr/>
          </p:nvSpPr>
          <p:spPr>
            <a:xfrm>
              <a:off x="0" y="11920"/>
              <a:ext cx="16424325" cy="0"/>
            </a:xfrm>
            <a:prstGeom prst="line">
              <a:avLst/>
            </a:prstGeom>
            <a:ln cap="flat" w="23840">
              <a:solidFill>
                <a:srgbClr val="F2ECE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045308" y="2264304"/>
            <a:ext cx="1038862" cy="5758393"/>
            <a:chOff x="0" y="0"/>
            <a:chExt cx="1385149" cy="7677857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924175" y="1031052"/>
              <a:ext cx="460953" cy="460747"/>
              <a:chOff x="0" y="0"/>
              <a:chExt cx="848212" cy="84783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924155" y="0"/>
              <a:ext cx="460993" cy="460787"/>
              <a:chOff x="0" y="0"/>
              <a:chExt cx="848212" cy="84783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924175" y="2062064"/>
              <a:ext cx="460953" cy="460747"/>
              <a:chOff x="0" y="0"/>
              <a:chExt cx="848212" cy="84783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924179" y="3093076"/>
              <a:ext cx="460946" cy="460740"/>
              <a:chOff x="0" y="0"/>
              <a:chExt cx="848212" cy="84783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924183" y="4124081"/>
              <a:ext cx="460938" cy="460731"/>
              <a:chOff x="0" y="0"/>
              <a:chExt cx="848212" cy="84783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924187" y="5155077"/>
              <a:ext cx="460930" cy="460724"/>
              <a:chOff x="0" y="0"/>
              <a:chExt cx="848212" cy="84783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924167" y="6186066"/>
              <a:ext cx="460969" cy="460763"/>
              <a:chOff x="0" y="0"/>
              <a:chExt cx="848212" cy="847833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924167" y="7217094"/>
              <a:ext cx="460969" cy="460763"/>
              <a:chOff x="0" y="0"/>
              <a:chExt cx="848212" cy="847833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48212" cy="847833"/>
              </a:xfrm>
              <a:custGeom>
                <a:avLst/>
                <a:gdLst/>
                <a:ahLst/>
                <a:cxnLst/>
                <a:rect r="r" b="b" t="t" l="l"/>
                <a:pathLst>
                  <a:path h="847833" w="848212">
                    <a:moveTo>
                      <a:pt x="424106" y="0"/>
                    </a:moveTo>
                    <a:cubicBezTo>
                      <a:pt x="189879" y="0"/>
                      <a:pt x="0" y="189794"/>
                      <a:pt x="0" y="423916"/>
                    </a:cubicBezTo>
                    <a:cubicBezTo>
                      <a:pt x="0" y="658039"/>
                      <a:pt x="189879" y="847833"/>
                      <a:pt x="424106" y="847833"/>
                    </a:cubicBezTo>
                    <a:cubicBezTo>
                      <a:pt x="658333" y="847833"/>
                      <a:pt x="848212" y="658039"/>
                      <a:pt x="848212" y="423916"/>
                    </a:cubicBezTo>
                    <a:cubicBezTo>
                      <a:pt x="848212" y="189794"/>
                      <a:pt x="658333" y="0"/>
                      <a:pt x="424106" y="0"/>
                    </a:cubicBezTo>
                    <a:lnTo>
                      <a:pt x="424106" y="0"/>
                    </a:lnTo>
                    <a:close/>
                  </a:path>
                </a:pathLst>
              </a:custGeom>
              <a:solidFill>
                <a:srgbClr val="F2ECE3"/>
              </a:solidFill>
              <a:ln w="28575" cap="sq">
                <a:solidFill>
                  <a:srgbClr val="2D2D2D"/>
                </a:solidFill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79520" y="41384"/>
                <a:ext cx="689172" cy="7269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3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0" y="1121915"/>
              <a:ext cx="1198526" cy="261915"/>
              <a:chOff x="0" y="0"/>
              <a:chExt cx="238885" cy="52204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0" y="89481"/>
              <a:ext cx="1198526" cy="261915"/>
              <a:chOff x="0" y="0"/>
              <a:chExt cx="238885" cy="52204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0" y="2154349"/>
              <a:ext cx="1198526" cy="261915"/>
              <a:chOff x="0" y="0"/>
              <a:chExt cx="238885" cy="52204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0" y="3186782"/>
              <a:ext cx="1198526" cy="261915"/>
              <a:chOff x="0" y="0"/>
              <a:chExt cx="238885" cy="52204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0" y="4219216"/>
              <a:ext cx="1198526" cy="261915"/>
              <a:chOff x="0" y="0"/>
              <a:chExt cx="238885" cy="52204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0" y="5251650"/>
              <a:ext cx="1198526" cy="261915"/>
              <a:chOff x="0" y="0"/>
              <a:chExt cx="238885" cy="52204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0" y="6284084"/>
              <a:ext cx="1198526" cy="261915"/>
              <a:chOff x="0" y="0"/>
              <a:chExt cx="238885" cy="52204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  <p:grpSp>
          <p:nvGrpSpPr>
            <p:cNvPr name="Group 69" id="69"/>
            <p:cNvGrpSpPr/>
            <p:nvPr/>
          </p:nvGrpSpPr>
          <p:grpSpPr>
            <a:xfrm rot="0">
              <a:off x="0" y="7316518"/>
              <a:ext cx="1198526" cy="261915"/>
              <a:chOff x="0" y="0"/>
              <a:chExt cx="238885" cy="52204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238885" cy="52204"/>
              </a:xfrm>
              <a:custGeom>
                <a:avLst/>
                <a:gdLst/>
                <a:ahLst/>
                <a:cxnLst/>
                <a:rect r="r" b="b" t="t" l="l"/>
                <a:pathLst>
                  <a:path h="52204" w="238885">
                    <a:moveTo>
                      <a:pt x="26102" y="0"/>
                    </a:moveTo>
                    <a:lnTo>
                      <a:pt x="212783" y="0"/>
                    </a:lnTo>
                    <a:cubicBezTo>
                      <a:pt x="219705" y="0"/>
                      <a:pt x="226344" y="2750"/>
                      <a:pt x="231239" y="7645"/>
                    </a:cubicBezTo>
                    <a:cubicBezTo>
                      <a:pt x="236135" y="12540"/>
                      <a:pt x="238885" y="19179"/>
                      <a:pt x="238885" y="26102"/>
                    </a:cubicBezTo>
                    <a:lnTo>
                      <a:pt x="238885" y="26102"/>
                    </a:lnTo>
                    <a:cubicBezTo>
                      <a:pt x="238885" y="33025"/>
                      <a:pt x="236135" y="39664"/>
                      <a:pt x="231239" y="44559"/>
                    </a:cubicBezTo>
                    <a:cubicBezTo>
                      <a:pt x="226344" y="49454"/>
                      <a:pt x="219705" y="52204"/>
                      <a:pt x="212783" y="52204"/>
                    </a:cubicBezTo>
                    <a:lnTo>
                      <a:pt x="26102" y="52204"/>
                    </a:lnTo>
                    <a:cubicBezTo>
                      <a:pt x="19179" y="52204"/>
                      <a:pt x="12540" y="49454"/>
                      <a:pt x="7645" y="44559"/>
                    </a:cubicBezTo>
                    <a:cubicBezTo>
                      <a:pt x="2750" y="39664"/>
                      <a:pt x="0" y="33025"/>
                      <a:pt x="0" y="26102"/>
                    </a:cubicBezTo>
                    <a:lnTo>
                      <a:pt x="0" y="26102"/>
                    </a:lnTo>
                    <a:cubicBezTo>
                      <a:pt x="0" y="19179"/>
                      <a:pt x="2750" y="12540"/>
                      <a:pt x="7645" y="7645"/>
                    </a:cubicBezTo>
                    <a:cubicBezTo>
                      <a:pt x="12540" y="2750"/>
                      <a:pt x="19179" y="0"/>
                      <a:pt x="26102" y="0"/>
                    </a:cubicBezTo>
                    <a:close/>
                  </a:path>
                </a:pathLst>
              </a:custGeom>
              <a:solidFill>
                <a:srgbClr val="DACFBF"/>
              </a:solidFill>
              <a:ln w="28575" cap="rnd">
                <a:solidFill>
                  <a:srgbClr val="2D2D2D"/>
                </a:solidFill>
                <a:prstDash val="solid"/>
                <a:round/>
              </a:ln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-19050"/>
                <a:ext cx="238885" cy="71254"/>
              </a:xfrm>
              <a:prstGeom prst="rect">
                <a:avLst/>
              </a:prstGeom>
            </p:spPr>
            <p:txBody>
              <a:bodyPr anchor="ctr" rtlCol="false" tIns="50345" lIns="50345" bIns="50345" rIns="50345"/>
              <a:lstStyle/>
              <a:p>
                <a:pPr algn="ctr">
                  <a:lnSpc>
                    <a:spcPts val="1685"/>
                  </a:lnSpc>
                </a:pPr>
              </a:p>
            </p:txBody>
          </p:sp>
        </p:grpSp>
      </p:grpSp>
      <p:sp>
        <p:nvSpPr>
          <p:cNvPr name="Freeform 72" id="72"/>
          <p:cNvSpPr/>
          <p:nvPr/>
        </p:nvSpPr>
        <p:spPr>
          <a:xfrm flipH="true" flipV="false" rot="-636682">
            <a:off x="6427503" y="4522503"/>
            <a:ext cx="1024424" cy="981138"/>
          </a:xfrm>
          <a:custGeom>
            <a:avLst/>
            <a:gdLst/>
            <a:ahLst/>
            <a:cxnLst/>
            <a:rect r="r" b="b" t="t" l="l"/>
            <a:pathLst>
              <a:path h="981138" w="1024424">
                <a:moveTo>
                  <a:pt x="1024423" y="0"/>
                </a:moveTo>
                <a:lnTo>
                  <a:pt x="0" y="0"/>
                </a:lnTo>
                <a:lnTo>
                  <a:pt x="0" y="981138"/>
                </a:lnTo>
                <a:lnTo>
                  <a:pt x="1024423" y="981138"/>
                </a:lnTo>
                <a:lnTo>
                  <a:pt x="102442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3" id="73"/>
          <p:cNvSpPr txBox="true"/>
          <p:nvPr/>
        </p:nvSpPr>
        <p:spPr>
          <a:xfrm rot="0">
            <a:off x="6179006" y="4425719"/>
            <a:ext cx="6851228" cy="105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51"/>
              </a:lnSpc>
              <a:spcBef>
                <a:spcPct val="0"/>
              </a:spcBef>
            </a:pPr>
            <a:r>
              <a:rPr lang="en-US" sz="6108" spc="-470">
                <a:solidFill>
                  <a:srgbClr val="000000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감사합니다.</a:t>
            </a:r>
          </a:p>
        </p:txBody>
      </p:sp>
      <p:sp>
        <p:nvSpPr>
          <p:cNvPr name="Freeform 74" id="74"/>
          <p:cNvSpPr/>
          <p:nvPr/>
        </p:nvSpPr>
        <p:spPr>
          <a:xfrm flipH="true" flipV="false" rot="0">
            <a:off x="11884133" y="5054561"/>
            <a:ext cx="2292202" cy="1997081"/>
          </a:xfrm>
          <a:custGeom>
            <a:avLst/>
            <a:gdLst/>
            <a:ahLst/>
            <a:cxnLst/>
            <a:rect r="r" b="b" t="t" l="l"/>
            <a:pathLst>
              <a:path h="1997081" w="2292202">
                <a:moveTo>
                  <a:pt x="2292202" y="0"/>
                </a:moveTo>
                <a:lnTo>
                  <a:pt x="0" y="0"/>
                </a:lnTo>
                <a:lnTo>
                  <a:pt x="0" y="1997081"/>
                </a:lnTo>
                <a:lnTo>
                  <a:pt x="2292202" y="1997081"/>
                </a:lnTo>
                <a:lnTo>
                  <a:pt x="229220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DAGypM_AWY4</dc:identifier>
  <dcterms:modified xsi:type="dcterms:W3CDTF">2011-08-01T06:04:30Z</dcterms:modified>
  <cp:revision>1</cp:revision>
  <dc:title>6장. 반론 (김포신곡중 오미경)</dc:title>
</cp:coreProperties>
</file>