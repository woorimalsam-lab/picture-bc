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notesMasterIdLst>
    <p:notesMasterId r:id="rId2"/>
  </p:notesMasterIdLst>
  <p:sldIdLst>
    <p:sldId id="307" r:id="rId3"/>
    <p:sldId id="315" r:id="rId4"/>
    <p:sldId id="308" r:id="rId5"/>
    <p:sldId id="313" r:id="rId6"/>
    <p:sldId id="309" r:id="rId7"/>
    <p:sldId id="310" r:id="rId8"/>
    <p:sldId id="311" r:id="rId9"/>
    <p:sldId id="314" r:id="rId10"/>
    <p:sldId id="312" r:id="rId11"/>
    <p:sldId id="317" r:id="rId12"/>
    <p:sldId id="31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918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48937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2개 및 내용" type="twoObjAndObj" preserve="1" userDrawn="1">
  <p:cSld name="내용 2개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197599" y="1600200"/>
            <a:ext cx="5384799" cy="4590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2023-08-05</a:t>
            </a:fld>
            <a:endParaRPr lang="ko-KR" altLang="en-US"/>
          </a:p>
        </p:txBody>
      </p:sp>
      <p:sp>
        <p:nvSpPr>
          <p:cNvPr id="11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2023-08-05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찬반토론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85194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차례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2194232"/>
            <a:ext cx="10972798" cy="35222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개요서 쓰기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ko-KR" altLang="en-US">
                <a:solidFill>
                  <a:srgbClr val="ff0000"/>
                </a:solidFill>
              </a:rPr>
              <a:t>핵심요소</a:t>
            </a:r>
            <a:r>
              <a:rPr lang="en-US" altLang="ko-KR"/>
              <a:t>(</a:t>
            </a:r>
            <a:r>
              <a:rPr lang="ko-KR" altLang="en-US"/>
              <a:t>논제</a:t>
            </a:r>
            <a:r>
              <a:rPr lang="en-US" altLang="ko-KR"/>
              <a:t>,</a:t>
            </a:r>
            <a:r>
              <a:rPr lang="ko-KR" altLang="en-US"/>
              <a:t> 용어 정의</a:t>
            </a:r>
            <a:r>
              <a:rPr lang="en-US" altLang="ko-KR"/>
              <a:t>,</a:t>
            </a:r>
            <a:r>
              <a:rPr lang="ko-KR" altLang="en-US"/>
              <a:t> 쟁점</a:t>
            </a:r>
            <a:r>
              <a:rPr lang="en-US" altLang="ko-KR"/>
              <a:t>,</a:t>
            </a:r>
            <a:r>
              <a:rPr lang="ko-KR" altLang="en-US"/>
              <a:t> 이유</a:t>
            </a:r>
            <a:r>
              <a:rPr lang="en-US" altLang="ko-KR"/>
              <a:t>,</a:t>
            </a:r>
            <a:r>
              <a:rPr lang="ko-KR" altLang="en-US"/>
              <a:t> 근거</a:t>
            </a:r>
            <a:r>
              <a:rPr lang="en-US" altLang="ko-KR"/>
              <a:t>)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토론 모형</a:t>
            </a:r>
            <a:r>
              <a:rPr lang="en-US" altLang="ko-KR"/>
              <a:t>:</a:t>
            </a:r>
            <a:r>
              <a:rPr lang="ko-KR" altLang="en-US"/>
              <a:t> 퍼블릭포럼디베이트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판정 </a:t>
            </a:r>
            <a:r>
              <a:rPr lang="en-US" altLang="ko-KR"/>
              <a:t>:</a:t>
            </a:r>
            <a:r>
              <a:rPr lang="ko-KR" altLang="en-US"/>
              <a:t> 태도</a:t>
            </a:r>
            <a:r>
              <a:rPr lang="en-US" altLang="ko-KR"/>
              <a:t>,</a:t>
            </a:r>
            <a:r>
              <a:rPr lang="ko-KR" altLang="en-US"/>
              <a:t>  </a:t>
            </a:r>
            <a:r>
              <a:rPr lang="ko-KR" altLang="en-US">
                <a:solidFill>
                  <a:srgbClr val="000000"/>
                </a:solidFill>
              </a:rPr>
              <a:t>핵심요소</a:t>
            </a:r>
            <a:r>
              <a:rPr lang="en-US" altLang="ko-KR"/>
              <a:t>,</a:t>
            </a:r>
            <a:r>
              <a:rPr lang="ko-KR" altLang="en-US"/>
              <a:t> 오류 등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대본</a:t>
            </a:r>
            <a:r>
              <a:rPr lang="en-US" altLang="ko-KR"/>
              <a:t>:</a:t>
            </a:r>
            <a:r>
              <a:rPr lang="ko-KR" altLang="en-US"/>
              <a:t> 토론자</a:t>
            </a:r>
            <a:r>
              <a:rPr lang="en-US" altLang="ko-KR"/>
              <a:t>,</a:t>
            </a:r>
            <a:r>
              <a:rPr lang="ko-KR" altLang="en-US"/>
              <a:t> 사회자</a:t>
            </a:r>
            <a:r>
              <a:rPr lang="en-US" altLang="ko-KR"/>
              <a:t>,</a:t>
            </a:r>
            <a:r>
              <a:rPr lang="ko-KR" altLang="en-US"/>
              <a:t> 계측자 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5.</a:t>
            </a:r>
            <a:r>
              <a:rPr lang="ko-KR" altLang="en-US"/>
              <a:t> 토론인원 구성</a:t>
            </a:r>
            <a:r>
              <a:rPr lang="en-US" altLang="ko-KR"/>
              <a:t>-</a:t>
            </a:r>
            <a:r>
              <a:rPr lang="ko-KR" altLang="en-US"/>
              <a:t> 토론자 찬성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):</a:t>
            </a:r>
            <a:r>
              <a:rPr lang="ko-KR" altLang="en-US"/>
              <a:t> 반대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),</a:t>
            </a:r>
            <a:r>
              <a:rPr lang="ko-KR" altLang="en-US"/>
              <a:t> 사회자</a:t>
            </a:r>
            <a:r>
              <a:rPr lang="en-US" altLang="ko-KR"/>
              <a:t>(1),</a:t>
            </a:r>
            <a:r>
              <a:rPr lang="ko-KR" altLang="en-US"/>
              <a:t> 계측자</a:t>
            </a:r>
            <a:r>
              <a:rPr lang="en-US" altLang="ko-KR"/>
              <a:t>(1)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자리 배치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24877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501854" y="242655"/>
            <a:ext cx="10202926" cy="604494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0980711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14576" y="252167"/>
            <a:ext cx="9963678" cy="635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2040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개요서 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논제</a:t>
            </a:r>
            <a:r>
              <a:rPr lang="en-US" altLang="ko-KR"/>
              <a:t>:</a:t>
            </a:r>
            <a:r>
              <a:rPr lang="ko-KR" altLang="en-US"/>
              <a:t> 엄마의 행동</a:t>
            </a:r>
            <a:r>
              <a:rPr lang="en-US" altLang="ko-KR"/>
              <a:t>(</a:t>
            </a:r>
            <a:r>
              <a:rPr lang="ko-KR" altLang="en-US"/>
              <a:t>가출</a:t>
            </a:r>
            <a:r>
              <a:rPr lang="en-US" altLang="ko-KR"/>
              <a:t>)</a:t>
            </a:r>
            <a:r>
              <a:rPr lang="ko-KR" altLang="en-US"/>
              <a:t>은 정당하다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용어 정의</a:t>
            </a:r>
            <a:r>
              <a:rPr lang="en-US" altLang="ko-KR"/>
              <a:t>:</a:t>
            </a:r>
            <a:r>
              <a:rPr lang="ko-KR" altLang="en-US"/>
              <a:t> 엄마</a:t>
            </a:r>
            <a:r>
              <a:rPr lang="en-US" altLang="ko-KR"/>
              <a:t>,</a:t>
            </a:r>
            <a:r>
              <a:rPr lang="ko-KR" altLang="en-US"/>
              <a:t> 가출</a:t>
            </a:r>
            <a:r>
              <a:rPr lang="en-US" altLang="ko-KR"/>
              <a:t>,</a:t>
            </a:r>
            <a:r>
              <a:rPr lang="ko-KR" altLang="en-US"/>
              <a:t> 정당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쟁점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01414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1411" y="1283281"/>
            <a:ext cx="11649178" cy="429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01972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73652" y="0"/>
            <a:ext cx="5776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7014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500648" y="2568832"/>
            <a:ext cx="9467232" cy="1143000"/>
          </a:xfrm>
        </p:spPr>
        <p:txBody>
          <a:bodyPr/>
          <a:p>
            <a:pPr lvl="0" algn="l">
              <a:defRPr/>
            </a:pPr>
            <a:r>
              <a:rPr lang="ko-KR" altLang="en-US"/>
              <a:t>토론자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57143" y="0"/>
            <a:ext cx="51056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1850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394519" y="2286000"/>
            <a:ext cx="10972798" cy="1143000"/>
          </a:xfrm>
        </p:spPr>
        <p:txBody>
          <a:bodyPr>
            <a:normAutofit fontScale="90000"/>
          </a:bodyPr>
          <a:p>
            <a:pPr lvl="0" algn="l">
              <a:defRPr/>
            </a:pPr>
            <a:r>
              <a:rPr lang="ko-KR" altLang="en-US"/>
              <a:t>진행 대본</a:t>
            </a:r>
            <a:br>
              <a:rPr lang="ko-KR" altLang="en-US"/>
            </a:br>
            <a:r>
              <a:rPr lang="en-US" altLang="ko-KR"/>
              <a:t>(</a:t>
            </a:r>
            <a:r>
              <a:rPr lang="ko-KR" altLang="en-US"/>
              <a:t>사회자</a:t>
            </a:r>
            <a:r>
              <a:rPr lang="en-US" altLang="ko-KR"/>
              <a:t>,</a:t>
            </a:r>
            <a:r>
              <a:rPr lang="ko-KR" altLang="en-US"/>
              <a:t> 계측자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03830" y="0"/>
            <a:ext cx="6916115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6408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자리 배치</a:t>
            </a:r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4785033" y="1764106"/>
            <a:ext cx="1087410" cy="60747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400" b="1">
                <a:solidFill>
                  <a:srgbClr val="ffff00"/>
                </a:solidFill>
              </a:rPr>
              <a:t>사회자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096000" y="1764106"/>
            <a:ext cx="1054917" cy="607471"/>
          </a:xfrm>
          <a:prstGeom prst="ellipse">
            <a:avLst/>
          </a:prstGeom>
          <a:solidFill>
            <a:schemeClr val="accent4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r>
              <a:rPr lang="ko-KR" altLang="en-US" sz="1400" b="1">
                <a:solidFill>
                  <a:srgbClr val="ffff00"/>
                </a:solidFill>
              </a:rPr>
              <a:t>계측자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3704040" y="2837525"/>
            <a:ext cx="934810" cy="871743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100" b="1"/>
              <a:t>토론자</a:t>
            </a:r>
            <a:r>
              <a:rPr lang="en-US" altLang="ko-KR" sz="1100" b="1"/>
              <a:t>1</a:t>
            </a:r>
            <a:endParaRPr lang="en-US" altLang="ko-KR" sz="1100" b="1"/>
          </a:p>
        </p:txBody>
      </p:sp>
      <p:sp>
        <p:nvSpPr>
          <p:cNvPr id="17" name="타원 16"/>
          <p:cNvSpPr/>
          <p:nvPr/>
        </p:nvSpPr>
        <p:spPr>
          <a:xfrm>
            <a:off x="2432811" y="4310470"/>
            <a:ext cx="934810" cy="871743"/>
          </a:xfrm>
          <a:prstGeom prst="ellipse">
            <a:avLst/>
          </a:prstGeom>
          <a:solidFill>
            <a:srgbClr val="ff843a">
              <a:alpha val="100000"/>
            </a:srgbClr>
          </a:solidFill>
          <a:ln w="19050" cap="flat" cmpd="sng" algn="ctr">
            <a:solidFill>
              <a:srgbClr val="7a3f1c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토론자</a:t>
            </a:r>
            <a:r>
              <a: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111573" y="3617386"/>
            <a:ext cx="934810" cy="871743"/>
          </a:xfrm>
          <a:prstGeom prst="ellipse">
            <a:avLst/>
          </a:prstGeom>
          <a:solidFill>
            <a:srgbClr val="ff843a">
              <a:alpha val="100000"/>
            </a:srgbClr>
          </a:solidFill>
          <a:ln w="19050" cap="flat" cmpd="sng" algn="ctr">
            <a:solidFill>
              <a:srgbClr val="7a3f1c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토론자</a:t>
            </a:r>
            <a:r>
              <a: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369424" y="2837525"/>
            <a:ext cx="934810" cy="871743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19050" cap="flat" cmpd="sng" algn="ctr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토론자</a:t>
            </a:r>
            <a:r>
              <a: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091350" y="3429000"/>
            <a:ext cx="934810" cy="871743"/>
          </a:xfrm>
          <a:prstGeom prst="ellipse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6182d6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토론자</a:t>
            </a:r>
            <a:r>
              <a: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8681659" y="4172794"/>
            <a:ext cx="934810" cy="871743"/>
          </a:xfrm>
          <a:prstGeom prst="ellipse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6182d6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토론자</a:t>
            </a:r>
            <a:r>
              <a: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100" b="1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4241328" y="5349363"/>
            <a:ext cx="1087410" cy="368709"/>
          </a:xfrm>
          <a:prstGeom prst="ellipse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300"/>
              <a:t>판정관</a:t>
            </a:r>
            <a:r>
              <a:rPr lang="en-US" altLang="ko-KR" sz="1300"/>
              <a:t>1</a:t>
            </a:r>
            <a:endParaRPr lang="en-US" altLang="ko-KR" sz="1300"/>
          </a:p>
        </p:txBody>
      </p:sp>
      <p:sp>
        <p:nvSpPr>
          <p:cNvPr id="27" name="타원 26"/>
          <p:cNvSpPr/>
          <p:nvPr/>
        </p:nvSpPr>
        <p:spPr>
          <a:xfrm>
            <a:off x="5552295" y="5349363"/>
            <a:ext cx="1087410" cy="368709"/>
          </a:xfrm>
          <a:prstGeom prst="ellipse">
            <a:avLst/>
          </a:prstGeom>
          <a:solidFill>
            <a:srgbClr val="000000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판정관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6749419" y="5349363"/>
            <a:ext cx="1087410" cy="368709"/>
          </a:xfrm>
          <a:prstGeom prst="ellipse">
            <a:avLst/>
          </a:prstGeom>
          <a:solidFill>
            <a:srgbClr val="000000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판정관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091133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판정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/>
              <a:t>태도</a:t>
            </a:r>
            <a:r>
              <a:rPr lang="en-US" altLang="ko-KR"/>
              <a:t>:</a:t>
            </a:r>
            <a:r>
              <a:rPr lang="ko-KR" altLang="en-US"/>
              <a:t>  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>
                <a:solidFill>
                  <a:srgbClr val="000000"/>
                </a:solidFill>
              </a:rPr>
              <a:t>핵심요소</a:t>
            </a:r>
            <a:r>
              <a:rPr lang="en-US" altLang="ko-KR"/>
              <a:t>:</a:t>
            </a:r>
            <a:r>
              <a:rPr lang="ko-KR" altLang="en-US"/>
              <a:t> 논제</a:t>
            </a:r>
            <a:r>
              <a:rPr lang="en-US" altLang="ko-KR"/>
              <a:t>,</a:t>
            </a:r>
            <a:r>
              <a:rPr lang="ko-KR" altLang="en-US"/>
              <a:t> 용어 정의</a:t>
            </a:r>
            <a:r>
              <a:rPr lang="en-US" altLang="ko-KR"/>
              <a:t>,</a:t>
            </a:r>
            <a:r>
              <a:rPr lang="ko-KR" altLang="en-US"/>
              <a:t> 쟁점</a:t>
            </a:r>
            <a:r>
              <a:rPr lang="en-US" altLang="ko-KR"/>
              <a:t>,</a:t>
            </a:r>
            <a:r>
              <a:rPr lang="ko-KR" altLang="en-US"/>
              <a:t> 논리</a:t>
            </a:r>
            <a:r>
              <a:rPr lang="en-US" altLang="ko-KR"/>
              <a:t>(</a:t>
            </a:r>
            <a:r>
              <a:rPr lang="ko-KR" altLang="en-US"/>
              <a:t>이유</a:t>
            </a:r>
            <a:r>
              <a:rPr lang="en-US" altLang="ko-KR"/>
              <a:t>,</a:t>
            </a:r>
            <a:r>
              <a:rPr lang="ko-KR" altLang="en-US"/>
              <a:t> 근거</a:t>
            </a:r>
            <a:r>
              <a:rPr lang="en-US" altLang="ko-KR"/>
              <a:t>)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ko-KR" altLang="en-US"/>
              <a:t>오류 </a:t>
            </a:r>
            <a:r>
              <a:rPr lang="en-US" altLang="ko-KR"/>
              <a:t>:</a:t>
            </a:r>
            <a:r>
              <a:rPr lang="ko-KR" altLang="en-US"/>
              <a:t> 논리의 오류</a:t>
            </a:r>
            <a:r>
              <a:rPr lang="en-US" altLang="ko-KR"/>
              <a:t>,</a:t>
            </a:r>
            <a:r>
              <a:rPr lang="ko-KR" altLang="en-US"/>
              <a:t> 자료의 오류 등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/>
              <a:t>판정관 자체의 오류</a:t>
            </a:r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84</ep:Words>
  <ep:PresentationFormat>화면 슬라이드 쇼(4:3)</ep:PresentationFormat>
  <ep:Paragraphs>33</ep:Paragraphs>
  <ep:Slides>11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찬반토론</vt:lpstr>
      <vt:lpstr>차례</vt:lpstr>
      <vt:lpstr>슬라이드 3</vt:lpstr>
      <vt:lpstr>슬라이드 4</vt:lpstr>
      <vt:lpstr>개요서 쓰기</vt:lpstr>
      <vt:lpstr>슬라이드 6</vt:lpstr>
      <vt:lpstr>슬라이드 7</vt:lpstr>
      <vt:lpstr>토론자</vt:lpstr>
      <vt:lpstr>진행 대본 (사회자, 계측자)</vt:lpstr>
      <vt:lpstr>자리 배치</vt:lpstr>
      <vt:lpstr>판정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2023-08-05T02:30:12.422</dcterms:created>
  <dc:creator>82103</dc:creator>
  <cp:lastModifiedBy>main</cp:lastModifiedBy>
  <dcterms:modified xsi:type="dcterms:W3CDTF">2025-06-13T04:51:32.833</dcterms:modified>
  <cp:revision>50</cp:revision>
  <dc:title>논증 - 감기걸린 물고기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