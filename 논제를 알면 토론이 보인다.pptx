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lab 모던라운드 Medium" charset="1" panose="020C0603000000000000"/>
      <p:regular r:id="rId22"/>
    </p:embeddedFont>
    <p:embeddedFont>
      <p:font typeface="Tlab 모던라운드 Bold" charset="1" panose="020C0803000000000000"/>
      <p:regular r:id="rId23"/>
    </p:embeddedFont>
    <p:embeddedFont>
      <p:font typeface="Aileron Bold" charset="1" panose="00000800000000000000"/>
      <p:regular r:id="rId24"/>
    </p:embeddedFont>
    <p:embeddedFont>
      <p:font typeface="Arita Dotum Light" charset="1" panose="02020603020101020101"/>
      <p:regular r:id="rId25"/>
    </p:embeddedFont>
    <p:embeddedFont>
      <p:font typeface="RoxboroughCF" charset="1" panose="00000500000000000000"/>
      <p:regular r:id="rId26"/>
    </p:embeddedFont>
    <p:embeddedFont>
      <p:font typeface="Arita Dotum Medium" charset="1" panose="02020603020101020101"/>
      <p:regular r:id="rId27"/>
    </p:embeddedFont>
    <p:embeddedFont>
      <p:font typeface="Aileron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6453" y="1289700"/>
            <a:ext cx="16602737" cy="8479221"/>
            <a:chOff x="0" y="0"/>
            <a:chExt cx="4292677" cy="21923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2678" cy="2192323"/>
            </a:xfrm>
            <a:custGeom>
              <a:avLst/>
              <a:gdLst/>
              <a:ahLst/>
              <a:cxnLst/>
              <a:rect r="r" b="b" t="t" l="l"/>
              <a:pathLst>
                <a:path h="2192323" w="4292678">
                  <a:moveTo>
                    <a:pt x="20517" y="0"/>
                  </a:moveTo>
                  <a:lnTo>
                    <a:pt x="4272160" y="0"/>
                  </a:lnTo>
                  <a:cubicBezTo>
                    <a:pt x="4277602" y="0"/>
                    <a:pt x="4282820" y="2162"/>
                    <a:pt x="4286668" y="6009"/>
                  </a:cubicBezTo>
                  <a:cubicBezTo>
                    <a:pt x="4290516" y="9857"/>
                    <a:pt x="4292678" y="15076"/>
                    <a:pt x="4292678" y="20517"/>
                  </a:cubicBezTo>
                  <a:lnTo>
                    <a:pt x="4292678" y="2171805"/>
                  </a:lnTo>
                  <a:cubicBezTo>
                    <a:pt x="4292678" y="2177247"/>
                    <a:pt x="4290516" y="2182466"/>
                    <a:pt x="4286668" y="2186313"/>
                  </a:cubicBezTo>
                  <a:cubicBezTo>
                    <a:pt x="4282820" y="2190161"/>
                    <a:pt x="4277602" y="2192323"/>
                    <a:pt x="4272160" y="2192323"/>
                  </a:cubicBezTo>
                  <a:lnTo>
                    <a:pt x="20517" y="2192323"/>
                  </a:lnTo>
                  <a:cubicBezTo>
                    <a:pt x="15076" y="2192323"/>
                    <a:pt x="9857" y="2190161"/>
                    <a:pt x="6009" y="2186313"/>
                  </a:cubicBezTo>
                  <a:cubicBezTo>
                    <a:pt x="2162" y="2182466"/>
                    <a:pt x="0" y="2177247"/>
                    <a:pt x="0" y="2171805"/>
                  </a:cubicBezTo>
                  <a:lnTo>
                    <a:pt x="0" y="20517"/>
                  </a:lnTo>
                  <a:cubicBezTo>
                    <a:pt x="0" y="15076"/>
                    <a:pt x="2162" y="9857"/>
                    <a:pt x="6009" y="6009"/>
                  </a:cubicBezTo>
                  <a:cubicBezTo>
                    <a:pt x="9857" y="2162"/>
                    <a:pt x="15076" y="0"/>
                    <a:pt x="20517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252525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92677" cy="2239948"/>
            </a:xfrm>
            <a:prstGeom prst="rect">
              <a:avLst/>
            </a:prstGeom>
          </p:spPr>
          <p:txBody>
            <a:bodyPr anchor="ctr" rtlCol="false" tIns="51747" lIns="51747" bIns="51747" rIns="5174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8832" y="1212078"/>
            <a:ext cx="16602737" cy="8479221"/>
            <a:chOff x="0" y="0"/>
            <a:chExt cx="4292677" cy="21923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92678" cy="2192323"/>
            </a:xfrm>
            <a:custGeom>
              <a:avLst/>
              <a:gdLst/>
              <a:ahLst/>
              <a:cxnLst/>
              <a:rect r="r" b="b" t="t" l="l"/>
              <a:pathLst>
                <a:path h="2192323" w="4292678">
                  <a:moveTo>
                    <a:pt x="19585" y="0"/>
                  </a:moveTo>
                  <a:lnTo>
                    <a:pt x="4273093" y="0"/>
                  </a:lnTo>
                  <a:cubicBezTo>
                    <a:pt x="4278287" y="0"/>
                    <a:pt x="4283268" y="2063"/>
                    <a:pt x="4286941" y="5736"/>
                  </a:cubicBezTo>
                  <a:cubicBezTo>
                    <a:pt x="4290614" y="9409"/>
                    <a:pt x="4292678" y="14391"/>
                    <a:pt x="4292678" y="19585"/>
                  </a:cubicBezTo>
                  <a:lnTo>
                    <a:pt x="4292678" y="2172738"/>
                  </a:lnTo>
                  <a:cubicBezTo>
                    <a:pt x="4292678" y="2177932"/>
                    <a:pt x="4290614" y="2182914"/>
                    <a:pt x="4286941" y="2186586"/>
                  </a:cubicBezTo>
                  <a:cubicBezTo>
                    <a:pt x="4283268" y="2190259"/>
                    <a:pt x="4278287" y="2192323"/>
                    <a:pt x="4273093" y="2192323"/>
                  </a:cubicBezTo>
                  <a:lnTo>
                    <a:pt x="19585" y="2192323"/>
                  </a:lnTo>
                  <a:cubicBezTo>
                    <a:pt x="14391" y="2192323"/>
                    <a:pt x="9409" y="2190259"/>
                    <a:pt x="5736" y="2186586"/>
                  </a:cubicBezTo>
                  <a:cubicBezTo>
                    <a:pt x="2063" y="2182914"/>
                    <a:pt x="0" y="2177932"/>
                    <a:pt x="0" y="2172738"/>
                  </a:cubicBezTo>
                  <a:lnTo>
                    <a:pt x="0" y="19585"/>
                  </a:lnTo>
                  <a:cubicBezTo>
                    <a:pt x="0" y="14391"/>
                    <a:pt x="2063" y="9409"/>
                    <a:pt x="5736" y="5736"/>
                  </a:cubicBezTo>
                  <a:cubicBezTo>
                    <a:pt x="9409" y="2063"/>
                    <a:pt x="14391" y="0"/>
                    <a:pt x="1958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25252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292677" cy="2239948"/>
            </a:xfrm>
            <a:prstGeom prst="rect">
              <a:avLst/>
            </a:prstGeom>
          </p:spPr>
          <p:txBody>
            <a:bodyPr anchor="ctr" rtlCol="false" tIns="51747" lIns="51747" bIns="51747" rIns="5174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1211" y="1139071"/>
            <a:ext cx="16602737" cy="8479221"/>
            <a:chOff x="0" y="0"/>
            <a:chExt cx="4292677" cy="21923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2678" cy="2192323"/>
            </a:xfrm>
            <a:custGeom>
              <a:avLst/>
              <a:gdLst/>
              <a:ahLst/>
              <a:cxnLst/>
              <a:rect r="r" b="b" t="t" l="l"/>
              <a:pathLst>
                <a:path h="2192323" w="4292678">
                  <a:moveTo>
                    <a:pt x="18652" y="0"/>
                  </a:moveTo>
                  <a:lnTo>
                    <a:pt x="4274026" y="0"/>
                  </a:lnTo>
                  <a:cubicBezTo>
                    <a:pt x="4278972" y="0"/>
                    <a:pt x="4283716" y="1965"/>
                    <a:pt x="4287214" y="5463"/>
                  </a:cubicBezTo>
                  <a:cubicBezTo>
                    <a:pt x="4290713" y="8961"/>
                    <a:pt x="4292678" y="13705"/>
                    <a:pt x="4292678" y="18652"/>
                  </a:cubicBezTo>
                  <a:lnTo>
                    <a:pt x="4292678" y="2173671"/>
                  </a:lnTo>
                  <a:cubicBezTo>
                    <a:pt x="4292678" y="2183972"/>
                    <a:pt x="4284326" y="2192323"/>
                    <a:pt x="4274026" y="2192323"/>
                  </a:cubicBezTo>
                  <a:lnTo>
                    <a:pt x="18652" y="2192323"/>
                  </a:lnTo>
                  <a:cubicBezTo>
                    <a:pt x="8351" y="2192323"/>
                    <a:pt x="0" y="2183972"/>
                    <a:pt x="0" y="2173671"/>
                  </a:cubicBezTo>
                  <a:lnTo>
                    <a:pt x="0" y="18652"/>
                  </a:lnTo>
                  <a:cubicBezTo>
                    <a:pt x="0" y="8351"/>
                    <a:pt x="8351" y="0"/>
                    <a:pt x="1865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252525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292677" cy="2239948"/>
            </a:xfrm>
            <a:prstGeom prst="rect">
              <a:avLst/>
            </a:prstGeom>
          </p:spPr>
          <p:txBody>
            <a:bodyPr anchor="ctr" rtlCol="false" tIns="51747" lIns="51747" bIns="51747" rIns="5174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98935" y="298131"/>
            <a:ext cx="1130002" cy="1137109"/>
          </a:xfrm>
          <a:custGeom>
            <a:avLst/>
            <a:gdLst/>
            <a:ahLst/>
            <a:cxnLst/>
            <a:rect r="r" b="b" t="t" l="l"/>
            <a:pathLst>
              <a:path h="1137109" w="1130002">
                <a:moveTo>
                  <a:pt x="0" y="0"/>
                </a:moveTo>
                <a:lnTo>
                  <a:pt x="1130002" y="0"/>
                </a:lnTo>
                <a:lnTo>
                  <a:pt x="1130002" y="1137108"/>
                </a:lnTo>
                <a:lnTo>
                  <a:pt x="0" y="1137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53978" y="298131"/>
            <a:ext cx="1130002" cy="1137109"/>
          </a:xfrm>
          <a:custGeom>
            <a:avLst/>
            <a:gdLst/>
            <a:ahLst/>
            <a:cxnLst/>
            <a:rect r="r" b="b" t="t" l="l"/>
            <a:pathLst>
              <a:path h="1137109" w="1130002">
                <a:moveTo>
                  <a:pt x="0" y="0"/>
                </a:moveTo>
                <a:lnTo>
                  <a:pt x="1130001" y="0"/>
                </a:lnTo>
                <a:lnTo>
                  <a:pt x="1130001" y="1137108"/>
                </a:lnTo>
                <a:lnTo>
                  <a:pt x="0" y="1137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6923489" y="1164453"/>
            <a:ext cx="4441021" cy="718346"/>
            <a:chOff x="0" y="0"/>
            <a:chExt cx="1169652" cy="1891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9652" cy="189194"/>
            </a:xfrm>
            <a:custGeom>
              <a:avLst/>
              <a:gdLst/>
              <a:ahLst/>
              <a:cxnLst/>
              <a:rect r="r" b="b" t="t" l="l"/>
              <a:pathLst>
                <a:path h="189194" w="1169652">
                  <a:moveTo>
                    <a:pt x="0" y="0"/>
                  </a:moveTo>
                  <a:lnTo>
                    <a:pt x="1169652" y="0"/>
                  </a:lnTo>
                  <a:lnTo>
                    <a:pt x="1169652" y="189194"/>
                  </a:lnTo>
                  <a:lnTo>
                    <a:pt x="0" y="189194"/>
                  </a:lnTo>
                  <a:close/>
                </a:path>
              </a:pathLst>
            </a:custGeom>
            <a:solidFill>
              <a:srgbClr val="DDBEA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9652" cy="236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23489" y="1523626"/>
            <a:ext cx="4441021" cy="718346"/>
            <a:chOff x="0" y="0"/>
            <a:chExt cx="1169652" cy="1891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9652" cy="189194"/>
            </a:xfrm>
            <a:custGeom>
              <a:avLst/>
              <a:gdLst/>
              <a:ahLst/>
              <a:cxnLst/>
              <a:rect r="r" b="b" t="t" l="l"/>
              <a:pathLst>
                <a:path h="189194" w="1169652">
                  <a:moveTo>
                    <a:pt x="94597" y="0"/>
                  </a:moveTo>
                  <a:lnTo>
                    <a:pt x="1075055" y="0"/>
                  </a:lnTo>
                  <a:cubicBezTo>
                    <a:pt x="1127299" y="0"/>
                    <a:pt x="1169652" y="42353"/>
                    <a:pt x="1169652" y="94597"/>
                  </a:cubicBezTo>
                  <a:lnTo>
                    <a:pt x="1169652" y="94597"/>
                  </a:lnTo>
                  <a:cubicBezTo>
                    <a:pt x="1169652" y="146841"/>
                    <a:pt x="1127299" y="189194"/>
                    <a:pt x="1075055" y="189194"/>
                  </a:cubicBezTo>
                  <a:lnTo>
                    <a:pt x="94597" y="189194"/>
                  </a:lnTo>
                  <a:cubicBezTo>
                    <a:pt x="42353" y="189194"/>
                    <a:pt x="0" y="146841"/>
                    <a:pt x="0" y="94597"/>
                  </a:cubicBezTo>
                  <a:lnTo>
                    <a:pt x="0" y="94597"/>
                  </a:lnTo>
                  <a:cubicBezTo>
                    <a:pt x="0" y="42353"/>
                    <a:pt x="42353" y="0"/>
                    <a:pt x="94597" y="0"/>
                  </a:cubicBezTo>
                  <a:close/>
                </a:path>
              </a:pathLst>
            </a:custGeom>
            <a:solidFill>
              <a:srgbClr val="DDBEA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169652" cy="236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41460" y="1377479"/>
            <a:ext cx="184034" cy="18403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62507" y="1377479"/>
            <a:ext cx="184034" cy="18403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890071" y="4386364"/>
            <a:ext cx="6507858" cy="585707"/>
          </a:xfrm>
          <a:custGeom>
            <a:avLst/>
            <a:gdLst/>
            <a:ahLst/>
            <a:cxnLst/>
            <a:rect r="r" b="b" t="t" l="l"/>
            <a:pathLst>
              <a:path h="585707" w="6507858">
                <a:moveTo>
                  <a:pt x="0" y="0"/>
                </a:moveTo>
                <a:lnTo>
                  <a:pt x="6507858" y="0"/>
                </a:lnTo>
                <a:lnTo>
                  <a:pt x="6507858" y="585708"/>
                </a:lnTo>
                <a:lnTo>
                  <a:pt x="0" y="585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3004995" y="7189039"/>
            <a:ext cx="847884" cy="84788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34890" y="34890"/>
              <a:ext cx="743021" cy="743021"/>
            </a:xfrm>
            <a:custGeom>
              <a:avLst/>
              <a:gdLst/>
              <a:ahLst/>
              <a:cxnLst/>
              <a:rect r="r" b="b" t="t" l="l"/>
              <a:pathLst>
                <a:path h="743021" w="743021">
                  <a:moveTo>
                    <a:pt x="394679" y="14755"/>
                  </a:moveTo>
                  <a:lnTo>
                    <a:pt x="477656" y="192550"/>
                  </a:lnTo>
                  <a:cubicBezTo>
                    <a:pt x="492623" y="224619"/>
                    <a:pt x="518401" y="250397"/>
                    <a:pt x="550470" y="265364"/>
                  </a:cubicBezTo>
                  <a:lnTo>
                    <a:pt x="728265" y="348341"/>
                  </a:lnTo>
                  <a:cubicBezTo>
                    <a:pt x="737267" y="352542"/>
                    <a:pt x="743020" y="361576"/>
                    <a:pt x="743020" y="371510"/>
                  </a:cubicBezTo>
                  <a:cubicBezTo>
                    <a:pt x="743020" y="381444"/>
                    <a:pt x="737267" y="390478"/>
                    <a:pt x="728265" y="394679"/>
                  </a:cubicBezTo>
                  <a:lnTo>
                    <a:pt x="550470" y="477656"/>
                  </a:lnTo>
                  <a:cubicBezTo>
                    <a:pt x="518401" y="492623"/>
                    <a:pt x="492623" y="518401"/>
                    <a:pt x="477656" y="550470"/>
                  </a:cubicBezTo>
                  <a:lnTo>
                    <a:pt x="394679" y="728265"/>
                  </a:lnTo>
                  <a:cubicBezTo>
                    <a:pt x="390478" y="737267"/>
                    <a:pt x="381444" y="743020"/>
                    <a:pt x="371510" y="743020"/>
                  </a:cubicBezTo>
                  <a:cubicBezTo>
                    <a:pt x="361576" y="743020"/>
                    <a:pt x="352542" y="737267"/>
                    <a:pt x="348341" y="728265"/>
                  </a:cubicBezTo>
                  <a:lnTo>
                    <a:pt x="265364" y="550470"/>
                  </a:lnTo>
                  <a:cubicBezTo>
                    <a:pt x="250397" y="518401"/>
                    <a:pt x="224619" y="492623"/>
                    <a:pt x="192550" y="477656"/>
                  </a:cubicBezTo>
                  <a:lnTo>
                    <a:pt x="14755" y="394679"/>
                  </a:lnTo>
                  <a:cubicBezTo>
                    <a:pt x="5753" y="390478"/>
                    <a:pt x="0" y="381444"/>
                    <a:pt x="0" y="371510"/>
                  </a:cubicBezTo>
                  <a:cubicBezTo>
                    <a:pt x="0" y="361576"/>
                    <a:pt x="5753" y="352542"/>
                    <a:pt x="14755" y="348341"/>
                  </a:cubicBezTo>
                  <a:lnTo>
                    <a:pt x="192550" y="265364"/>
                  </a:lnTo>
                  <a:cubicBezTo>
                    <a:pt x="224619" y="250397"/>
                    <a:pt x="250397" y="224619"/>
                    <a:pt x="265364" y="192550"/>
                  </a:cubicBezTo>
                  <a:lnTo>
                    <a:pt x="348341" y="14755"/>
                  </a:lnTo>
                  <a:cubicBezTo>
                    <a:pt x="352542" y="5753"/>
                    <a:pt x="361576" y="0"/>
                    <a:pt x="371510" y="0"/>
                  </a:cubicBezTo>
                  <a:cubicBezTo>
                    <a:pt x="381444" y="0"/>
                    <a:pt x="390478" y="5753"/>
                    <a:pt x="394679" y="14755"/>
                  </a:cubicBezTo>
                  <a:close/>
                </a:path>
              </a:pathLst>
            </a:custGeom>
            <a:solidFill>
              <a:srgbClr val="FFF9A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176349" y="2036677"/>
            <a:ext cx="624458" cy="62445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7373" y="47373"/>
              <a:ext cx="718054" cy="718054"/>
            </a:xfrm>
            <a:custGeom>
              <a:avLst/>
              <a:gdLst/>
              <a:ahLst/>
              <a:cxnLst/>
              <a:rect r="r" b="b" t="t" l="l"/>
              <a:pathLst>
                <a:path h="718054" w="718054">
                  <a:moveTo>
                    <a:pt x="390486" y="20034"/>
                  </a:moveTo>
                  <a:lnTo>
                    <a:pt x="456883" y="162304"/>
                  </a:lnTo>
                  <a:cubicBezTo>
                    <a:pt x="477205" y="205848"/>
                    <a:pt x="512206" y="240849"/>
                    <a:pt x="555750" y="261171"/>
                  </a:cubicBezTo>
                  <a:lnTo>
                    <a:pt x="698020" y="327568"/>
                  </a:lnTo>
                  <a:cubicBezTo>
                    <a:pt x="710242" y="333272"/>
                    <a:pt x="718054" y="345539"/>
                    <a:pt x="718054" y="359027"/>
                  </a:cubicBezTo>
                  <a:cubicBezTo>
                    <a:pt x="718054" y="372515"/>
                    <a:pt x="710242" y="384782"/>
                    <a:pt x="698020" y="390486"/>
                  </a:cubicBezTo>
                  <a:lnTo>
                    <a:pt x="555750" y="456883"/>
                  </a:lnTo>
                  <a:cubicBezTo>
                    <a:pt x="512206" y="477205"/>
                    <a:pt x="477205" y="512206"/>
                    <a:pt x="456883" y="555750"/>
                  </a:cubicBezTo>
                  <a:lnTo>
                    <a:pt x="390486" y="698020"/>
                  </a:lnTo>
                  <a:cubicBezTo>
                    <a:pt x="384782" y="710242"/>
                    <a:pt x="372515" y="718054"/>
                    <a:pt x="359027" y="718054"/>
                  </a:cubicBezTo>
                  <a:cubicBezTo>
                    <a:pt x="345539" y="718054"/>
                    <a:pt x="333272" y="710242"/>
                    <a:pt x="327568" y="698020"/>
                  </a:cubicBezTo>
                  <a:lnTo>
                    <a:pt x="261171" y="555750"/>
                  </a:lnTo>
                  <a:cubicBezTo>
                    <a:pt x="240849" y="512206"/>
                    <a:pt x="205848" y="477205"/>
                    <a:pt x="162304" y="456883"/>
                  </a:cubicBezTo>
                  <a:lnTo>
                    <a:pt x="20034" y="390486"/>
                  </a:lnTo>
                  <a:cubicBezTo>
                    <a:pt x="7812" y="384782"/>
                    <a:pt x="0" y="372515"/>
                    <a:pt x="0" y="359027"/>
                  </a:cubicBezTo>
                  <a:cubicBezTo>
                    <a:pt x="0" y="345539"/>
                    <a:pt x="7812" y="333272"/>
                    <a:pt x="20034" y="327568"/>
                  </a:cubicBezTo>
                  <a:lnTo>
                    <a:pt x="162304" y="261171"/>
                  </a:lnTo>
                  <a:cubicBezTo>
                    <a:pt x="205848" y="240849"/>
                    <a:pt x="240849" y="205848"/>
                    <a:pt x="261171" y="162304"/>
                  </a:cubicBezTo>
                  <a:lnTo>
                    <a:pt x="327568" y="20034"/>
                  </a:lnTo>
                  <a:cubicBezTo>
                    <a:pt x="333272" y="7812"/>
                    <a:pt x="345539" y="0"/>
                    <a:pt x="359027" y="0"/>
                  </a:cubicBezTo>
                  <a:cubicBezTo>
                    <a:pt x="372515" y="0"/>
                    <a:pt x="384782" y="7812"/>
                    <a:pt x="390486" y="20034"/>
                  </a:cubicBezTo>
                  <a:close/>
                </a:path>
              </a:pathLst>
            </a:custGeom>
            <a:solidFill>
              <a:srgbClr val="FDD2B9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405359" y="3747240"/>
            <a:ext cx="578620" cy="57862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33253" y="33253"/>
              <a:ext cx="746294" cy="746294"/>
            </a:xfrm>
            <a:custGeom>
              <a:avLst/>
              <a:gdLst/>
              <a:ahLst/>
              <a:cxnLst/>
              <a:rect r="r" b="b" t="t" l="l"/>
              <a:pathLst>
                <a:path h="746294" w="746294">
                  <a:moveTo>
                    <a:pt x="429913" y="23513"/>
                  </a:moveTo>
                  <a:lnTo>
                    <a:pt x="722781" y="316381"/>
                  </a:lnTo>
                  <a:cubicBezTo>
                    <a:pt x="737836" y="331436"/>
                    <a:pt x="746294" y="351855"/>
                    <a:pt x="746294" y="373147"/>
                  </a:cubicBezTo>
                  <a:cubicBezTo>
                    <a:pt x="746294" y="394439"/>
                    <a:pt x="737836" y="414858"/>
                    <a:pt x="722781" y="429913"/>
                  </a:cubicBezTo>
                  <a:lnTo>
                    <a:pt x="429913" y="722781"/>
                  </a:lnTo>
                  <a:cubicBezTo>
                    <a:pt x="414858" y="737836"/>
                    <a:pt x="394439" y="746294"/>
                    <a:pt x="373147" y="746294"/>
                  </a:cubicBezTo>
                  <a:cubicBezTo>
                    <a:pt x="351855" y="746294"/>
                    <a:pt x="331436" y="737836"/>
                    <a:pt x="316381" y="722781"/>
                  </a:cubicBezTo>
                  <a:lnTo>
                    <a:pt x="23513" y="429913"/>
                  </a:lnTo>
                  <a:cubicBezTo>
                    <a:pt x="8458" y="414858"/>
                    <a:pt x="0" y="394439"/>
                    <a:pt x="0" y="373147"/>
                  </a:cubicBezTo>
                  <a:cubicBezTo>
                    <a:pt x="0" y="351855"/>
                    <a:pt x="8458" y="331436"/>
                    <a:pt x="23513" y="316381"/>
                  </a:cubicBezTo>
                  <a:lnTo>
                    <a:pt x="316381" y="23513"/>
                  </a:lnTo>
                  <a:cubicBezTo>
                    <a:pt x="331436" y="8458"/>
                    <a:pt x="351855" y="0"/>
                    <a:pt x="373147" y="0"/>
                  </a:cubicBezTo>
                  <a:cubicBezTo>
                    <a:pt x="394439" y="0"/>
                    <a:pt x="414858" y="8458"/>
                    <a:pt x="429913" y="23513"/>
                  </a:cubicBezTo>
                  <a:close/>
                </a:path>
              </a:pathLst>
            </a:custGeom>
            <a:solidFill>
              <a:srgbClr val="D2E3E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306641" y="4732840"/>
            <a:ext cx="478464" cy="47846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0214" y="40214"/>
              <a:ext cx="732372" cy="732372"/>
            </a:xfrm>
            <a:custGeom>
              <a:avLst/>
              <a:gdLst/>
              <a:ahLst/>
              <a:cxnLst/>
              <a:rect r="r" b="b" t="t" l="l"/>
              <a:pathLst>
                <a:path h="732372" w="732372">
                  <a:moveTo>
                    <a:pt x="434835" y="28435"/>
                  </a:moveTo>
                  <a:lnTo>
                    <a:pt x="703937" y="297537"/>
                  </a:lnTo>
                  <a:cubicBezTo>
                    <a:pt x="741851" y="335451"/>
                    <a:pt x="741851" y="396921"/>
                    <a:pt x="703937" y="434835"/>
                  </a:cubicBezTo>
                  <a:lnTo>
                    <a:pt x="434835" y="703937"/>
                  </a:lnTo>
                  <a:cubicBezTo>
                    <a:pt x="396921" y="741851"/>
                    <a:pt x="335451" y="741851"/>
                    <a:pt x="297537" y="703937"/>
                  </a:cubicBezTo>
                  <a:lnTo>
                    <a:pt x="28435" y="434835"/>
                  </a:lnTo>
                  <a:cubicBezTo>
                    <a:pt x="-9479" y="396921"/>
                    <a:pt x="-9479" y="335451"/>
                    <a:pt x="28435" y="297537"/>
                  </a:cubicBezTo>
                  <a:lnTo>
                    <a:pt x="297537" y="28435"/>
                  </a:lnTo>
                  <a:cubicBezTo>
                    <a:pt x="335451" y="-9479"/>
                    <a:pt x="396921" y="-9479"/>
                    <a:pt x="434835" y="28435"/>
                  </a:cubicBezTo>
                  <a:close/>
                </a:path>
              </a:pathLst>
            </a:custGeom>
            <a:solidFill>
              <a:srgbClr val="EBD7E2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097228" y="2661136"/>
            <a:ext cx="246938" cy="24693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9A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853978" y="6822077"/>
            <a:ext cx="246938" cy="246938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D9EDD2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47495" y="8682552"/>
            <a:ext cx="300869" cy="300869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DAC2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434022" y="5200550"/>
            <a:ext cx="11419955" cy="275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3"/>
              </a:lnSpc>
            </a:pPr>
            <a:r>
              <a:rPr lang="en-US" b="true" sz="9679" spc="-474">
                <a:solidFill>
                  <a:srgbClr val="FFDAC2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Chpter 2. </a:t>
            </a:r>
            <a:r>
              <a:rPr lang="en-US" b="true" sz="9679" spc="-474">
                <a:solidFill>
                  <a:srgbClr val="F4E39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논제</a:t>
            </a:r>
            <a:r>
              <a:rPr lang="en-US" b="true" sz="9679" spc="-474">
                <a:solidFill>
                  <a:srgbClr val="FFDAC2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를 알면 </a:t>
            </a:r>
            <a:r>
              <a:rPr lang="en-US" b="true" sz="9679" spc="-474">
                <a:solidFill>
                  <a:srgbClr val="DDBEA9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토론</a:t>
            </a:r>
            <a:r>
              <a:rPr lang="en-US" b="true" sz="9679" spc="-474">
                <a:solidFill>
                  <a:srgbClr val="FFDAC2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이 보인다.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23364" y="3890115"/>
            <a:ext cx="7841273" cy="115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9"/>
              </a:lnSpc>
            </a:pPr>
            <a:r>
              <a:rPr lang="en-US" b="true" sz="8538" spc="-657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오늘의 발제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41460" y="1216522"/>
            <a:ext cx="3405080" cy="44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3"/>
              </a:lnSpc>
              <a:spcBef>
                <a:spcPct val="0"/>
              </a:spcBef>
            </a:pPr>
            <a:r>
              <a:rPr lang="en-US" b="true" sz="2580" spc="-129">
                <a:solidFill>
                  <a:srgbClr val="FFF9AD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토론교육연구회 1단계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664658" y="8022140"/>
            <a:ext cx="3459058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 spc="195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석천중학교 강승아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162117" y="1629825"/>
            <a:ext cx="4116167" cy="44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3"/>
              </a:lnSpc>
              <a:spcBef>
                <a:spcPct val="0"/>
              </a:spcBef>
            </a:pPr>
            <a:r>
              <a:rPr lang="en-US" b="true" sz="2580" spc="-129">
                <a:solidFill>
                  <a:srgbClr val="FFFFFF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토론을 알면 수업이 바뀐다.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211" y="298131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651320" y="3662666"/>
            <a:ext cx="13115528" cy="1188391"/>
            <a:chOff x="0" y="0"/>
            <a:chExt cx="3746293" cy="339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46293" cy="339450"/>
            </a:xfrm>
            <a:custGeom>
              <a:avLst/>
              <a:gdLst/>
              <a:ahLst/>
              <a:cxnLst/>
              <a:rect r="r" b="b" t="t" l="l"/>
              <a:pathLst>
                <a:path h="339450" w="3746293">
                  <a:moveTo>
                    <a:pt x="8854" y="0"/>
                  </a:moveTo>
                  <a:lnTo>
                    <a:pt x="3737439" y="0"/>
                  </a:lnTo>
                  <a:cubicBezTo>
                    <a:pt x="3742329" y="0"/>
                    <a:pt x="3746293" y="3964"/>
                    <a:pt x="3746293" y="8854"/>
                  </a:cubicBezTo>
                  <a:lnTo>
                    <a:pt x="3746293" y="330595"/>
                  </a:lnTo>
                  <a:cubicBezTo>
                    <a:pt x="3746293" y="335485"/>
                    <a:pt x="3742329" y="339450"/>
                    <a:pt x="3737439" y="339450"/>
                  </a:cubicBezTo>
                  <a:lnTo>
                    <a:pt x="8854" y="339450"/>
                  </a:lnTo>
                  <a:cubicBezTo>
                    <a:pt x="3964" y="339450"/>
                    <a:pt x="0" y="335485"/>
                    <a:pt x="0" y="330595"/>
                  </a:cubicBezTo>
                  <a:lnTo>
                    <a:pt x="0" y="8854"/>
                  </a:lnTo>
                  <a:cubicBezTo>
                    <a:pt x="0" y="3964"/>
                    <a:pt x="3964" y="0"/>
                    <a:pt x="8854" y="0"/>
                  </a:cubicBezTo>
                  <a:close/>
                </a:path>
              </a:pathLst>
            </a:custGeom>
            <a:solidFill>
              <a:srgbClr val="FFFAE5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746293" cy="38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51320" y="4986886"/>
            <a:ext cx="13115528" cy="1188391"/>
            <a:chOff x="0" y="0"/>
            <a:chExt cx="3746293" cy="3394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46293" cy="339450"/>
            </a:xfrm>
            <a:custGeom>
              <a:avLst/>
              <a:gdLst/>
              <a:ahLst/>
              <a:cxnLst/>
              <a:rect r="r" b="b" t="t" l="l"/>
              <a:pathLst>
                <a:path h="339450" w="3746293">
                  <a:moveTo>
                    <a:pt x="8854" y="0"/>
                  </a:moveTo>
                  <a:lnTo>
                    <a:pt x="3737439" y="0"/>
                  </a:lnTo>
                  <a:cubicBezTo>
                    <a:pt x="3742329" y="0"/>
                    <a:pt x="3746293" y="3964"/>
                    <a:pt x="3746293" y="8854"/>
                  </a:cubicBezTo>
                  <a:lnTo>
                    <a:pt x="3746293" y="330595"/>
                  </a:lnTo>
                  <a:cubicBezTo>
                    <a:pt x="3746293" y="335485"/>
                    <a:pt x="3742329" y="339450"/>
                    <a:pt x="3737439" y="339450"/>
                  </a:cubicBezTo>
                  <a:lnTo>
                    <a:pt x="8854" y="339450"/>
                  </a:lnTo>
                  <a:cubicBezTo>
                    <a:pt x="3964" y="339450"/>
                    <a:pt x="0" y="335485"/>
                    <a:pt x="0" y="330595"/>
                  </a:cubicBezTo>
                  <a:lnTo>
                    <a:pt x="0" y="8854"/>
                  </a:lnTo>
                  <a:cubicBezTo>
                    <a:pt x="0" y="3964"/>
                    <a:pt x="3964" y="0"/>
                    <a:pt x="8854" y="0"/>
                  </a:cubicBezTo>
                  <a:close/>
                </a:path>
              </a:pathLst>
            </a:custGeom>
            <a:solidFill>
              <a:srgbClr val="FFFAE5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746293" cy="38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651320" y="6308626"/>
            <a:ext cx="13115528" cy="1188391"/>
            <a:chOff x="0" y="0"/>
            <a:chExt cx="3746293" cy="3394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46293" cy="339450"/>
            </a:xfrm>
            <a:custGeom>
              <a:avLst/>
              <a:gdLst/>
              <a:ahLst/>
              <a:cxnLst/>
              <a:rect r="r" b="b" t="t" l="l"/>
              <a:pathLst>
                <a:path h="339450" w="3746293">
                  <a:moveTo>
                    <a:pt x="8854" y="0"/>
                  </a:moveTo>
                  <a:lnTo>
                    <a:pt x="3737439" y="0"/>
                  </a:lnTo>
                  <a:cubicBezTo>
                    <a:pt x="3742329" y="0"/>
                    <a:pt x="3746293" y="3964"/>
                    <a:pt x="3746293" y="8854"/>
                  </a:cubicBezTo>
                  <a:lnTo>
                    <a:pt x="3746293" y="330595"/>
                  </a:lnTo>
                  <a:cubicBezTo>
                    <a:pt x="3746293" y="335485"/>
                    <a:pt x="3742329" y="339450"/>
                    <a:pt x="3737439" y="339450"/>
                  </a:cubicBezTo>
                  <a:lnTo>
                    <a:pt x="8854" y="339450"/>
                  </a:lnTo>
                  <a:cubicBezTo>
                    <a:pt x="3964" y="339450"/>
                    <a:pt x="0" y="335485"/>
                    <a:pt x="0" y="330595"/>
                  </a:cubicBezTo>
                  <a:lnTo>
                    <a:pt x="0" y="8854"/>
                  </a:lnTo>
                  <a:cubicBezTo>
                    <a:pt x="0" y="3964"/>
                    <a:pt x="3964" y="0"/>
                    <a:pt x="8854" y="0"/>
                  </a:cubicBezTo>
                  <a:close/>
                </a:path>
              </a:pathLst>
            </a:custGeom>
            <a:solidFill>
              <a:srgbClr val="FFFAE5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746293" cy="38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949824" y="3924790"/>
            <a:ext cx="681812" cy="68181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39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b="true" sz="2400">
                  <a:solidFill>
                    <a:srgbClr val="25252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949824" y="5249010"/>
            <a:ext cx="681812" cy="68181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39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b="true" sz="2400">
                  <a:solidFill>
                    <a:srgbClr val="25252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949824" y="6570751"/>
            <a:ext cx="681812" cy="68181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39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b="true" sz="2400">
                  <a:solidFill>
                    <a:srgbClr val="25252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6011430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542224" y="2355803"/>
            <a:ext cx="5203551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pc="-369" strike="noStrike" u="none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목차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45815" y="3949149"/>
            <a:ext cx="8506547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spc="-179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질문5) 토론하기 좋은 논제는 어떻게 만드나요?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945815" y="5273369"/>
            <a:ext cx="7211463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spc="-179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질문6) 논제의 유형에는 어떤 것이 있나요?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45815" y="6595110"/>
            <a:ext cx="11081998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spc="-179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질문7) 쟁점을 효과적으로 찾을 수 있는 방법이 있나요?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5011" y="100126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6475355">
            <a:off x="14207921" y="6320197"/>
            <a:ext cx="2159247" cy="2167375"/>
          </a:xfrm>
          <a:custGeom>
            <a:avLst/>
            <a:gdLst/>
            <a:ahLst/>
            <a:cxnLst/>
            <a:rect r="r" b="b" t="t" l="l"/>
            <a:pathLst>
              <a:path h="2167375" w="2159247">
                <a:moveTo>
                  <a:pt x="0" y="0"/>
                </a:moveTo>
                <a:lnTo>
                  <a:pt x="2159247" y="0"/>
                </a:lnTo>
                <a:lnTo>
                  <a:pt x="2159247" y="2167374"/>
                </a:lnTo>
                <a:lnTo>
                  <a:pt x="0" y="2167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406864" y="2545585"/>
            <a:ext cx="847884" cy="84788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4890" y="34890"/>
              <a:ext cx="743021" cy="743021"/>
            </a:xfrm>
            <a:custGeom>
              <a:avLst/>
              <a:gdLst/>
              <a:ahLst/>
              <a:cxnLst/>
              <a:rect r="r" b="b" t="t" l="l"/>
              <a:pathLst>
                <a:path h="743021" w="743021">
                  <a:moveTo>
                    <a:pt x="394679" y="14755"/>
                  </a:moveTo>
                  <a:lnTo>
                    <a:pt x="477656" y="192550"/>
                  </a:lnTo>
                  <a:cubicBezTo>
                    <a:pt x="492623" y="224619"/>
                    <a:pt x="518401" y="250397"/>
                    <a:pt x="550470" y="265364"/>
                  </a:cubicBezTo>
                  <a:lnTo>
                    <a:pt x="728265" y="348341"/>
                  </a:lnTo>
                  <a:cubicBezTo>
                    <a:pt x="737267" y="352542"/>
                    <a:pt x="743020" y="361576"/>
                    <a:pt x="743020" y="371510"/>
                  </a:cubicBezTo>
                  <a:cubicBezTo>
                    <a:pt x="743020" y="381444"/>
                    <a:pt x="737267" y="390478"/>
                    <a:pt x="728265" y="394679"/>
                  </a:cubicBezTo>
                  <a:lnTo>
                    <a:pt x="550470" y="477656"/>
                  </a:lnTo>
                  <a:cubicBezTo>
                    <a:pt x="518401" y="492623"/>
                    <a:pt x="492623" y="518401"/>
                    <a:pt x="477656" y="550470"/>
                  </a:cubicBezTo>
                  <a:lnTo>
                    <a:pt x="394679" y="728265"/>
                  </a:lnTo>
                  <a:cubicBezTo>
                    <a:pt x="390478" y="737267"/>
                    <a:pt x="381444" y="743020"/>
                    <a:pt x="371510" y="743020"/>
                  </a:cubicBezTo>
                  <a:cubicBezTo>
                    <a:pt x="361576" y="743020"/>
                    <a:pt x="352542" y="737267"/>
                    <a:pt x="348341" y="728265"/>
                  </a:cubicBezTo>
                  <a:lnTo>
                    <a:pt x="265364" y="550470"/>
                  </a:lnTo>
                  <a:cubicBezTo>
                    <a:pt x="250397" y="518401"/>
                    <a:pt x="224619" y="492623"/>
                    <a:pt x="192550" y="477656"/>
                  </a:cubicBezTo>
                  <a:lnTo>
                    <a:pt x="14755" y="394679"/>
                  </a:lnTo>
                  <a:cubicBezTo>
                    <a:pt x="5753" y="390478"/>
                    <a:pt x="0" y="381444"/>
                    <a:pt x="0" y="371510"/>
                  </a:cubicBezTo>
                  <a:cubicBezTo>
                    <a:pt x="0" y="361576"/>
                    <a:pt x="5753" y="352542"/>
                    <a:pt x="14755" y="348341"/>
                  </a:cubicBezTo>
                  <a:lnTo>
                    <a:pt x="192550" y="265364"/>
                  </a:lnTo>
                  <a:cubicBezTo>
                    <a:pt x="224619" y="250397"/>
                    <a:pt x="250397" y="224619"/>
                    <a:pt x="265364" y="192550"/>
                  </a:cubicBezTo>
                  <a:lnTo>
                    <a:pt x="348341" y="14755"/>
                  </a:lnTo>
                  <a:cubicBezTo>
                    <a:pt x="352542" y="5753"/>
                    <a:pt x="361576" y="0"/>
                    <a:pt x="371510" y="0"/>
                  </a:cubicBezTo>
                  <a:cubicBezTo>
                    <a:pt x="381444" y="0"/>
                    <a:pt x="390478" y="5753"/>
                    <a:pt x="394679" y="14755"/>
                  </a:cubicBezTo>
                  <a:close/>
                </a:path>
              </a:pathLst>
            </a:custGeom>
            <a:solidFill>
              <a:srgbClr val="FFF9A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02523" y="8292365"/>
            <a:ext cx="624458" cy="62445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7373" y="47373"/>
              <a:ext cx="718054" cy="718054"/>
            </a:xfrm>
            <a:custGeom>
              <a:avLst/>
              <a:gdLst/>
              <a:ahLst/>
              <a:cxnLst/>
              <a:rect r="r" b="b" t="t" l="l"/>
              <a:pathLst>
                <a:path h="718054" w="718054">
                  <a:moveTo>
                    <a:pt x="390486" y="20034"/>
                  </a:moveTo>
                  <a:lnTo>
                    <a:pt x="456883" y="162304"/>
                  </a:lnTo>
                  <a:cubicBezTo>
                    <a:pt x="477205" y="205848"/>
                    <a:pt x="512206" y="240849"/>
                    <a:pt x="555750" y="261171"/>
                  </a:cubicBezTo>
                  <a:lnTo>
                    <a:pt x="698020" y="327568"/>
                  </a:lnTo>
                  <a:cubicBezTo>
                    <a:pt x="710242" y="333272"/>
                    <a:pt x="718054" y="345539"/>
                    <a:pt x="718054" y="359027"/>
                  </a:cubicBezTo>
                  <a:cubicBezTo>
                    <a:pt x="718054" y="372515"/>
                    <a:pt x="710242" y="384782"/>
                    <a:pt x="698020" y="390486"/>
                  </a:cubicBezTo>
                  <a:lnTo>
                    <a:pt x="555750" y="456883"/>
                  </a:lnTo>
                  <a:cubicBezTo>
                    <a:pt x="512206" y="477205"/>
                    <a:pt x="477205" y="512206"/>
                    <a:pt x="456883" y="555750"/>
                  </a:cubicBezTo>
                  <a:lnTo>
                    <a:pt x="390486" y="698020"/>
                  </a:lnTo>
                  <a:cubicBezTo>
                    <a:pt x="384782" y="710242"/>
                    <a:pt x="372515" y="718054"/>
                    <a:pt x="359027" y="718054"/>
                  </a:cubicBezTo>
                  <a:cubicBezTo>
                    <a:pt x="345539" y="718054"/>
                    <a:pt x="333272" y="710242"/>
                    <a:pt x="327568" y="698020"/>
                  </a:cubicBezTo>
                  <a:lnTo>
                    <a:pt x="261171" y="555750"/>
                  </a:lnTo>
                  <a:cubicBezTo>
                    <a:pt x="240849" y="512206"/>
                    <a:pt x="205848" y="477205"/>
                    <a:pt x="162304" y="456883"/>
                  </a:cubicBezTo>
                  <a:lnTo>
                    <a:pt x="20034" y="390486"/>
                  </a:lnTo>
                  <a:cubicBezTo>
                    <a:pt x="7812" y="384782"/>
                    <a:pt x="0" y="372515"/>
                    <a:pt x="0" y="359027"/>
                  </a:cubicBezTo>
                  <a:cubicBezTo>
                    <a:pt x="0" y="345539"/>
                    <a:pt x="7812" y="333272"/>
                    <a:pt x="20034" y="327568"/>
                  </a:cubicBezTo>
                  <a:lnTo>
                    <a:pt x="162304" y="261171"/>
                  </a:lnTo>
                  <a:cubicBezTo>
                    <a:pt x="205848" y="240849"/>
                    <a:pt x="240849" y="205848"/>
                    <a:pt x="261171" y="162304"/>
                  </a:cubicBezTo>
                  <a:lnTo>
                    <a:pt x="327568" y="20034"/>
                  </a:lnTo>
                  <a:cubicBezTo>
                    <a:pt x="333272" y="7812"/>
                    <a:pt x="345539" y="0"/>
                    <a:pt x="359027" y="0"/>
                  </a:cubicBezTo>
                  <a:cubicBezTo>
                    <a:pt x="372515" y="0"/>
                    <a:pt x="384782" y="7812"/>
                    <a:pt x="390486" y="20034"/>
                  </a:cubicBezTo>
                  <a:close/>
                </a:path>
              </a:pathLst>
            </a:custGeom>
            <a:solidFill>
              <a:srgbClr val="FDD2B9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87367" y="1966964"/>
            <a:ext cx="578620" cy="57862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33253" y="33253"/>
              <a:ext cx="746294" cy="746294"/>
            </a:xfrm>
            <a:custGeom>
              <a:avLst/>
              <a:gdLst/>
              <a:ahLst/>
              <a:cxnLst/>
              <a:rect r="r" b="b" t="t" l="l"/>
              <a:pathLst>
                <a:path h="746294" w="746294">
                  <a:moveTo>
                    <a:pt x="429913" y="23513"/>
                  </a:moveTo>
                  <a:lnTo>
                    <a:pt x="722781" y="316381"/>
                  </a:lnTo>
                  <a:cubicBezTo>
                    <a:pt x="737836" y="331436"/>
                    <a:pt x="746294" y="351855"/>
                    <a:pt x="746294" y="373147"/>
                  </a:cubicBezTo>
                  <a:cubicBezTo>
                    <a:pt x="746294" y="394439"/>
                    <a:pt x="737836" y="414858"/>
                    <a:pt x="722781" y="429913"/>
                  </a:cubicBezTo>
                  <a:lnTo>
                    <a:pt x="429913" y="722781"/>
                  </a:lnTo>
                  <a:cubicBezTo>
                    <a:pt x="414858" y="737836"/>
                    <a:pt x="394439" y="746294"/>
                    <a:pt x="373147" y="746294"/>
                  </a:cubicBezTo>
                  <a:cubicBezTo>
                    <a:pt x="351855" y="746294"/>
                    <a:pt x="331436" y="737836"/>
                    <a:pt x="316381" y="722781"/>
                  </a:cubicBezTo>
                  <a:lnTo>
                    <a:pt x="23513" y="429913"/>
                  </a:lnTo>
                  <a:cubicBezTo>
                    <a:pt x="8458" y="414858"/>
                    <a:pt x="0" y="394439"/>
                    <a:pt x="0" y="373147"/>
                  </a:cubicBezTo>
                  <a:cubicBezTo>
                    <a:pt x="0" y="351855"/>
                    <a:pt x="8458" y="331436"/>
                    <a:pt x="23513" y="316381"/>
                  </a:cubicBezTo>
                  <a:lnTo>
                    <a:pt x="316381" y="23513"/>
                  </a:lnTo>
                  <a:cubicBezTo>
                    <a:pt x="331436" y="8458"/>
                    <a:pt x="351855" y="0"/>
                    <a:pt x="373147" y="0"/>
                  </a:cubicBezTo>
                  <a:cubicBezTo>
                    <a:pt x="394439" y="0"/>
                    <a:pt x="414858" y="8458"/>
                    <a:pt x="429913" y="23513"/>
                  </a:cubicBezTo>
                  <a:close/>
                </a:path>
              </a:pathLst>
            </a:custGeom>
            <a:solidFill>
              <a:srgbClr val="D2E3E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9904" y="5892732"/>
            <a:ext cx="478464" cy="47846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0214" y="40214"/>
              <a:ext cx="732372" cy="732372"/>
            </a:xfrm>
            <a:custGeom>
              <a:avLst/>
              <a:gdLst/>
              <a:ahLst/>
              <a:cxnLst/>
              <a:rect r="r" b="b" t="t" l="l"/>
              <a:pathLst>
                <a:path h="732372" w="732372">
                  <a:moveTo>
                    <a:pt x="434835" y="28435"/>
                  </a:moveTo>
                  <a:lnTo>
                    <a:pt x="703937" y="297537"/>
                  </a:lnTo>
                  <a:cubicBezTo>
                    <a:pt x="741851" y="335451"/>
                    <a:pt x="741851" y="396921"/>
                    <a:pt x="703937" y="434835"/>
                  </a:cubicBezTo>
                  <a:lnTo>
                    <a:pt x="434835" y="703937"/>
                  </a:lnTo>
                  <a:cubicBezTo>
                    <a:pt x="396921" y="741851"/>
                    <a:pt x="335451" y="741851"/>
                    <a:pt x="297537" y="703937"/>
                  </a:cubicBezTo>
                  <a:lnTo>
                    <a:pt x="28435" y="434835"/>
                  </a:lnTo>
                  <a:cubicBezTo>
                    <a:pt x="-9479" y="396921"/>
                    <a:pt x="-9479" y="335451"/>
                    <a:pt x="28435" y="297537"/>
                  </a:cubicBezTo>
                  <a:lnTo>
                    <a:pt x="297537" y="28435"/>
                  </a:lnTo>
                  <a:cubicBezTo>
                    <a:pt x="335451" y="-9479"/>
                    <a:pt x="396921" y="-9479"/>
                    <a:pt x="434835" y="28435"/>
                  </a:cubicBezTo>
                  <a:close/>
                </a:path>
              </a:pathLst>
            </a:custGeom>
            <a:solidFill>
              <a:srgbClr val="EBD7E2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855089" y="8292365"/>
            <a:ext cx="246938" cy="24693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9A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736711" y="5892732"/>
            <a:ext cx="300869" cy="300869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DAC2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025864" y="4512586"/>
            <a:ext cx="10071601" cy="20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60"/>
              </a:lnSpc>
            </a:pPr>
            <a:r>
              <a:rPr lang="en-US" b="true" sz="6689" spc="-515" strike="noStrike" u="none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토론하기 좋은 논제는 어떻게 만드나요?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79609" y="3161699"/>
            <a:ext cx="216411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4E39D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질문5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6453" y="1289700"/>
            <a:ext cx="16602737" cy="8479221"/>
            <a:chOff x="0" y="0"/>
            <a:chExt cx="4292677" cy="21923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2678" cy="2192323"/>
            </a:xfrm>
            <a:custGeom>
              <a:avLst/>
              <a:gdLst/>
              <a:ahLst/>
              <a:cxnLst/>
              <a:rect r="r" b="b" t="t" l="l"/>
              <a:pathLst>
                <a:path h="2192323" w="4292678">
                  <a:moveTo>
                    <a:pt x="20517" y="0"/>
                  </a:moveTo>
                  <a:lnTo>
                    <a:pt x="4272160" y="0"/>
                  </a:lnTo>
                  <a:cubicBezTo>
                    <a:pt x="4277602" y="0"/>
                    <a:pt x="4282820" y="2162"/>
                    <a:pt x="4286668" y="6009"/>
                  </a:cubicBezTo>
                  <a:cubicBezTo>
                    <a:pt x="4290516" y="9857"/>
                    <a:pt x="4292678" y="15076"/>
                    <a:pt x="4292678" y="20517"/>
                  </a:cubicBezTo>
                  <a:lnTo>
                    <a:pt x="4292678" y="2171805"/>
                  </a:lnTo>
                  <a:cubicBezTo>
                    <a:pt x="4292678" y="2177247"/>
                    <a:pt x="4290516" y="2182466"/>
                    <a:pt x="4286668" y="2186313"/>
                  </a:cubicBezTo>
                  <a:cubicBezTo>
                    <a:pt x="4282820" y="2190161"/>
                    <a:pt x="4277602" y="2192323"/>
                    <a:pt x="4272160" y="2192323"/>
                  </a:cubicBezTo>
                  <a:lnTo>
                    <a:pt x="20517" y="2192323"/>
                  </a:lnTo>
                  <a:cubicBezTo>
                    <a:pt x="15076" y="2192323"/>
                    <a:pt x="9857" y="2190161"/>
                    <a:pt x="6009" y="2186313"/>
                  </a:cubicBezTo>
                  <a:cubicBezTo>
                    <a:pt x="2162" y="2182466"/>
                    <a:pt x="0" y="2177247"/>
                    <a:pt x="0" y="2171805"/>
                  </a:cubicBezTo>
                  <a:lnTo>
                    <a:pt x="0" y="20517"/>
                  </a:lnTo>
                  <a:cubicBezTo>
                    <a:pt x="0" y="15076"/>
                    <a:pt x="2162" y="9857"/>
                    <a:pt x="6009" y="6009"/>
                  </a:cubicBezTo>
                  <a:cubicBezTo>
                    <a:pt x="9857" y="2162"/>
                    <a:pt x="15076" y="0"/>
                    <a:pt x="20517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252525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92677" cy="2239948"/>
            </a:xfrm>
            <a:prstGeom prst="rect">
              <a:avLst/>
            </a:prstGeom>
          </p:spPr>
          <p:txBody>
            <a:bodyPr anchor="ctr" rtlCol="false" tIns="51747" lIns="51747" bIns="51747" rIns="5174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8832" y="1212078"/>
            <a:ext cx="16602737" cy="8479221"/>
            <a:chOff x="0" y="0"/>
            <a:chExt cx="4292677" cy="21923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92678" cy="2192323"/>
            </a:xfrm>
            <a:custGeom>
              <a:avLst/>
              <a:gdLst/>
              <a:ahLst/>
              <a:cxnLst/>
              <a:rect r="r" b="b" t="t" l="l"/>
              <a:pathLst>
                <a:path h="2192323" w="4292678">
                  <a:moveTo>
                    <a:pt x="19585" y="0"/>
                  </a:moveTo>
                  <a:lnTo>
                    <a:pt x="4273093" y="0"/>
                  </a:lnTo>
                  <a:cubicBezTo>
                    <a:pt x="4278287" y="0"/>
                    <a:pt x="4283268" y="2063"/>
                    <a:pt x="4286941" y="5736"/>
                  </a:cubicBezTo>
                  <a:cubicBezTo>
                    <a:pt x="4290614" y="9409"/>
                    <a:pt x="4292678" y="14391"/>
                    <a:pt x="4292678" y="19585"/>
                  </a:cubicBezTo>
                  <a:lnTo>
                    <a:pt x="4292678" y="2172738"/>
                  </a:lnTo>
                  <a:cubicBezTo>
                    <a:pt x="4292678" y="2177932"/>
                    <a:pt x="4290614" y="2182914"/>
                    <a:pt x="4286941" y="2186586"/>
                  </a:cubicBezTo>
                  <a:cubicBezTo>
                    <a:pt x="4283268" y="2190259"/>
                    <a:pt x="4278287" y="2192323"/>
                    <a:pt x="4273093" y="2192323"/>
                  </a:cubicBezTo>
                  <a:lnTo>
                    <a:pt x="19585" y="2192323"/>
                  </a:lnTo>
                  <a:cubicBezTo>
                    <a:pt x="14391" y="2192323"/>
                    <a:pt x="9409" y="2190259"/>
                    <a:pt x="5736" y="2186586"/>
                  </a:cubicBezTo>
                  <a:cubicBezTo>
                    <a:pt x="2063" y="2182914"/>
                    <a:pt x="0" y="2177932"/>
                    <a:pt x="0" y="2172738"/>
                  </a:cubicBezTo>
                  <a:lnTo>
                    <a:pt x="0" y="19585"/>
                  </a:lnTo>
                  <a:cubicBezTo>
                    <a:pt x="0" y="14391"/>
                    <a:pt x="2063" y="9409"/>
                    <a:pt x="5736" y="5736"/>
                  </a:cubicBezTo>
                  <a:cubicBezTo>
                    <a:pt x="9409" y="2063"/>
                    <a:pt x="14391" y="0"/>
                    <a:pt x="1958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25252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292677" cy="2239948"/>
            </a:xfrm>
            <a:prstGeom prst="rect">
              <a:avLst/>
            </a:prstGeom>
          </p:spPr>
          <p:txBody>
            <a:bodyPr anchor="ctr" rtlCol="false" tIns="51747" lIns="51747" bIns="51747" rIns="5174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6760" y="874819"/>
            <a:ext cx="16602737" cy="8479221"/>
            <a:chOff x="0" y="0"/>
            <a:chExt cx="4292677" cy="21923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2678" cy="2192323"/>
            </a:xfrm>
            <a:custGeom>
              <a:avLst/>
              <a:gdLst/>
              <a:ahLst/>
              <a:cxnLst/>
              <a:rect r="r" b="b" t="t" l="l"/>
              <a:pathLst>
                <a:path h="2192323" w="4292678">
                  <a:moveTo>
                    <a:pt x="18652" y="0"/>
                  </a:moveTo>
                  <a:lnTo>
                    <a:pt x="4274026" y="0"/>
                  </a:lnTo>
                  <a:cubicBezTo>
                    <a:pt x="4278972" y="0"/>
                    <a:pt x="4283716" y="1965"/>
                    <a:pt x="4287214" y="5463"/>
                  </a:cubicBezTo>
                  <a:cubicBezTo>
                    <a:pt x="4290713" y="8961"/>
                    <a:pt x="4292678" y="13705"/>
                    <a:pt x="4292678" y="18652"/>
                  </a:cubicBezTo>
                  <a:lnTo>
                    <a:pt x="4292678" y="2173671"/>
                  </a:lnTo>
                  <a:cubicBezTo>
                    <a:pt x="4292678" y="2183972"/>
                    <a:pt x="4284326" y="2192323"/>
                    <a:pt x="4274026" y="2192323"/>
                  </a:cubicBezTo>
                  <a:lnTo>
                    <a:pt x="18652" y="2192323"/>
                  </a:lnTo>
                  <a:cubicBezTo>
                    <a:pt x="8351" y="2192323"/>
                    <a:pt x="0" y="2183972"/>
                    <a:pt x="0" y="2173671"/>
                  </a:cubicBezTo>
                  <a:lnTo>
                    <a:pt x="0" y="18652"/>
                  </a:lnTo>
                  <a:cubicBezTo>
                    <a:pt x="0" y="8351"/>
                    <a:pt x="8351" y="0"/>
                    <a:pt x="1865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252525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292677" cy="2239948"/>
            </a:xfrm>
            <a:prstGeom prst="rect">
              <a:avLst/>
            </a:prstGeom>
          </p:spPr>
          <p:txBody>
            <a:bodyPr anchor="ctr" rtlCol="false" tIns="51747" lIns="51747" bIns="51747" rIns="5174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98935" y="298131"/>
            <a:ext cx="1130002" cy="1137109"/>
          </a:xfrm>
          <a:custGeom>
            <a:avLst/>
            <a:gdLst/>
            <a:ahLst/>
            <a:cxnLst/>
            <a:rect r="r" b="b" t="t" l="l"/>
            <a:pathLst>
              <a:path h="1137109" w="1130002">
                <a:moveTo>
                  <a:pt x="0" y="0"/>
                </a:moveTo>
                <a:lnTo>
                  <a:pt x="1130002" y="0"/>
                </a:lnTo>
                <a:lnTo>
                  <a:pt x="1130002" y="1137108"/>
                </a:lnTo>
                <a:lnTo>
                  <a:pt x="0" y="1137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53978" y="298131"/>
            <a:ext cx="1130002" cy="1137109"/>
          </a:xfrm>
          <a:custGeom>
            <a:avLst/>
            <a:gdLst/>
            <a:ahLst/>
            <a:cxnLst/>
            <a:rect r="r" b="b" t="t" l="l"/>
            <a:pathLst>
              <a:path h="1137109" w="1130002">
                <a:moveTo>
                  <a:pt x="0" y="0"/>
                </a:moveTo>
                <a:lnTo>
                  <a:pt x="1130001" y="0"/>
                </a:lnTo>
                <a:lnTo>
                  <a:pt x="1130001" y="1137108"/>
                </a:lnTo>
                <a:lnTo>
                  <a:pt x="0" y="1137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5008033" y="1737856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2"/>
                </a:lnTo>
                <a:lnTo>
                  <a:pt x="0" y="563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584770" y="1737856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2"/>
                </a:lnTo>
                <a:lnTo>
                  <a:pt x="0" y="563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86848" y="2570116"/>
            <a:ext cx="4778362" cy="3179780"/>
            <a:chOff x="0" y="0"/>
            <a:chExt cx="1364882" cy="9082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4882" cy="908266"/>
            </a:xfrm>
            <a:custGeom>
              <a:avLst/>
              <a:gdLst/>
              <a:ahLst/>
              <a:cxnLst/>
              <a:rect r="r" b="b" t="t" l="l"/>
              <a:pathLst>
                <a:path h="908266" w="1364882">
                  <a:moveTo>
                    <a:pt x="24303" y="0"/>
                  </a:moveTo>
                  <a:lnTo>
                    <a:pt x="1340579" y="0"/>
                  </a:lnTo>
                  <a:cubicBezTo>
                    <a:pt x="1347025" y="0"/>
                    <a:pt x="1353206" y="2560"/>
                    <a:pt x="1357764" y="7118"/>
                  </a:cubicBezTo>
                  <a:cubicBezTo>
                    <a:pt x="1362321" y="11676"/>
                    <a:pt x="1364882" y="17857"/>
                    <a:pt x="1364882" y="24303"/>
                  </a:cubicBezTo>
                  <a:lnTo>
                    <a:pt x="1364882" y="883963"/>
                  </a:lnTo>
                  <a:cubicBezTo>
                    <a:pt x="1364882" y="890409"/>
                    <a:pt x="1362321" y="896590"/>
                    <a:pt x="1357764" y="901148"/>
                  </a:cubicBezTo>
                  <a:cubicBezTo>
                    <a:pt x="1353206" y="905706"/>
                    <a:pt x="1347025" y="908266"/>
                    <a:pt x="1340579" y="908266"/>
                  </a:cubicBezTo>
                  <a:lnTo>
                    <a:pt x="24303" y="908266"/>
                  </a:lnTo>
                  <a:cubicBezTo>
                    <a:pt x="17857" y="908266"/>
                    <a:pt x="11676" y="905706"/>
                    <a:pt x="7118" y="901148"/>
                  </a:cubicBezTo>
                  <a:cubicBezTo>
                    <a:pt x="2560" y="896590"/>
                    <a:pt x="0" y="890409"/>
                    <a:pt x="0" y="883963"/>
                  </a:cubicBezTo>
                  <a:lnTo>
                    <a:pt x="0" y="24303"/>
                  </a:lnTo>
                  <a:cubicBezTo>
                    <a:pt x="0" y="17857"/>
                    <a:pt x="2560" y="11676"/>
                    <a:pt x="7118" y="7118"/>
                  </a:cubicBezTo>
                  <a:cubicBezTo>
                    <a:pt x="11676" y="2560"/>
                    <a:pt x="17857" y="0"/>
                    <a:pt x="24303" y="0"/>
                  </a:cubicBezTo>
                  <a:close/>
                </a:path>
              </a:pathLst>
            </a:custGeom>
            <a:solidFill>
              <a:srgbClr val="FFFAE5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64882" cy="955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97980" y="2570116"/>
            <a:ext cx="4778362" cy="3179780"/>
            <a:chOff x="0" y="0"/>
            <a:chExt cx="1364882" cy="9082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64882" cy="908266"/>
            </a:xfrm>
            <a:custGeom>
              <a:avLst/>
              <a:gdLst/>
              <a:ahLst/>
              <a:cxnLst/>
              <a:rect r="r" b="b" t="t" l="l"/>
              <a:pathLst>
                <a:path h="908266" w="1364882">
                  <a:moveTo>
                    <a:pt x="24303" y="0"/>
                  </a:moveTo>
                  <a:lnTo>
                    <a:pt x="1340579" y="0"/>
                  </a:lnTo>
                  <a:cubicBezTo>
                    <a:pt x="1347025" y="0"/>
                    <a:pt x="1353206" y="2560"/>
                    <a:pt x="1357764" y="7118"/>
                  </a:cubicBezTo>
                  <a:cubicBezTo>
                    <a:pt x="1362321" y="11676"/>
                    <a:pt x="1364882" y="17857"/>
                    <a:pt x="1364882" y="24303"/>
                  </a:cubicBezTo>
                  <a:lnTo>
                    <a:pt x="1364882" y="883963"/>
                  </a:lnTo>
                  <a:cubicBezTo>
                    <a:pt x="1364882" y="890409"/>
                    <a:pt x="1362321" y="896590"/>
                    <a:pt x="1357764" y="901148"/>
                  </a:cubicBezTo>
                  <a:cubicBezTo>
                    <a:pt x="1353206" y="905706"/>
                    <a:pt x="1347025" y="908266"/>
                    <a:pt x="1340579" y="908266"/>
                  </a:cubicBezTo>
                  <a:lnTo>
                    <a:pt x="24303" y="908266"/>
                  </a:lnTo>
                  <a:cubicBezTo>
                    <a:pt x="17857" y="908266"/>
                    <a:pt x="11676" y="905706"/>
                    <a:pt x="7118" y="901148"/>
                  </a:cubicBezTo>
                  <a:cubicBezTo>
                    <a:pt x="2560" y="896590"/>
                    <a:pt x="0" y="890409"/>
                    <a:pt x="0" y="883963"/>
                  </a:cubicBezTo>
                  <a:lnTo>
                    <a:pt x="0" y="24303"/>
                  </a:lnTo>
                  <a:cubicBezTo>
                    <a:pt x="0" y="17857"/>
                    <a:pt x="2560" y="11676"/>
                    <a:pt x="7118" y="7118"/>
                  </a:cubicBezTo>
                  <a:cubicBezTo>
                    <a:pt x="11676" y="2560"/>
                    <a:pt x="17857" y="0"/>
                    <a:pt x="24303" y="0"/>
                  </a:cubicBezTo>
                  <a:close/>
                </a:path>
              </a:pathLst>
            </a:custGeom>
            <a:solidFill>
              <a:srgbClr val="FFFAE5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364882" cy="955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22110" y="2606518"/>
            <a:ext cx="4892039" cy="3179780"/>
            <a:chOff x="0" y="0"/>
            <a:chExt cx="1397352" cy="9082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7352" cy="908266"/>
            </a:xfrm>
            <a:custGeom>
              <a:avLst/>
              <a:gdLst/>
              <a:ahLst/>
              <a:cxnLst/>
              <a:rect r="r" b="b" t="t" l="l"/>
              <a:pathLst>
                <a:path h="908266" w="1397352">
                  <a:moveTo>
                    <a:pt x="0" y="0"/>
                  </a:moveTo>
                  <a:lnTo>
                    <a:pt x="1397352" y="0"/>
                  </a:lnTo>
                  <a:lnTo>
                    <a:pt x="1397352" y="908266"/>
                  </a:lnTo>
                  <a:lnTo>
                    <a:pt x="0" y="908266"/>
                  </a:lnTo>
                  <a:close/>
                </a:path>
              </a:pathLst>
            </a:custGeom>
            <a:solidFill>
              <a:srgbClr val="FFFAE5"/>
            </a:solidFill>
            <a:ln w="19050" cap="sq">
              <a:solidFill>
                <a:srgbClr val="E6C9B6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397352" cy="955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00525" y="3477679"/>
            <a:ext cx="4551009" cy="1974010"/>
            <a:chOff x="0" y="0"/>
            <a:chExt cx="1299941" cy="563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99941" cy="563852"/>
            </a:xfrm>
            <a:custGeom>
              <a:avLst/>
              <a:gdLst/>
              <a:ahLst/>
              <a:cxnLst/>
              <a:rect r="r" b="b" t="t" l="l"/>
              <a:pathLst>
                <a:path h="563852" w="1299941">
                  <a:moveTo>
                    <a:pt x="25517" y="0"/>
                  </a:moveTo>
                  <a:lnTo>
                    <a:pt x="1274424" y="0"/>
                  </a:lnTo>
                  <a:cubicBezTo>
                    <a:pt x="1281192" y="0"/>
                    <a:pt x="1287682" y="2688"/>
                    <a:pt x="1292467" y="7474"/>
                  </a:cubicBezTo>
                  <a:cubicBezTo>
                    <a:pt x="1297253" y="12259"/>
                    <a:pt x="1299941" y="18750"/>
                    <a:pt x="1299941" y="25517"/>
                  </a:cubicBezTo>
                  <a:lnTo>
                    <a:pt x="1299941" y="538335"/>
                  </a:lnTo>
                  <a:cubicBezTo>
                    <a:pt x="1299941" y="545103"/>
                    <a:pt x="1297253" y="551593"/>
                    <a:pt x="1292467" y="556378"/>
                  </a:cubicBezTo>
                  <a:cubicBezTo>
                    <a:pt x="1287682" y="561164"/>
                    <a:pt x="1281192" y="563852"/>
                    <a:pt x="1274424" y="563852"/>
                  </a:cubicBezTo>
                  <a:lnTo>
                    <a:pt x="25517" y="563852"/>
                  </a:lnTo>
                  <a:cubicBezTo>
                    <a:pt x="18750" y="563852"/>
                    <a:pt x="12259" y="561164"/>
                    <a:pt x="7474" y="556378"/>
                  </a:cubicBezTo>
                  <a:cubicBezTo>
                    <a:pt x="2688" y="551593"/>
                    <a:pt x="0" y="545103"/>
                    <a:pt x="0" y="538335"/>
                  </a:cubicBezTo>
                  <a:lnTo>
                    <a:pt x="0" y="25517"/>
                  </a:lnTo>
                  <a:cubicBezTo>
                    <a:pt x="0" y="18750"/>
                    <a:pt x="2688" y="12259"/>
                    <a:pt x="7474" y="7474"/>
                  </a:cubicBezTo>
                  <a:cubicBezTo>
                    <a:pt x="12259" y="2688"/>
                    <a:pt x="18750" y="0"/>
                    <a:pt x="2551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299941" cy="61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명백한 찬성과 반대가 나올 수 있는 논제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명확한 대립구도 : 쟁점을 선명하게 드러냄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사회자의 유능함이 덜 필요함.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901150" y="3477679"/>
            <a:ext cx="4372024" cy="1983108"/>
            <a:chOff x="0" y="0"/>
            <a:chExt cx="1248816" cy="5664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48816" cy="566451"/>
            </a:xfrm>
            <a:custGeom>
              <a:avLst/>
              <a:gdLst/>
              <a:ahLst/>
              <a:cxnLst/>
              <a:rect r="r" b="b" t="t" l="l"/>
              <a:pathLst>
                <a:path h="566451" w="1248816">
                  <a:moveTo>
                    <a:pt x="26562" y="0"/>
                  </a:moveTo>
                  <a:lnTo>
                    <a:pt x="1222254" y="0"/>
                  </a:lnTo>
                  <a:cubicBezTo>
                    <a:pt x="1236924" y="0"/>
                    <a:pt x="1248816" y="11892"/>
                    <a:pt x="1248816" y="26562"/>
                  </a:cubicBezTo>
                  <a:lnTo>
                    <a:pt x="1248816" y="539889"/>
                  </a:lnTo>
                  <a:cubicBezTo>
                    <a:pt x="1248816" y="546934"/>
                    <a:pt x="1246018" y="553690"/>
                    <a:pt x="1241036" y="558671"/>
                  </a:cubicBezTo>
                  <a:cubicBezTo>
                    <a:pt x="1236055" y="563653"/>
                    <a:pt x="1229299" y="566451"/>
                    <a:pt x="1222254" y="566451"/>
                  </a:cubicBezTo>
                  <a:lnTo>
                    <a:pt x="26562" y="566451"/>
                  </a:lnTo>
                  <a:cubicBezTo>
                    <a:pt x="11892" y="566451"/>
                    <a:pt x="0" y="554559"/>
                    <a:pt x="0" y="539889"/>
                  </a:cubicBezTo>
                  <a:lnTo>
                    <a:pt x="0" y="26562"/>
                  </a:lnTo>
                  <a:cubicBezTo>
                    <a:pt x="0" y="11892"/>
                    <a:pt x="11892" y="0"/>
                    <a:pt x="265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248816" cy="614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한가지 명제만 다루어야 함.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토론의 초점이 흐려지지 않기 위해서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[예] 유전자 정보 은행 구축은 미아찾기와 범죄수사에 도움이 된다.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949464" y="3477679"/>
            <a:ext cx="4551009" cy="1974010"/>
            <a:chOff x="0" y="0"/>
            <a:chExt cx="1299941" cy="5638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99941" cy="563852"/>
            </a:xfrm>
            <a:custGeom>
              <a:avLst/>
              <a:gdLst/>
              <a:ahLst/>
              <a:cxnLst/>
              <a:rect r="r" b="b" t="t" l="l"/>
              <a:pathLst>
                <a:path h="563852" w="1299941">
                  <a:moveTo>
                    <a:pt x="25517" y="0"/>
                  </a:moveTo>
                  <a:lnTo>
                    <a:pt x="1274424" y="0"/>
                  </a:lnTo>
                  <a:cubicBezTo>
                    <a:pt x="1281192" y="0"/>
                    <a:pt x="1287682" y="2688"/>
                    <a:pt x="1292467" y="7474"/>
                  </a:cubicBezTo>
                  <a:cubicBezTo>
                    <a:pt x="1297253" y="12259"/>
                    <a:pt x="1299941" y="18750"/>
                    <a:pt x="1299941" y="25517"/>
                  </a:cubicBezTo>
                  <a:lnTo>
                    <a:pt x="1299941" y="538335"/>
                  </a:lnTo>
                  <a:cubicBezTo>
                    <a:pt x="1299941" y="545103"/>
                    <a:pt x="1297253" y="551593"/>
                    <a:pt x="1292467" y="556378"/>
                  </a:cubicBezTo>
                  <a:cubicBezTo>
                    <a:pt x="1287682" y="561164"/>
                    <a:pt x="1281192" y="563852"/>
                    <a:pt x="1274424" y="563852"/>
                  </a:cubicBezTo>
                  <a:lnTo>
                    <a:pt x="25517" y="563852"/>
                  </a:lnTo>
                  <a:cubicBezTo>
                    <a:pt x="18750" y="563852"/>
                    <a:pt x="12259" y="561164"/>
                    <a:pt x="7474" y="556378"/>
                  </a:cubicBezTo>
                  <a:cubicBezTo>
                    <a:pt x="2688" y="551593"/>
                    <a:pt x="0" y="545103"/>
                    <a:pt x="0" y="538335"/>
                  </a:cubicBezTo>
                  <a:lnTo>
                    <a:pt x="0" y="25517"/>
                  </a:lnTo>
                  <a:cubicBezTo>
                    <a:pt x="0" y="18750"/>
                    <a:pt x="2688" y="12259"/>
                    <a:pt x="7474" y="7474"/>
                  </a:cubicBezTo>
                  <a:cubicBezTo>
                    <a:pt x="12259" y="2688"/>
                    <a:pt x="18750" y="0"/>
                    <a:pt x="2551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C9B6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299941" cy="61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논제에서 다루고자 하는 용어의 해석이나 정의를 분명히 해야 함.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[예] ‘안락사를 허용해야한다’라는 논제에서 ‘안락사란?’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86848" y="6054697"/>
            <a:ext cx="4778362" cy="2864249"/>
            <a:chOff x="0" y="0"/>
            <a:chExt cx="1364882" cy="81813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64882" cy="818138"/>
            </a:xfrm>
            <a:custGeom>
              <a:avLst/>
              <a:gdLst/>
              <a:ahLst/>
              <a:cxnLst/>
              <a:rect r="r" b="b" t="t" l="l"/>
              <a:pathLst>
                <a:path h="818138" w="1364882">
                  <a:moveTo>
                    <a:pt x="24303" y="0"/>
                  </a:moveTo>
                  <a:lnTo>
                    <a:pt x="1340579" y="0"/>
                  </a:lnTo>
                  <a:cubicBezTo>
                    <a:pt x="1347025" y="0"/>
                    <a:pt x="1353206" y="2560"/>
                    <a:pt x="1357764" y="7118"/>
                  </a:cubicBezTo>
                  <a:cubicBezTo>
                    <a:pt x="1362321" y="11676"/>
                    <a:pt x="1364882" y="17857"/>
                    <a:pt x="1364882" y="24303"/>
                  </a:cubicBezTo>
                  <a:lnTo>
                    <a:pt x="1364882" y="793835"/>
                  </a:lnTo>
                  <a:cubicBezTo>
                    <a:pt x="1364882" y="807258"/>
                    <a:pt x="1354001" y="818138"/>
                    <a:pt x="1340579" y="818138"/>
                  </a:cubicBezTo>
                  <a:lnTo>
                    <a:pt x="24303" y="818138"/>
                  </a:lnTo>
                  <a:cubicBezTo>
                    <a:pt x="17857" y="818138"/>
                    <a:pt x="11676" y="815578"/>
                    <a:pt x="7118" y="811020"/>
                  </a:cubicBezTo>
                  <a:cubicBezTo>
                    <a:pt x="2560" y="806463"/>
                    <a:pt x="0" y="800281"/>
                    <a:pt x="0" y="793835"/>
                  </a:cubicBezTo>
                  <a:lnTo>
                    <a:pt x="0" y="24303"/>
                  </a:lnTo>
                  <a:cubicBezTo>
                    <a:pt x="0" y="17857"/>
                    <a:pt x="2560" y="11676"/>
                    <a:pt x="7118" y="7118"/>
                  </a:cubicBezTo>
                  <a:cubicBezTo>
                    <a:pt x="11676" y="2560"/>
                    <a:pt x="17857" y="0"/>
                    <a:pt x="24303" y="0"/>
                  </a:cubicBezTo>
                  <a:close/>
                </a:path>
              </a:pathLst>
            </a:custGeom>
            <a:solidFill>
              <a:srgbClr val="F2F9FD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364882" cy="865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00525" y="6825706"/>
            <a:ext cx="4437332" cy="1785103"/>
            <a:chOff x="0" y="0"/>
            <a:chExt cx="1267471" cy="50989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67471" cy="509893"/>
            </a:xfrm>
            <a:custGeom>
              <a:avLst/>
              <a:gdLst/>
              <a:ahLst/>
              <a:cxnLst/>
              <a:rect r="r" b="b" t="t" l="l"/>
              <a:pathLst>
                <a:path h="509893" w="1267471">
                  <a:moveTo>
                    <a:pt x="26171" y="0"/>
                  </a:moveTo>
                  <a:lnTo>
                    <a:pt x="1241300" y="0"/>
                  </a:lnTo>
                  <a:cubicBezTo>
                    <a:pt x="1248241" y="0"/>
                    <a:pt x="1254897" y="2757"/>
                    <a:pt x="1259805" y="7665"/>
                  </a:cubicBezTo>
                  <a:cubicBezTo>
                    <a:pt x="1264713" y="12573"/>
                    <a:pt x="1267471" y="19230"/>
                    <a:pt x="1267471" y="26171"/>
                  </a:cubicBezTo>
                  <a:lnTo>
                    <a:pt x="1267471" y="483722"/>
                  </a:lnTo>
                  <a:cubicBezTo>
                    <a:pt x="1267471" y="498176"/>
                    <a:pt x="1255754" y="509893"/>
                    <a:pt x="1241300" y="509893"/>
                  </a:cubicBezTo>
                  <a:lnTo>
                    <a:pt x="26171" y="509893"/>
                  </a:lnTo>
                  <a:cubicBezTo>
                    <a:pt x="11717" y="509893"/>
                    <a:pt x="0" y="498176"/>
                    <a:pt x="0" y="483722"/>
                  </a:cubicBezTo>
                  <a:lnTo>
                    <a:pt x="0" y="26171"/>
                  </a:lnTo>
                  <a:cubicBezTo>
                    <a:pt x="0" y="11717"/>
                    <a:pt x="11717" y="0"/>
                    <a:pt x="2617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267471" cy="557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현실의 문제점을 개선하고 해결하려는 현실 개혁적 토론의 정신을 보여줌.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토론 과정을 통한 현실의 문제를 정확히 인식할 수 있음. 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778948" y="6016597"/>
            <a:ext cx="4778362" cy="2755052"/>
            <a:chOff x="0" y="0"/>
            <a:chExt cx="1364882" cy="7869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64882" cy="786947"/>
            </a:xfrm>
            <a:custGeom>
              <a:avLst/>
              <a:gdLst/>
              <a:ahLst/>
              <a:cxnLst/>
              <a:rect r="r" b="b" t="t" l="l"/>
              <a:pathLst>
                <a:path h="786947" w="1364882">
                  <a:moveTo>
                    <a:pt x="0" y="0"/>
                  </a:moveTo>
                  <a:lnTo>
                    <a:pt x="1364882" y="0"/>
                  </a:lnTo>
                  <a:lnTo>
                    <a:pt x="1364882" y="786947"/>
                  </a:lnTo>
                  <a:lnTo>
                    <a:pt x="0" y="786947"/>
                  </a:lnTo>
                  <a:close/>
                </a:path>
              </a:pathLst>
            </a:custGeom>
            <a:solidFill>
              <a:srgbClr val="FFF3EB"/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364882" cy="83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602301" y="6016597"/>
            <a:ext cx="4778362" cy="2755052"/>
            <a:chOff x="0" y="0"/>
            <a:chExt cx="1364882" cy="78694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64882" cy="786947"/>
            </a:xfrm>
            <a:custGeom>
              <a:avLst/>
              <a:gdLst/>
              <a:ahLst/>
              <a:cxnLst/>
              <a:rect r="r" b="b" t="t" l="l"/>
              <a:pathLst>
                <a:path h="786947" w="1364882">
                  <a:moveTo>
                    <a:pt x="24303" y="0"/>
                  </a:moveTo>
                  <a:lnTo>
                    <a:pt x="1340579" y="0"/>
                  </a:lnTo>
                  <a:cubicBezTo>
                    <a:pt x="1347025" y="0"/>
                    <a:pt x="1353206" y="2560"/>
                    <a:pt x="1357764" y="7118"/>
                  </a:cubicBezTo>
                  <a:cubicBezTo>
                    <a:pt x="1362321" y="11676"/>
                    <a:pt x="1364882" y="17857"/>
                    <a:pt x="1364882" y="24303"/>
                  </a:cubicBezTo>
                  <a:lnTo>
                    <a:pt x="1364882" y="762644"/>
                  </a:lnTo>
                  <a:cubicBezTo>
                    <a:pt x="1364882" y="776067"/>
                    <a:pt x="1354001" y="786947"/>
                    <a:pt x="1340579" y="786947"/>
                  </a:cubicBezTo>
                  <a:lnTo>
                    <a:pt x="24303" y="786947"/>
                  </a:lnTo>
                  <a:cubicBezTo>
                    <a:pt x="17857" y="786947"/>
                    <a:pt x="11676" y="784387"/>
                    <a:pt x="7118" y="779829"/>
                  </a:cubicBezTo>
                  <a:cubicBezTo>
                    <a:pt x="2560" y="775272"/>
                    <a:pt x="0" y="769090"/>
                    <a:pt x="0" y="762644"/>
                  </a:cubicBezTo>
                  <a:lnTo>
                    <a:pt x="0" y="24303"/>
                  </a:lnTo>
                  <a:cubicBezTo>
                    <a:pt x="0" y="17857"/>
                    <a:pt x="2560" y="11676"/>
                    <a:pt x="7118" y="7118"/>
                  </a:cubicBezTo>
                  <a:cubicBezTo>
                    <a:pt x="11676" y="2560"/>
                    <a:pt x="17857" y="0"/>
                    <a:pt x="24303" y="0"/>
                  </a:cubicBezTo>
                  <a:close/>
                </a:path>
              </a:pathLst>
            </a:custGeom>
            <a:solidFill>
              <a:srgbClr val="F2F9FD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364882" cy="83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805470" y="6825706"/>
            <a:ext cx="4372024" cy="1785103"/>
            <a:chOff x="0" y="0"/>
            <a:chExt cx="1248816" cy="50989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48816" cy="509893"/>
            </a:xfrm>
            <a:custGeom>
              <a:avLst/>
              <a:gdLst/>
              <a:ahLst/>
              <a:cxnLst/>
              <a:rect r="r" b="b" t="t" l="l"/>
              <a:pathLst>
                <a:path h="509893" w="1248816">
                  <a:moveTo>
                    <a:pt x="26562" y="0"/>
                  </a:moveTo>
                  <a:lnTo>
                    <a:pt x="1222254" y="0"/>
                  </a:lnTo>
                  <a:cubicBezTo>
                    <a:pt x="1236924" y="0"/>
                    <a:pt x="1248816" y="11892"/>
                    <a:pt x="1248816" y="26562"/>
                  </a:cubicBezTo>
                  <a:lnTo>
                    <a:pt x="1248816" y="483331"/>
                  </a:lnTo>
                  <a:cubicBezTo>
                    <a:pt x="1248816" y="498001"/>
                    <a:pt x="1236924" y="509893"/>
                    <a:pt x="1222254" y="509893"/>
                  </a:cubicBezTo>
                  <a:lnTo>
                    <a:pt x="26562" y="509893"/>
                  </a:lnTo>
                  <a:cubicBezTo>
                    <a:pt x="11892" y="509893"/>
                    <a:pt x="0" y="498001"/>
                    <a:pt x="0" y="483331"/>
                  </a:cubicBezTo>
                  <a:lnTo>
                    <a:pt x="0" y="26562"/>
                  </a:lnTo>
                  <a:cubicBezTo>
                    <a:pt x="0" y="11892"/>
                    <a:pt x="11892" y="0"/>
                    <a:pt x="265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248816" cy="557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입장에 상관없이 공정하고 평등한 기회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어느 측 주장과 근거가 더욱 설득력을 지니는지 청중 또는 판정단이 판단하게 하는 것이 중요 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82118" y="6825706"/>
            <a:ext cx="4372024" cy="1785103"/>
            <a:chOff x="0" y="0"/>
            <a:chExt cx="1248816" cy="50989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8816" cy="509893"/>
            </a:xfrm>
            <a:custGeom>
              <a:avLst/>
              <a:gdLst/>
              <a:ahLst/>
              <a:cxnLst/>
              <a:rect r="r" b="b" t="t" l="l"/>
              <a:pathLst>
                <a:path h="509893" w="1248816">
                  <a:moveTo>
                    <a:pt x="26562" y="0"/>
                  </a:moveTo>
                  <a:lnTo>
                    <a:pt x="1222254" y="0"/>
                  </a:lnTo>
                  <a:cubicBezTo>
                    <a:pt x="1236924" y="0"/>
                    <a:pt x="1248816" y="11892"/>
                    <a:pt x="1248816" y="26562"/>
                  </a:cubicBezTo>
                  <a:lnTo>
                    <a:pt x="1248816" y="483331"/>
                  </a:lnTo>
                  <a:cubicBezTo>
                    <a:pt x="1248816" y="498001"/>
                    <a:pt x="1236924" y="509893"/>
                    <a:pt x="1222254" y="509893"/>
                  </a:cubicBezTo>
                  <a:lnTo>
                    <a:pt x="26562" y="509893"/>
                  </a:lnTo>
                  <a:cubicBezTo>
                    <a:pt x="11892" y="509893"/>
                    <a:pt x="0" y="498001"/>
                    <a:pt x="0" y="483331"/>
                  </a:cubicBezTo>
                  <a:lnTo>
                    <a:pt x="0" y="26562"/>
                  </a:lnTo>
                  <a:cubicBezTo>
                    <a:pt x="0" y="11892"/>
                    <a:pt x="11892" y="0"/>
                    <a:pt x="265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8816" cy="557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학교급, 성별, 전공 분야, 세대 등에 따라 달라지는 관심과 흥미를 반영한 논제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학생의 자발적 참여를 이끌어냄. 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0246311" y="4824818"/>
            <a:ext cx="334136" cy="318682"/>
          </a:xfrm>
          <a:custGeom>
            <a:avLst/>
            <a:gdLst/>
            <a:ahLst/>
            <a:cxnLst/>
            <a:rect r="r" b="b" t="t" l="l"/>
            <a:pathLst>
              <a:path h="318682" w="334136">
                <a:moveTo>
                  <a:pt x="0" y="0"/>
                </a:moveTo>
                <a:lnTo>
                  <a:pt x="334136" y="0"/>
                </a:lnTo>
                <a:lnTo>
                  <a:pt x="334136" y="318682"/>
                </a:lnTo>
                <a:lnTo>
                  <a:pt x="0" y="318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5294049" y="1496665"/>
            <a:ext cx="8007544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pc="-369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논제를 만들 때 지켜야 할 원칙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185258" y="2822102"/>
            <a:ext cx="3581543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 spc="-156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찬반 대립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462601" y="2822102"/>
            <a:ext cx="3581543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 spc="-156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하나의 주장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571718" y="2822102"/>
            <a:ext cx="3581543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 spc="-156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구체적 /분명한 내용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422688" y="6344376"/>
            <a:ext cx="358154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 spc="-156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현 상태의 변화 의도 포함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296390" y="6195874"/>
            <a:ext cx="358154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 spc="-156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공정성 유지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402437" y="6195874"/>
            <a:ext cx="358154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 spc="-156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학생의 관심과 흥미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5011" y="100126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6475355">
            <a:off x="14207921" y="6320197"/>
            <a:ext cx="2159247" cy="2167375"/>
          </a:xfrm>
          <a:custGeom>
            <a:avLst/>
            <a:gdLst/>
            <a:ahLst/>
            <a:cxnLst/>
            <a:rect r="r" b="b" t="t" l="l"/>
            <a:pathLst>
              <a:path h="2167375" w="2159247">
                <a:moveTo>
                  <a:pt x="0" y="0"/>
                </a:moveTo>
                <a:lnTo>
                  <a:pt x="2159247" y="0"/>
                </a:lnTo>
                <a:lnTo>
                  <a:pt x="2159247" y="2167374"/>
                </a:lnTo>
                <a:lnTo>
                  <a:pt x="0" y="2167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406864" y="2545585"/>
            <a:ext cx="847884" cy="84788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4890" y="34890"/>
              <a:ext cx="743021" cy="743021"/>
            </a:xfrm>
            <a:custGeom>
              <a:avLst/>
              <a:gdLst/>
              <a:ahLst/>
              <a:cxnLst/>
              <a:rect r="r" b="b" t="t" l="l"/>
              <a:pathLst>
                <a:path h="743021" w="743021">
                  <a:moveTo>
                    <a:pt x="394679" y="14755"/>
                  </a:moveTo>
                  <a:lnTo>
                    <a:pt x="477656" y="192550"/>
                  </a:lnTo>
                  <a:cubicBezTo>
                    <a:pt x="492623" y="224619"/>
                    <a:pt x="518401" y="250397"/>
                    <a:pt x="550470" y="265364"/>
                  </a:cubicBezTo>
                  <a:lnTo>
                    <a:pt x="728265" y="348341"/>
                  </a:lnTo>
                  <a:cubicBezTo>
                    <a:pt x="737267" y="352542"/>
                    <a:pt x="743020" y="361576"/>
                    <a:pt x="743020" y="371510"/>
                  </a:cubicBezTo>
                  <a:cubicBezTo>
                    <a:pt x="743020" y="381444"/>
                    <a:pt x="737267" y="390478"/>
                    <a:pt x="728265" y="394679"/>
                  </a:cubicBezTo>
                  <a:lnTo>
                    <a:pt x="550470" y="477656"/>
                  </a:lnTo>
                  <a:cubicBezTo>
                    <a:pt x="518401" y="492623"/>
                    <a:pt x="492623" y="518401"/>
                    <a:pt x="477656" y="550470"/>
                  </a:cubicBezTo>
                  <a:lnTo>
                    <a:pt x="394679" y="728265"/>
                  </a:lnTo>
                  <a:cubicBezTo>
                    <a:pt x="390478" y="737267"/>
                    <a:pt x="381444" y="743020"/>
                    <a:pt x="371510" y="743020"/>
                  </a:cubicBezTo>
                  <a:cubicBezTo>
                    <a:pt x="361576" y="743020"/>
                    <a:pt x="352542" y="737267"/>
                    <a:pt x="348341" y="728265"/>
                  </a:cubicBezTo>
                  <a:lnTo>
                    <a:pt x="265364" y="550470"/>
                  </a:lnTo>
                  <a:cubicBezTo>
                    <a:pt x="250397" y="518401"/>
                    <a:pt x="224619" y="492623"/>
                    <a:pt x="192550" y="477656"/>
                  </a:cubicBezTo>
                  <a:lnTo>
                    <a:pt x="14755" y="394679"/>
                  </a:lnTo>
                  <a:cubicBezTo>
                    <a:pt x="5753" y="390478"/>
                    <a:pt x="0" y="381444"/>
                    <a:pt x="0" y="371510"/>
                  </a:cubicBezTo>
                  <a:cubicBezTo>
                    <a:pt x="0" y="361576"/>
                    <a:pt x="5753" y="352542"/>
                    <a:pt x="14755" y="348341"/>
                  </a:cubicBezTo>
                  <a:lnTo>
                    <a:pt x="192550" y="265364"/>
                  </a:lnTo>
                  <a:cubicBezTo>
                    <a:pt x="224619" y="250397"/>
                    <a:pt x="250397" y="224619"/>
                    <a:pt x="265364" y="192550"/>
                  </a:cubicBezTo>
                  <a:lnTo>
                    <a:pt x="348341" y="14755"/>
                  </a:lnTo>
                  <a:cubicBezTo>
                    <a:pt x="352542" y="5753"/>
                    <a:pt x="361576" y="0"/>
                    <a:pt x="371510" y="0"/>
                  </a:cubicBezTo>
                  <a:cubicBezTo>
                    <a:pt x="381444" y="0"/>
                    <a:pt x="390478" y="5753"/>
                    <a:pt x="394679" y="14755"/>
                  </a:cubicBezTo>
                  <a:close/>
                </a:path>
              </a:pathLst>
            </a:custGeom>
            <a:solidFill>
              <a:srgbClr val="FFF9A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02523" y="8292365"/>
            <a:ext cx="624458" cy="62445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7373" y="47373"/>
              <a:ext cx="718054" cy="718054"/>
            </a:xfrm>
            <a:custGeom>
              <a:avLst/>
              <a:gdLst/>
              <a:ahLst/>
              <a:cxnLst/>
              <a:rect r="r" b="b" t="t" l="l"/>
              <a:pathLst>
                <a:path h="718054" w="718054">
                  <a:moveTo>
                    <a:pt x="390486" y="20034"/>
                  </a:moveTo>
                  <a:lnTo>
                    <a:pt x="456883" y="162304"/>
                  </a:lnTo>
                  <a:cubicBezTo>
                    <a:pt x="477205" y="205848"/>
                    <a:pt x="512206" y="240849"/>
                    <a:pt x="555750" y="261171"/>
                  </a:cubicBezTo>
                  <a:lnTo>
                    <a:pt x="698020" y="327568"/>
                  </a:lnTo>
                  <a:cubicBezTo>
                    <a:pt x="710242" y="333272"/>
                    <a:pt x="718054" y="345539"/>
                    <a:pt x="718054" y="359027"/>
                  </a:cubicBezTo>
                  <a:cubicBezTo>
                    <a:pt x="718054" y="372515"/>
                    <a:pt x="710242" y="384782"/>
                    <a:pt x="698020" y="390486"/>
                  </a:cubicBezTo>
                  <a:lnTo>
                    <a:pt x="555750" y="456883"/>
                  </a:lnTo>
                  <a:cubicBezTo>
                    <a:pt x="512206" y="477205"/>
                    <a:pt x="477205" y="512206"/>
                    <a:pt x="456883" y="555750"/>
                  </a:cubicBezTo>
                  <a:lnTo>
                    <a:pt x="390486" y="698020"/>
                  </a:lnTo>
                  <a:cubicBezTo>
                    <a:pt x="384782" y="710242"/>
                    <a:pt x="372515" y="718054"/>
                    <a:pt x="359027" y="718054"/>
                  </a:cubicBezTo>
                  <a:cubicBezTo>
                    <a:pt x="345539" y="718054"/>
                    <a:pt x="333272" y="710242"/>
                    <a:pt x="327568" y="698020"/>
                  </a:cubicBezTo>
                  <a:lnTo>
                    <a:pt x="261171" y="555750"/>
                  </a:lnTo>
                  <a:cubicBezTo>
                    <a:pt x="240849" y="512206"/>
                    <a:pt x="205848" y="477205"/>
                    <a:pt x="162304" y="456883"/>
                  </a:cubicBezTo>
                  <a:lnTo>
                    <a:pt x="20034" y="390486"/>
                  </a:lnTo>
                  <a:cubicBezTo>
                    <a:pt x="7812" y="384782"/>
                    <a:pt x="0" y="372515"/>
                    <a:pt x="0" y="359027"/>
                  </a:cubicBezTo>
                  <a:cubicBezTo>
                    <a:pt x="0" y="345539"/>
                    <a:pt x="7812" y="333272"/>
                    <a:pt x="20034" y="327568"/>
                  </a:cubicBezTo>
                  <a:lnTo>
                    <a:pt x="162304" y="261171"/>
                  </a:lnTo>
                  <a:cubicBezTo>
                    <a:pt x="205848" y="240849"/>
                    <a:pt x="240849" y="205848"/>
                    <a:pt x="261171" y="162304"/>
                  </a:cubicBezTo>
                  <a:lnTo>
                    <a:pt x="327568" y="20034"/>
                  </a:lnTo>
                  <a:cubicBezTo>
                    <a:pt x="333272" y="7812"/>
                    <a:pt x="345539" y="0"/>
                    <a:pt x="359027" y="0"/>
                  </a:cubicBezTo>
                  <a:cubicBezTo>
                    <a:pt x="372515" y="0"/>
                    <a:pt x="384782" y="7812"/>
                    <a:pt x="390486" y="20034"/>
                  </a:cubicBezTo>
                  <a:close/>
                </a:path>
              </a:pathLst>
            </a:custGeom>
            <a:solidFill>
              <a:srgbClr val="FDD2B9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87367" y="1966964"/>
            <a:ext cx="578620" cy="57862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33253" y="33253"/>
              <a:ext cx="746294" cy="746294"/>
            </a:xfrm>
            <a:custGeom>
              <a:avLst/>
              <a:gdLst/>
              <a:ahLst/>
              <a:cxnLst/>
              <a:rect r="r" b="b" t="t" l="l"/>
              <a:pathLst>
                <a:path h="746294" w="746294">
                  <a:moveTo>
                    <a:pt x="429913" y="23513"/>
                  </a:moveTo>
                  <a:lnTo>
                    <a:pt x="722781" y="316381"/>
                  </a:lnTo>
                  <a:cubicBezTo>
                    <a:pt x="737836" y="331436"/>
                    <a:pt x="746294" y="351855"/>
                    <a:pt x="746294" y="373147"/>
                  </a:cubicBezTo>
                  <a:cubicBezTo>
                    <a:pt x="746294" y="394439"/>
                    <a:pt x="737836" y="414858"/>
                    <a:pt x="722781" y="429913"/>
                  </a:cubicBezTo>
                  <a:lnTo>
                    <a:pt x="429913" y="722781"/>
                  </a:lnTo>
                  <a:cubicBezTo>
                    <a:pt x="414858" y="737836"/>
                    <a:pt x="394439" y="746294"/>
                    <a:pt x="373147" y="746294"/>
                  </a:cubicBezTo>
                  <a:cubicBezTo>
                    <a:pt x="351855" y="746294"/>
                    <a:pt x="331436" y="737836"/>
                    <a:pt x="316381" y="722781"/>
                  </a:cubicBezTo>
                  <a:lnTo>
                    <a:pt x="23513" y="429913"/>
                  </a:lnTo>
                  <a:cubicBezTo>
                    <a:pt x="8458" y="414858"/>
                    <a:pt x="0" y="394439"/>
                    <a:pt x="0" y="373147"/>
                  </a:cubicBezTo>
                  <a:cubicBezTo>
                    <a:pt x="0" y="351855"/>
                    <a:pt x="8458" y="331436"/>
                    <a:pt x="23513" y="316381"/>
                  </a:cubicBezTo>
                  <a:lnTo>
                    <a:pt x="316381" y="23513"/>
                  </a:lnTo>
                  <a:cubicBezTo>
                    <a:pt x="331436" y="8458"/>
                    <a:pt x="351855" y="0"/>
                    <a:pt x="373147" y="0"/>
                  </a:cubicBezTo>
                  <a:cubicBezTo>
                    <a:pt x="394439" y="0"/>
                    <a:pt x="414858" y="8458"/>
                    <a:pt x="429913" y="23513"/>
                  </a:cubicBezTo>
                  <a:close/>
                </a:path>
              </a:pathLst>
            </a:custGeom>
            <a:solidFill>
              <a:srgbClr val="D2E3E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9904" y="5892732"/>
            <a:ext cx="478464" cy="47846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0214" y="40214"/>
              <a:ext cx="732372" cy="732372"/>
            </a:xfrm>
            <a:custGeom>
              <a:avLst/>
              <a:gdLst/>
              <a:ahLst/>
              <a:cxnLst/>
              <a:rect r="r" b="b" t="t" l="l"/>
              <a:pathLst>
                <a:path h="732372" w="732372">
                  <a:moveTo>
                    <a:pt x="434835" y="28435"/>
                  </a:moveTo>
                  <a:lnTo>
                    <a:pt x="703937" y="297537"/>
                  </a:lnTo>
                  <a:cubicBezTo>
                    <a:pt x="741851" y="335451"/>
                    <a:pt x="741851" y="396921"/>
                    <a:pt x="703937" y="434835"/>
                  </a:cubicBezTo>
                  <a:lnTo>
                    <a:pt x="434835" y="703937"/>
                  </a:lnTo>
                  <a:cubicBezTo>
                    <a:pt x="396921" y="741851"/>
                    <a:pt x="335451" y="741851"/>
                    <a:pt x="297537" y="703937"/>
                  </a:cubicBezTo>
                  <a:lnTo>
                    <a:pt x="28435" y="434835"/>
                  </a:lnTo>
                  <a:cubicBezTo>
                    <a:pt x="-9479" y="396921"/>
                    <a:pt x="-9479" y="335451"/>
                    <a:pt x="28435" y="297537"/>
                  </a:cubicBezTo>
                  <a:lnTo>
                    <a:pt x="297537" y="28435"/>
                  </a:lnTo>
                  <a:cubicBezTo>
                    <a:pt x="335451" y="-9479"/>
                    <a:pt x="396921" y="-9479"/>
                    <a:pt x="434835" y="28435"/>
                  </a:cubicBezTo>
                  <a:close/>
                </a:path>
              </a:pathLst>
            </a:custGeom>
            <a:solidFill>
              <a:srgbClr val="EBD7E2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855089" y="8292365"/>
            <a:ext cx="246938" cy="24693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9A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736711" y="5892732"/>
            <a:ext cx="300869" cy="300869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DAC2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025864" y="4512586"/>
            <a:ext cx="9527087" cy="20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60"/>
              </a:lnSpc>
            </a:pPr>
            <a:r>
              <a:rPr lang="en-US" b="true" sz="6689" spc="-515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논제의 유형에는 어떤 것이 있나요?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67405" y="3161699"/>
            <a:ext cx="218851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4E39D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질문6 </a:t>
            </a:r>
          </a:p>
        </p:txBody>
      </p:sp>
    </p:spTree>
  </p:cSld>
  <p:clrMapOvr>
    <a:masterClrMapping/>
  </p:clrMapOvr>
  <p:transition spd="fast">
    <p:wipe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211" y="298131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903969" y="4391128"/>
            <a:ext cx="4731625" cy="3845681"/>
            <a:chOff x="0" y="0"/>
            <a:chExt cx="1351532" cy="10984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1532" cy="1098473"/>
            </a:xfrm>
            <a:custGeom>
              <a:avLst/>
              <a:gdLst/>
              <a:ahLst/>
              <a:cxnLst/>
              <a:rect r="r" b="b" t="t" l="l"/>
              <a:pathLst>
                <a:path h="1098473" w="1351532">
                  <a:moveTo>
                    <a:pt x="24543" y="0"/>
                  </a:moveTo>
                  <a:lnTo>
                    <a:pt x="1326989" y="0"/>
                  </a:lnTo>
                  <a:cubicBezTo>
                    <a:pt x="1340544" y="0"/>
                    <a:pt x="1351532" y="10988"/>
                    <a:pt x="1351532" y="24543"/>
                  </a:cubicBezTo>
                  <a:lnTo>
                    <a:pt x="1351532" y="1073930"/>
                  </a:lnTo>
                  <a:cubicBezTo>
                    <a:pt x="1351532" y="1087484"/>
                    <a:pt x="1340544" y="1098473"/>
                    <a:pt x="1326989" y="1098473"/>
                  </a:cubicBezTo>
                  <a:lnTo>
                    <a:pt x="24543" y="1098473"/>
                  </a:lnTo>
                  <a:cubicBezTo>
                    <a:pt x="18034" y="1098473"/>
                    <a:pt x="11791" y="1095887"/>
                    <a:pt x="7189" y="1091284"/>
                  </a:cubicBezTo>
                  <a:cubicBezTo>
                    <a:pt x="2586" y="1086682"/>
                    <a:pt x="0" y="1080439"/>
                    <a:pt x="0" y="1073930"/>
                  </a:cubicBezTo>
                  <a:lnTo>
                    <a:pt x="0" y="24543"/>
                  </a:lnTo>
                  <a:cubicBezTo>
                    <a:pt x="0" y="10988"/>
                    <a:pt x="10988" y="0"/>
                    <a:pt x="24543" y="0"/>
                  </a:cubicBezTo>
                  <a:close/>
                </a:path>
              </a:pathLst>
            </a:custGeom>
            <a:solidFill>
              <a:srgbClr val="FFF3EB"/>
            </a:solidFill>
            <a:ln w="19050" cap="sq">
              <a:solidFill>
                <a:srgbClr val="E6C9B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51532" cy="1146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74161" y="4391128"/>
            <a:ext cx="4731625" cy="3845681"/>
            <a:chOff x="0" y="0"/>
            <a:chExt cx="1351532" cy="10984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532" cy="1098473"/>
            </a:xfrm>
            <a:custGeom>
              <a:avLst/>
              <a:gdLst/>
              <a:ahLst/>
              <a:cxnLst/>
              <a:rect r="r" b="b" t="t" l="l"/>
              <a:pathLst>
                <a:path h="1098473" w="1351532">
                  <a:moveTo>
                    <a:pt x="24543" y="0"/>
                  </a:moveTo>
                  <a:lnTo>
                    <a:pt x="1326989" y="0"/>
                  </a:lnTo>
                  <a:cubicBezTo>
                    <a:pt x="1340544" y="0"/>
                    <a:pt x="1351532" y="10988"/>
                    <a:pt x="1351532" y="24543"/>
                  </a:cubicBezTo>
                  <a:lnTo>
                    <a:pt x="1351532" y="1073930"/>
                  </a:lnTo>
                  <a:cubicBezTo>
                    <a:pt x="1351532" y="1087484"/>
                    <a:pt x="1340544" y="1098473"/>
                    <a:pt x="1326989" y="1098473"/>
                  </a:cubicBezTo>
                  <a:lnTo>
                    <a:pt x="24543" y="1098473"/>
                  </a:lnTo>
                  <a:cubicBezTo>
                    <a:pt x="18034" y="1098473"/>
                    <a:pt x="11791" y="1095887"/>
                    <a:pt x="7189" y="1091284"/>
                  </a:cubicBezTo>
                  <a:cubicBezTo>
                    <a:pt x="2586" y="1086682"/>
                    <a:pt x="0" y="1080439"/>
                    <a:pt x="0" y="1073930"/>
                  </a:cubicBezTo>
                  <a:lnTo>
                    <a:pt x="0" y="24543"/>
                  </a:lnTo>
                  <a:cubicBezTo>
                    <a:pt x="0" y="10988"/>
                    <a:pt x="10988" y="0"/>
                    <a:pt x="24543" y="0"/>
                  </a:cubicBezTo>
                  <a:close/>
                </a:path>
              </a:pathLst>
            </a:custGeom>
            <a:solidFill>
              <a:srgbClr val="FFFAE5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51532" cy="1146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52405" y="4391128"/>
            <a:ext cx="4731625" cy="3845681"/>
            <a:chOff x="0" y="0"/>
            <a:chExt cx="1351532" cy="10984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51532" cy="1098473"/>
            </a:xfrm>
            <a:custGeom>
              <a:avLst/>
              <a:gdLst/>
              <a:ahLst/>
              <a:cxnLst/>
              <a:rect r="r" b="b" t="t" l="l"/>
              <a:pathLst>
                <a:path h="1098473" w="1351532">
                  <a:moveTo>
                    <a:pt x="24543" y="0"/>
                  </a:moveTo>
                  <a:lnTo>
                    <a:pt x="1326989" y="0"/>
                  </a:lnTo>
                  <a:cubicBezTo>
                    <a:pt x="1340544" y="0"/>
                    <a:pt x="1351532" y="10988"/>
                    <a:pt x="1351532" y="24543"/>
                  </a:cubicBezTo>
                  <a:lnTo>
                    <a:pt x="1351532" y="1073930"/>
                  </a:lnTo>
                  <a:cubicBezTo>
                    <a:pt x="1351532" y="1087484"/>
                    <a:pt x="1340544" y="1098473"/>
                    <a:pt x="1326989" y="1098473"/>
                  </a:cubicBezTo>
                  <a:lnTo>
                    <a:pt x="24543" y="1098473"/>
                  </a:lnTo>
                  <a:cubicBezTo>
                    <a:pt x="18034" y="1098473"/>
                    <a:pt x="11791" y="1095887"/>
                    <a:pt x="7189" y="1091284"/>
                  </a:cubicBezTo>
                  <a:cubicBezTo>
                    <a:pt x="2586" y="1086682"/>
                    <a:pt x="0" y="1080439"/>
                    <a:pt x="0" y="1073930"/>
                  </a:cubicBezTo>
                  <a:lnTo>
                    <a:pt x="0" y="24543"/>
                  </a:lnTo>
                  <a:cubicBezTo>
                    <a:pt x="0" y="10988"/>
                    <a:pt x="10988" y="0"/>
                    <a:pt x="24543" y="0"/>
                  </a:cubicBezTo>
                  <a:close/>
                </a:path>
              </a:pathLst>
            </a:custGeom>
            <a:solidFill>
              <a:srgbClr val="F2F9FD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351532" cy="1146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251978" y="4063163"/>
            <a:ext cx="681812" cy="68181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C9B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b="true" sz="2400">
                  <a:solidFill>
                    <a:srgbClr val="25252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22170" y="4063163"/>
            <a:ext cx="681812" cy="68181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39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b="true" sz="2400">
                  <a:solidFill>
                    <a:srgbClr val="25252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00414" y="4063163"/>
            <a:ext cx="681812" cy="68181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E3E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b="true" sz="2400">
                  <a:solidFill>
                    <a:srgbClr val="25252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6011430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950358" y="2349588"/>
            <a:ext cx="4387285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pc="-369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논제의 유형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79011" y="5097537"/>
            <a:ext cx="3815228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spc="-179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사실 논제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49202" y="5097537"/>
            <a:ext cx="3815228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spc="-179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가치 논제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27447" y="5097537"/>
            <a:ext cx="3815228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spc="-179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정책 논제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479011" y="6462047"/>
            <a:ext cx="350364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 spc="-128">
                <a:solidFill>
                  <a:srgbClr val="252525"/>
                </a:solidFill>
                <a:latin typeface="Arita Dotum Medium"/>
                <a:ea typeface="Arita Dotum Medium"/>
                <a:cs typeface="Arita Dotum Medium"/>
                <a:sym typeface="Arita Dotum Medium"/>
              </a:rPr>
              <a:t>사실의 진위여부를 판단하는 것이 중요함.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49202" y="6462047"/>
            <a:ext cx="350364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128">
                <a:solidFill>
                  <a:srgbClr val="252525"/>
                </a:solidFill>
                <a:latin typeface="Arita Dotum Light"/>
                <a:ea typeface="Arita Dotum Light"/>
                <a:cs typeface="Arita Dotum Light"/>
                <a:sym typeface="Arita Dotum Light"/>
              </a:rPr>
              <a:t>우선하는 가치가 무엇인지 판단하는 것이 중요함.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27447" y="6462047"/>
            <a:ext cx="350364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 spc="-128">
                <a:solidFill>
                  <a:srgbClr val="252525"/>
                </a:solidFill>
                <a:latin typeface="Arita Dotum Medium"/>
                <a:ea typeface="Arita Dotum Medium"/>
                <a:cs typeface="Arita Dotum Medium"/>
                <a:sym typeface="Arita Dotum Medium"/>
              </a:rPr>
              <a:t>정책의 실효성, 경제성 등을 판단하는 것이 중요함. </a:t>
            </a:r>
          </a:p>
        </p:txBody>
      </p:sp>
    </p:spTree>
  </p:cSld>
  <p:clrMapOvr>
    <a:masterClrMapping/>
  </p:clrMapOvr>
  <p:transition spd="fast">
    <p:wipe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211" y="298131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810727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374390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140228" y="2348781"/>
            <a:ext cx="8007544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pc="-369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사실 논제 : 참이냐 거짓이냐?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219416" y="3505589"/>
            <a:ext cx="12394733" cy="1348443"/>
            <a:chOff x="0" y="0"/>
            <a:chExt cx="3540407" cy="3851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40407" cy="385167"/>
            </a:xfrm>
            <a:custGeom>
              <a:avLst/>
              <a:gdLst/>
              <a:ahLst/>
              <a:cxnLst/>
              <a:rect r="r" b="b" t="t" l="l"/>
              <a:pathLst>
                <a:path h="385167" w="3540407">
                  <a:moveTo>
                    <a:pt x="9369" y="0"/>
                  </a:moveTo>
                  <a:lnTo>
                    <a:pt x="3531038" y="0"/>
                  </a:lnTo>
                  <a:cubicBezTo>
                    <a:pt x="3533523" y="0"/>
                    <a:pt x="3535906" y="987"/>
                    <a:pt x="3537663" y="2744"/>
                  </a:cubicBezTo>
                  <a:cubicBezTo>
                    <a:pt x="3539420" y="4501"/>
                    <a:pt x="3540407" y="6884"/>
                    <a:pt x="3540407" y="9369"/>
                  </a:cubicBezTo>
                  <a:lnTo>
                    <a:pt x="3540407" y="375798"/>
                  </a:lnTo>
                  <a:cubicBezTo>
                    <a:pt x="3540407" y="380972"/>
                    <a:pt x="3536212" y="385167"/>
                    <a:pt x="3531038" y="385167"/>
                  </a:cubicBezTo>
                  <a:lnTo>
                    <a:pt x="9369" y="385167"/>
                  </a:lnTo>
                  <a:cubicBezTo>
                    <a:pt x="6884" y="385167"/>
                    <a:pt x="4501" y="384180"/>
                    <a:pt x="2744" y="382423"/>
                  </a:cubicBezTo>
                  <a:cubicBezTo>
                    <a:pt x="987" y="380665"/>
                    <a:pt x="0" y="378282"/>
                    <a:pt x="0" y="375798"/>
                  </a:cubicBezTo>
                  <a:lnTo>
                    <a:pt x="0" y="9369"/>
                  </a:lnTo>
                  <a:cubicBezTo>
                    <a:pt x="0" y="4195"/>
                    <a:pt x="4195" y="0"/>
                    <a:pt x="9369" y="0"/>
                  </a:cubicBezTo>
                  <a:close/>
                </a:path>
              </a:pathLst>
            </a:custGeom>
            <a:solidFill>
              <a:srgbClr val="FFDAC2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540407" cy="432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73851" y="3505589"/>
            <a:ext cx="2462045" cy="1348443"/>
            <a:chOff x="0" y="0"/>
            <a:chExt cx="703254" cy="3851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3254" cy="385167"/>
            </a:xfrm>
            <a:custGeom>
              <a:avLst/>
              <a:gdLst/>
              <a:ahLst/>
              <a:cxnLst/>
              <a:rect r="r" b="b" t="t" l="l"/>
              <a:pathLst>
                <a:path h="385167" w="703254">
                  <a:moveTo>
                    <a:pt x="47168" y="0"/>
                  </a:moveTo>
                  <a:lnTo>
                    <a:pt x="656086" y="0"/>
                  </a:lnTo>
                  <a:cubicBezTo>
                    <a:pt x="682136" y="0"/>
                    <a:pt x="703254" y="21118"/>
                    <a:pt x="703254" y="47168"/>
                  </a:cubicBezTo>
                  <a:lnTo>
                    <a:pt x="703254" y="337999"/>
                  </a:lnTo>
                  <a:cubicBezTo>
                    <a:pt x="703254" y="364049"/>
                    <a:pt x="682136" y="385167"/>
                    <a:pt x="656086" y="385167"/>
                  </a:cubicBezTo>
                  <a:lnTo>
                    <a:pt x="47168" y="385167"/>
                  </a:lnTo>
                  <a:cubicBezTo>
                    <a:pt x="21118" y="385167"/>
                    <a:pt x="0" y="364049"/>
                    <a:pt x="0" y="337999"/>
                  </a:cubicBezTo>
                  <a:lnTo>
                    <a:pt x="0" y="47168"/>
                  </a:lnTo>
                  <a:cubicBezTo>
                    <a:pt x="0" y="21118"/>
                    <a:pt x="21118" y="0"/>
                    <a:pt x="47168" y="0"/>
                  </a:cubicBezTo>
                  <a:close/>
                </a:path>
              </a:pathLst>
            </a:custGeom>
            <a:solidFill>
              <a:srgbClr val="FFDAC2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03254" cy="432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73851" y="5143500"/>
            <a:ext cx="2462045" cy="1764261"/>
            <a:chOff x="0" y="0"/>
            <a:chExt cx="703254" cy="503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3254" cy="503940"/>
            </a:xfrm>
            <a:custGeom>
              <a:avLst/>
              <a:gdLst/>
              <a:ahLst/>
              <a:cxnLst/>
              <a:rect r="r" b="b" t="t" l="l"/>
              <a:pathLst>
                <a:path h="503940" w="703254">
                  <a:moveTo>
                    <a:pt x="47168" y="0"/>
                  </a:moveTo>
                  <a:lnTo>
                    <a:pt x="656086" y="0"/>
                  </a:lnTo>
                  <a:cubicBezTo>
                    <a:pt x="682136" y="0"/>
                    <a:pt x="703254" y="21118"/>
                    <a:pt x="703254" y="47168"/>
                  </a:cubicBezTo>
                  <a:lnTo>
                    <a:pt x="703254" y="456772"/>
                  </a:lnTo>
                  <a:cubicBezTo>
                    <a:pt x="703254" y="482822"/>
                    <a:pt x="682136" y="503940"/>
                    <a:pt x="656086" y="503940"/>
                  </a:cubicBezTo>
                  <a:lnTo>
                    <a:pt x="47168" y="503940"/>
                  </a:lnTo>
                  <a:cubicBezTo>
                    <a:pt x="21118" y="503940"/>
                    <a:pt x="0" y="482822"/>
                    <a:pt x="0" y="456772"/>
                  </a:cubicBezTo>
                  <a:lnTo>
                    <a:pt x="0" y="47168"/>
                  </a:lnTo>
                  <a:cubicBezTo>
                    <a:pt x="0" y="21118"/>
                    <a:pt x="21118" y="0"/>
                    <a:pt x="47168" y="0"/>
                  </a:cubicBezTo>
                  <a:close/>
                </a:path>
              </a:pathLst>
            </a:custGeom>
            <a:solidFill>
              <a:srgbClr val="FFDAC2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03254" cy="55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73851" y="7193511"/>
            <a:ext cx="2462045" cy="1763483"/>
            <a:chOff x="0" y="0"/>
            <a:chExt cx="703254" cy="5037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3254" cy="503718"/>
            </a:xfrm>
            <a:custGeom>
              <a:avLst/>
              <a:gdLst/>
              <a:ahLst/>
              <a:cxnLst/>
              <a:rect r="r" b="b" t="t" l="l"/>
              <a:pathLst>
                <a:path h="503718" w="703254">
                  <a:moveTo>
                    <a:pt x="47168" y="0"/>
                  </a:moveTo>
                  <a:lnTo>
                    <a:pt x="656086" y="0"/>
                  </a:lnTo>
                  <a:cubicBezTo>
                    <a:pt x="682136" y="0"/>
                    <a:pt x="703254" y="21118"/>
                    <a:pt x="703254" y="47168"/>
                  </a:cubicBezTo>
                  <a:lnTo>
                    <a:pt x="703254" y="456550"/>
                  </a:lnTo>
                  <a:cubicBezTo>
                    <a:pt x="703254" y="482600"/>
                    <a:pt x="682136" y="503718"/>
                    <a:pt x="656086" y="503718"/>
                  </a:cubicBezTo>
                  <a:lnTo>
                    <a:pt x="47168" y="503718"/>
                  </a:lnTo>
                  <a:cubicBezTo>
                    <a:pt x="21118" y="503718"/>
                    <a:pt x="0" y="482600"/>
                    <a:pt x="0" y="456550"/>
                  </a:cubicBezTo>
                  <a:lnTo>
                    <a:pt x="0" y="47168"/>
                  </a:lnTo>
                  <a:cubicBezTo>
                    <a:pt x="0" y="21118"/>
                    <a:pt x="21118" y="0"/>
                    <a:pt x="47168" y="0"/>
                  </a:cubicBezTo>
                  <a:close/>
                </a:path>
              </a:pathLst>
            </a:custGeom>
            <a:solidFill>
              <a:srgbClr val="FFDAC2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03254" cy="551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219416" y="5143500"/>
            <a:ext cx="12394733" cy="1764261"/>
            <a:chOff x="0" y="0"/>
            <a:chExt cx="3540407" cy="5039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40407" cy="503940"/>
            </a:xfrm>
            <a:custGeom>
              <a:avLst/>
              <a:gdLst/>
              <a:ahLst/>
              <a:cxnLst/>
              <a:rect r="r" b="b" t="t" l="l"/>
              <a:pathLst>
                <a:path h="503940" w="3540407">
                  <a:moveTo>
                    <a:pt x="9369" y="0"/>
                  </a:moveTo>
                  <a:lnTo>
                    <a:pt x="3531038" y="0"/>
                  </a:lnTo>
                  <a:cubicBezTo>
                    <a:pt x="3533523" y="0"/>
                    <a:pt x="3535906" y="987"/>
                    <a:pt x="3537663" y="2744"/>
                  </a:cubicBezTo>
                  <a:cubicBezTo>
                    <a:pt x="3539420" y="4501"/>
                    <a:pt x="3540407" y="6884"/>
                    <a:pt x="3540407" y="9369"/>
                  </a:cubicBezTo>
                  <a:lnTo>
                    <a:pt x="3540407" y="494571"/>
                  </a:lnTo>
                  <a:cubicBezTo>
                    <a:pt x="3540407" y="499745"/>
                    <a:pt x="3536212" y="503940"/>
                    <a:pt x="3531038" y="503940"/>
                  </a:cubicBezTo>
                  <a:lnTo>
                    <a:pt x="9369" y="503940"/>
                  </a:lnTo>
                  <a:cubicBezTo>
                    <a:pt x="4195" y="503940"/>
                    <a:pt x="0" y="499745"/>
                    <a:pt x="0" y="494571"/>
                  </a:cubicBezTo>
                  <a:lnTo>
                    <a:pt x="0" y="9369"/>
                  </a:lnTo>
                  <a:cubicBezTo>
                    <a:pt x="0" y="4195"/>
                    <a:pt x="4195" y="0"/>
                    <a:pt x="9369" y="0"/>
                  </a:cubicBezTo>
                  <a:close/>
                </a:path>
              </a:pathLst>
            </a:custGeom>
            <a:solidFill>
              <a:srgbClr val="FFDAC2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540407" cy="55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219416" y="7193511"/>
            <a:ext cx="12394733" cy="1763483"/>
            <a:chOff x="0" y="0"/>
            <a:chExt cx="3540407" cy="5037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40407" cy="503718"/>
            </a:xfrm>
            <a:custGeom>
              <a:avLst/>
              <a:gdLst/>
              <a:ahLst/>
              <a:cxnLst/>
              <a:rect r="r" b="b" t="t" l="l"/>
              <a:pathLst>
                <a:path h="503718" w="3540407">
                  <a:moveTo>
                    <a:pt x="9369" y="0"/>
                  </a:moveTo>
                  <a:lnTo>
                    <a:pt x="3531038" y="0"/>
                  </a:lnTo>
                  <a:cubicBezTo>
                    <a:pt x="3533523" y="0"/>
                    <a:pt x="3535906" y="987"/>
                    <a:pt x="3537663" y="2744"/>
                  </a:cubicBezTo>
                  <a:cubicBezTo>
                    <a:pt x="3539420" y="4501"/>
                    <a:pt x="3540407" y="6884"/>
                    <a:pt x="3540407" y="9369"/>
                  </a:cubicBezTo>
                  <a:lnTo>
                    <a:pt x="3540407" y="494349"/>
                  </a:lnTo>
                  <a:cubicBezTo>
                    <a:pt x="3540407" y="499523"/>
                    <a:pt x="3536212" y="503718"/>
                    <a:pt x="3531038" y="503718"/>
                  </a:cubicBezTo>
                  <a:lnTo>
                    <a:pt x="9369" y="503718"/>
                  </a:lnTo>
                  <a:cubicBezTo>
                    <a:pt x="4195" y="503718"/>
                    <a:pt x="0" y="499523"/>
                    <a:pt x="0" y="494349"/>
                  </a:cubicBezTo>
                  <a:lnTo>
                    <a:pt x="0" y="9369"/>
                  </a:lnTo>
                  <a:cubicBezTo>
                    <a:pt x="0" y="4195"/>
                    <a:pt x="4195" y="0"/>
                    <a:pt x="9369" y="0"/>
                  </a:cubicBezTo>
                  <a:close/>
                </a:path>
              </a:pathLst>
            </a:custGeom>
            <a:solidFill>
              <a:srgbClr val="FFDAC2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540407" cy="551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683196" y="3617835"/>
            <a:ext cx="1164752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168" b="true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사물이 존재하거나 행동이 일어나는 것을 다루는 주장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FF0000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있었는가? 없었는가?</a:t>
            </a:r>
            <a:r>
              <a:rPr lang="en-US" b="true" sz="3000" spc="-168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 가 중요함.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16296" y="3872788"/>
            <a:ext cx="19771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존재 주장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11200" y="5718608"/>
            <a:ext cx="19873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관계 주장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16296" y="7774418"/>
            <a:ext cx="19771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지칭 주장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593019" y="5463655"/>
            <a:ext cx="1164752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168" b="true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사물 간의 관계에 초점을 둔 관계 주장 / A와 B는 관계가 있는가?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FF0000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원인과 결과</a:t>
            </a:r>
            <a:r>
              <a:rPr lang="en-US" b="true" sz="3000" spc="-168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로 드러남, 결과나 효과를 가정하고 있음.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593019" y="7513277"/>
            <a:ext cx="1164752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168" b="true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사물을 </a:t>
            </a:r>
            <a:r>
              <a:rPr lang="en-US" sz="3000" spc="-168" b="true">
                <a:solidFill>
                  <a:srgbClr val="FF0000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이름 짓거나 분류</a:t>
            </a:r>
            <a:r>
              <a:rPr lang="en-US" sz="3000" spc="-168" b="true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하는데 초점을 둔 주장.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사물이 특정한 방식으로 묘사될 수 있는지 아닌를 다룸 </a:t>
            </a:r>
          </a:p>
        </p:txBody>
      </p:sp>
    </p:spTree>
  </p:cSld>
  <p:clrMapOvr>
    <a:masterClrMapping/>
  </p:clrMapOvr>
  <p:transition spd="fast">
    <p:wipe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211" y="298131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151642" y="2598896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1" y="0"/>
                </a:lnTo>
                <a:lnTo>
                  <a:pt x="6265141" y="563862"/>
                </a:lnTo>
                <a:lnTo>
                  <a:pt x="0" y="563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48347" y="2598896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2"/>
                </a:lnTo>
                <a:lnTo>
                  <a:pt x="0" y="563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811566" y="4957173"/>
            <a:ext cx="658467" cy="609905"/>
          </a:xfrm>
          <a:custGeom>
            <a:avLst/>
            <a:gdLst/>
            <a:ahLst/>
            <a:cxnLst/>
            <a:rect r="r" b="b" t="t" l="l"/>
            <a:pathLst>
              <a:path h="609905" w="658467">
                <a:moveTo>
                  <a:pt x="0" y="0"/>
                </a:moveTo>
                <a:lnTo>
                  <a:pt x="658467" y="0"/>
                </a:lnTo>
                <a:lnTo>
                  <a:pt x="658467" y="609905"/>
                </a:lnTo>
                <a:lnTo>
                  <a:pt x="0" y="609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3811566" y="3371789"/>
            <a:ext cx="680154" cy="629992"/>
          </a:xfrm>
          <a:custGeom>
            <a:avLst/>
            <a:gdLst/>
            <a:ahLst/>
            <a:cxnLst/>
            <a:rect r="r" b="b" t="t" l="l"/>
            <a:pathLst>
              <a:path h="629992" w="680154">
                <a:moveTo>
                  <a:pt x="0" y="0"/>
                </a:moveTo>
                <a:lnTo>
                  <a:pt x="680153" y="0"/>
                </a:lnTo>
                <a:lnTo>
                  <a:pt x="680153" y="629992"/>
                </a:lnTo>
                <a:lnTo>
                  <a:pt x="0" y="6299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3755479" y="4108333"/>
            <a:ext cx="714553" cy="661855"/>
          </a:xfrm>
          <a:custGeom>
            <a:avLst/>
            <a:gdLst/>
            <a:ahLst/>
            <a:cxnLst/>
            <a:rect r="r" b="b" t="t" l="l"/>
            <a:pathLst>
              <a:path h="661855" w="714553">
                <a:moveTo>
                  <a:pt x="0" y="0"/>
                </a:moveTo>
                <a:lnTo>
                  <a:pt x="714554" y="0"/>
                </a:lnTo>
                <a:lnTo>
                  <a:pt x="714554" y="661855"/>
                </a:lnTo>
                <a:lnTo>
                  <a:pt x="0" y="6618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824888" y="5757578"/>
            <a:ext cx="666831" cy="617652"/>
          </a:xfrm>
          <a:custGeom>
            <a:avLst/>
            <a:gdLst/>
            <a:ahLst/>
            <a:cxnLst/>
            <a:rect r="r" b="b" t="t" l="l"/>
            <a:pathLst>
              <a:path h="617652" w="666831">
                <a:moveTo>
                  <a:pt x="0" y="0"/>
                </a:moveTo>
                <a:lnTo>
                  <a:pt x="666831" y="0"/>
                </a:lnTo>
                <a:lnTo>
                  <a:pt x="666831" y="617652"/>
                </a:lnTo>
                <a:lnTo>
                  <a:pt x="0" y="617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755479" y="6625390"/>
            <a:ext cx="688208" cy="637453"/>
          </a:xfrm>
          <a:custGeom>
            <a:avLst/>
            <a:gdLst/>
            <a:ahLst/>
            <a:cxnLst/>
            <a:rect r="r" b="b" t="t" l="l"/>
            <a:pathLst>
              <a:path h="637453" w="688208">
                <a:moveTo>
                  <a:pt x="0" y="0"/>
                </a:moveTo>
                <a:lnTo>
                  <a:pt x="688208" y="0"/>
                </a:lnTo>
                <a:lnTo>
                  <a:pt x="688208" y="637453"/>
                </a:lnTo>
                <a:lnTo>
                  <a:pt x="0" y="6374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800923" y="7586735"/>
            <a:ext cx="669110" cy="619763"/>
          </a:xfrm>
          <a:custGeom>
            <a:avLst/>
            <a:gdLst/>
            <a:ahLst/>
            <a:cxnLst/>
            <a:rect r="r" b="b" t="t" l="l"/>
            <a:pathLst>
              <a:path h="619763" w="669110">
                <a:moveTo>
                  <a:pt x="0" y="0"/>
                </a:moveTo>
                <a:lnTo>
                  <a:pt x="669110" y="0"/>
                </a:lnTo>
                <a:lnTo>
                  <a:pt x="669110" y="619763"/>
                </a:lnTo>
                <a:lnTo>
                  <a:pt x="0" y="6197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140228" y="2320194"/>
            <a:ext cx="8007544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pc="-369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사실 논제 : 분류 실습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81320" y="4143985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68">
                <a:solidFill>
                  <a:srgbClr val="252525"/>
                </a:solidFill>
                <a:latin typeface="Aileron"/>
                <a:ea typeface="Aileron"/>
                <a:cs typeface="Aileron"/>
                <a:sym typeface="Aileron"/>
              </a:rPr>
              <a:t>온라인 게임 과몰입은 학업 성적 저하를 가져온다.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81320" y="5719325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68">
                <a:solidFill>
                  <a:srgbClr val="252525"/>
                </a:solidFill>
                <a:latin typeface="Aileron"/>
                <a:ea typeface="Aileron"/>
                <a:cs typeface="Aileron"/>
                <a:sym typeface="Aileron"/>
              </a:rPr>
              <a:t>잠복 근무를 하는 교통 경찰은 교통 사고를 부추긴다.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681320" y="7601342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68">
                <a:solidFill>
                  <a:srgbClr val="252525"/>
                </a:solidFill>
                <a:latin typeface="Aileron"/>
                <a:ea typeface="Aileron"/>
                <a:cs typeface="Aileron"/>
                <a:sym typeface="Aileron"/>
              </a:rPr>
              <a:t>정부는 노인들을 위한 종합 의료 보험 방안을 가지고 있다.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81320" y="6648842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68">
                <a:solidFill>
                  <a:srgbClr val="252525"/>
                </a:solidFill>
                <a:latin typeface="Aileron"/>
                <a:ea typeface="Aileron"/>
                <a:cs typeface="Aileron"/>
                <a:sym typeface="Aileron"/>
              </a:rPr>
              <a:t>대통령의 실업 방지책은 보수적이었다.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81320" y="3391510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68">
                <a:solidFill>
                  <a:srgbClr val="252525"/>
                </a:solidFill>
                <a:latin typeface="Aileron"/>
                <a:ea typeface="Aileron"/>
                <a:cs typeface="Aileron"/>
                <a:sym typeface="Aileron"/>
              </a:rPr>
              <a:t> 우리 학교에는 여전히 학교 폭력이 만연하다.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93019" y="4966850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68">
                <a:solidFill>
                  <a:srgbClr val="252525"/>
                </a:solidFill>
                <a:latin typeface="Aileron"/>
                <a:ea typeface="Aileron"/>
                <a:cs typeface="Aileron"/>
                <a:sym typeface="Aileron"/>
              </a:rPr>
              <a:t>플라스틱은 환경 오염의 주범이다. </a:t>
            </a:r>
          </a:p>
        </p:txBody>
      </p:sp>
    </p:spTree>
  </p:cSld>
  <p:clrMapOvr>
    <a:masterClrMapping/>
  </p:clrMapOvr>
  <p:transition spd="fast">
    <p:wipe dir="r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211" y="298131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151642" y="2598896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1" y="0"/>
                </a:lnTo>
                <a:lnTo>
                  <a:pt x="6265141" y="563862"/>
                </a:lnTo>
                <a:lnTo>
                  <a:pt x="0" y="563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48347" y="2598896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2"/>
                </a:lnTo>
                <a:lnTo>
                  <a:pt x="0" y="563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140228" y="2320194"/>
            <a:ext cx="8007544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pc="-369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사실 논제 : 분류 실습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219416" y="3505589"/>
            <a:ext cx="12394733" cy="1348443"/>
            <a:chOff x="0" y="0"/>
            <a:chExt cx="3540407" cy="3851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40407" cy="385167"/>
            </a:xfrm>
            <a:custGeom>
              <a:avLst/>
              <a:gdLst/>
              <a:ahLst/>
              <a:cxnLst/>
              <a:rect r="r" b="b" t="t" l="l"/>
              <a:pathLst>
                <a:path h="385167" w="3540407">
                  <a:moveTo>
                    <a:pt x="9369" y="0"/>
                  </a:moveTo>
                  <a:lnTo>
                    <a:pt x="3531038" y="0"/>
                  </a:lnTo>
                  <a:cubicBezTo>
                    <a:pt x="3533523" y="0"/>
                    <a:pt x="3535906" y="987"/>
                    <a:pt x="3537663" y="2744"/>
                  </a:cubicBezTo>
                  <a:cubicBezTo>
                    <a:pt x="3539420" y="4501"/>
                    <a:pt x="3540407" y="6884"/>
                    <a:pt x="3540407" y="9369"/>
                  </a:cubicBezTo>
                  <a:lnTo>
                    <a:pt x="3540407" y="375798"/>
                  </a:lnTo>
                  <a:cubicBezTo>
                    <a:pt x="3540407" y="380972"/>
                    <a:pt x="3536212" y="385167"/>
                    <a:pt x="3531038" y="385167"/>
                  </a:cubicBezTo>
                  <a:lnTo>
                    <a:pt x="9369" y="385167"/>
                  </a:lnTo>
                  <a:cubicBezTo>
                    <a:pt x="6884" y="385167"/>
                    <a:pt x="4501" y="384180"/>
                    <a:pt x="2744" y="382423"/>
                  </a:cubicBezTo>
                  <a:cubicBezTo>
                    <a:pt x="987" y="380665"/>
                    <a:pt x="0" y="378282"/>
                    <a:pt x="0" y="375798"/>
                  </a:cubicBezTo>
                  <a:lnTo>
                    <a:pt x="0" y="9369"/>
                  </a:lnTo>
                  <a:cubicBezTo>
                    <a:pt x="0" y="4195"/>
                    <a:pt x="4195" y="0"/>
                    <a:pt x="9369" y="0"/>
                  </a:cubicBezTo>
                  <a:close/>
                </a:path>
              </a:pathLst>
            </a:custGeom>
            <a:solidFill>
              <a:srgbClr val="FFDAC2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540407" cy="432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73851" y="3505589"/>
            <a:ext cx="2462045" cy="1348443"/>
            <a:chOff x="0" y="0"/>
            <a:chExt cx="703254" cy="3851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3254" cy="385167"/>
            </a:xfrm>
            <a:custGeom>
              <a:avLst/>
              <a:gdLst/>
              <a:ahLst/>
              <a:cxnLst/>
              <a:rect r="r" b="b" t="t" l="l"/>
              <a:pathLst>
                <a:path h="385167" w="703254">
                  <a:moveTo>
                    <a:pt x="47168" y="0"/>
                  </a:moveTo>
                  <a:lnTo>
                    <a:pt x="656086" y="0"/>
                  </a:lnTo>
                  <a:cubicBezTo>
                    <a:pt x="682136" y="0"/>
                    <a:pt x="703254" y="21118"/>
                    <a:pt x="703254" y="47168"/>
                  </a:cubicBezTo>
                  <a:lnTo>
                    <a:pt x="703254" y="337999"/>
                  </a:lnTo>
                  <a:cubicBezTo>
                    <a:pt x="703254" y="364049"/>
                    <a:pt x="682136" y="385167"/>
                    <a:pt x="656086" y="385167"/>
                  </a:cubicBezTo>
                  <a:lnTo>
                    <a:pt x="47168" y="385167"/>
                  </a:lnTo>
                  <a:cubicBezTo>
                    <a:pt x="21118" y="385167"/>
                    <a:pt x="0" y="364049"/>
                    <a:pt x="0" y="337999"/>
                  </a:cubicBezTo>
                  <a:lnTo>
                    <a:pt x="0" y="47168"/>
                  </a:lnTo>
                  <a:cubicBezTo>
                    <a:pt x="0" y="21118"/>
                    <a:pt x="21118" y="0"/>
                    <a:pt x="47168" y="0"/>
                  </a:cubicBezTo>
                  <a:close/>
                </a:path>
              </a:pathLst>
            </a:custGeom>
            <a:solidFill>
              <a:srgbClr val="FFDAC2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03254" cy="432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73851" y="5143500"/>
            <a:ext cx="2462045" cy="1764261"/>
            <a:chOff x="0" y="0"/>
            <a:chExt cx="703254" cy="503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3254" cy="503940"/>
            </a:xfrm>
            <a:custGeom>
              <a:avLst/>
              <a:gdLst/>
              <a:ahLst/>
              <a:cxnLst/>
              <a:rect r="r" b="b" t="t" l="l"/>
              <a:pathLst>
                <a:path h="503940" w="703254">
                  <a:moveTo>
                    <a:pt x="47168" y="0"/>
                  </a:moveTo>
                  <a:lnTo>
                    <a:pt x="656086" y="0"/>
                  </a:lnTo>
                  <a:cubicBezTo>
                    <a:pt x="682136" y="0"/>
                    <a:pt x="703254" y="21118"/>
                    <a:pt x="703254" y="47168"/>
                  </a:cubicBezTo>
                  <a:lnTo>
                    <a:pt x="703254" y="456772"/>
                  </a:lnTo>
                  <a:cubicBezTo>
                    <a:pt x="703254" y="482822"/>
                    <a:pt x="682136" y="503940"/>
                    <a:pt x="656086" y="503940"/>
                  </a:cubicBezTo>
                  <a:lnTo>
                    <a:pt x="47168" y="503940"/>
                  </a:lnTo>
                  <a:cubicBezTo>
                    <a:pt x="21118" y="503940"/>
                    <a:pt x="0" y="482822"/>
                    <a:pt x="0" y="456772"/>
                  </a:cubicBezTo>
                  <a:lnTo>
                    <a:pt x="0" y="47168"/>
                  </a:lnTo>
                  <a:cubicBezTo>
                    <a:pt x="0" y="21118"/>
                    <a:pt x="21118" y="0"/>
                    <a:pt x="47168" y="0"/>
                  </a:cubicBezTo>
                  <a:close/>
                </a:path>
              </a:pathLst>
            </a:custGeom>
            <a:solidFill>
              <a:srgbClr val="FFDAC2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03254" cy="55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73851" y="7193511"/>
            <a:ext cx="2462045" cy="1763483"/>
            <a:chOff x="0" y="0"/>
            <a:chExt cx="703254" cy="5037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3254" cy="503718"/>
            </a:xfrm>
            <a:custGeom>
              <a:avLst/>
              <a:gdLst/>
              <a:ahLst/>
              <a:cxnLst/>
              <a:rect r="r" b="b" t="t" l="l"/>
              <a:pathLst>
                <a:path h="503718" w="703254">
                  <a:moveTo>
                    <a:pt x="47168" y="0"/>
                  </a:moveTo>
                  <a:lnTo>
                    <a:pt x="656086" y="0"/>
                  </a:lnTo>
                  <a:cubicBezTo>
                    <a:pt x="682136" y="0"/>
                    <a:pt x="703254" y="21118"/>
                    <a:pt x="703254" y="47168"/>
                  </a:cubicBezTo>
                  <a:lnTo>
                    <a:pt x="703254" y="456550"/>
                  </a:lnTo>
                  <a:cubicBezTo>
                    <a:pt x="703254" y="482600"/>
                    <a:pt x="682136" y="503718"/>
                    <a:pt x="656086" y="503718"/>
                  </a:cubicBezTo>
                  <a:lnTo>
                    <a:pt x="47168" y="503718"/>
                  </a:lnTo>
                  <a:cubicBezTo>
                    <a:pt x="21118" y="503718"/>
                    <a:pt x="0" y="482600"/>
                    <a:pt x="0" y="456550"/>
                  </a:cubicBezTo>
                  <a:lnTo>
                    <a:pt x="0" y="47168"/>
                  </a:lnTo>
                  <a:cubicBezTo>
                    <a:pt x="0" y="21118"/>
                    <a:pt x="21118" y="0"/>
                    <a:pt x="47168" y="0"/>
                  </a:cubicBezTo>
                  <a:close/>
                </a:path>
              </a:pathLst>
            </a:custGeom>
            <a:solidFill>
              <a:srgbClr val="FFDAC2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03254" cy="551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219416" y="5143500"/>
            <a:ext cx="12394733" cy="1764261"/>
            <a:chOff x="0" y="0"/>
            <a:chExt cx="3540407" cy="5039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40407" cy="503940"/>
            </a:xfrm>
            <a:custGeom>
              <a:avLst/>
              <a:gdLst/>
              <a:ahLst/>
              <a:cxnLst/>
              <a:rect r="r" b="b" t="t" l="l"/>
              <a:pathLst>
                <a:path h="503940" w="3540407">
                  <a:moveTo>
                    <a:pt x="9369" y="0"/>
                  </a:moveTo>
                  <a:lnTo>
                    <a:pt x="3531038" y="0"/>
                  </a:lnTo>
                  <a:cubicBezTo>
                    <a:pt x="3533523" y="0"/>
                    <a:pt x="3535906" y="987"/>
                    <a:pt x="3537663" y="2744"/>
                  </a:cubicBezTo>
                  <a:cubicBezTo>
                    <a:pt x="3539420" y="4501"/>
                    <a:pt x="3540407" y="6884"/>
                    <a:pt x="3540407" y="9369"/>
                  </a:cubicBezTo>
                  <a:lnTo>
                    <a:pt x="3540407" y="494571"/>
                  </a:lnTo>
                  <a:cubicBezTo>
                    <a:pt x="3540407" y="499745"/>
                    <a:pt x="3536212" y="503940"/>
                    <a:pt x="3531038" y="503940"/>
                  </a:cubicBezTo>
                  <a:lnTo>
                    <a:pt x="9369" y="503940"/>
                  </a:lnTo>
                  <a:cubicBezTo>
                    <a:pt x="4195" y="503940"/>
                    <a:pt x="0" y="499745"/>
                    <a:pt x="0" y="494571"/>
                  </a:cubicBezTo>
                  <a:lnTo>
                    <a:pt x="0" y="9369"/>
                  </a:lnTo>
                  <a:cubicBezTo>
                    <a:pt x="0" y="4195"/>
                    <a:pt x="4195" y="0"/>
                    <a:pt x="9369" y="0"/>
                  </a:cubicBezTo>
                  <a:close/>
                </a:path>
              </a:pathLst>
            </a:custGeom>
            <a:solidFill>
              <a:srgbClr val="FFDAC2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540407" cy="55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219416" y="7193511"/>
            <a:ext cx="12394733" cy="1763483"/>
            <a:chOff x="0" y="0"/>
            <a:chExt cx="3540407" cy="5037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40407" cy="503718"/>
            </a:xfrm>
            <a:custGeom>
              <a:avLst/>
              <a:gdLst/>
              <a:ahLst/>
              <a:cxnLst/>
              <a:rect r="r" b="b" t="t" l="l"/>
              <a:pathLst>
                <a:path h="503718" w="3540407">
                  <a:moveTo>
                    <a:pt x="9369" y="0"/>
                  </a:moveTo>
                  <a:lnTo>
                    <a:pt x="3531038" y="0"/>
                  </a:lnTo>
                  <a:cubicBezTo>
                    <a:pt x="3533523" y="0"/>
                    <a:pt x="3535906" y="987"/>
                    <a:pt x="3537663" y="2744"/>
                  </a:cubicBezTo>
                  <a:cubicBezTo>
                    <a:pt x="3539420" y="4501"/>
                    <a:pt x="3540407" y="6884"/>
                    <a:pt x="3540407" y="9369"/>
                  </a:cubicBezTo>
                  <a:lnTo>
                    <a:pt x="3540407" y="494349"/>
                  </a:lnTo>
                  <a:cubicBezTo>
                    <a:pt x="3540407" y="499523"/>
                    <a:pt x="3536212" y="503718"/>
                    <a:pt x="3531038" y="503718"/>
                  </a:cubicBezTo>
                  <a:lnTo>
                    <a:pt x="9369" y="503718"/>
                  </a:lnTo>
                  <a:cubicBezTo>
                    <a:pt x="4195" y="503718"/>
                    <a:pt x="0" y="499523"/>
                    <a:pt x="0" y="494349"/>
                  </a:cubicBezTo>
                  <a:lnTo>
                    <a:pt x="0" y="9369"/>
                  </a:lnTo>
                  <a:cubicBezTo>
                    <a:pt x="0" y="4195"/>
                    <a:pt x="4195" y="0"/>
                    <a:pt x="9369" y="0"/>
                  </a:cubicBezTo>
                  <a:close/>
                </a:path>
              </a:pathLst>
            </a:custGeom>
            <a:solidFill>
              <a:srgbClr val="FFDAC2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540407" cy="551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916296" y="3872788"/>
            <a:ext cx="19771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존재 주장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11200" y="5718608"/>
            <a:ext cx="19873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관계 주장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16296" y="7774418"/>
            <a:ext cx="19771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지칭 주장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593019" y="5463655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68">
                <a:solidFill>
                  <a:srgbClr val="252525"/>
                </a:solidFill>
                <a:latin typeface="Aileron"/>
                <a:ea typeface="Aileron"/>
                <a:cs typeface="Aileron"/>
                <a:sym typeface="Aileron"/>
              </a:rPr>
              <a:t>2. 온라인 게임 과몰입은 학업 성적 저하를 가져온다.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593019" y="6058073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68">
                <a:solidFill>
                  <a:srgbClr val="252525"/>
                </a:solidFill>
                <a:latin typeface="Aileron"/>
                <a:ea typeface="Aileron"/>
                <a:cs typeface="Aileron"/>
                <a:sym typeface="Aileron"/>
              </a:rPr>
              <a:t>4. 잠복 근무를 하는 교통 경찰은 교통 사고를 부추긴다.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593019" y="4076700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68">
                <a:solidFill>
                  <a:srgbClr val="252525"/>
                </a:solidFill>
                <a:latin typeface="Aileron"/>
                <a:ea typeface="Aileron"/>
                <a:cs typeface="Aileron"/>
                <a:sym typeface="Aileron"/>
              </a:rPr>
              <a:t>6. 정부는 노인들을 위한 종합 의료 보험 방안을 가지고 있다.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593019" y="8003018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68">
                <a:solidFill>
                  <a:srgbClr val="252525"/>
                </a:solidFill>
                <a:latin typeface="Aileron"/>
                <a:ea typeface="Aileron"/>
                <a:cs typeface="Aileron"/>
                <a:sym typeface="Aileron"/>
              </a:rPr>
              <a:t>5. 대통령의 실업 방지책은 보수적이었다.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219416" y="3486150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 spc="-168">
                <a:solidFill>
                  <a:srgbClr val="252525"/>
                </a:solidFill>
                <a:latin typeface="Aileron"/>
                <a:ea typeface="Aileron"/>
                <a:cs typeface="Aileron"/>
                <a:sym typeface="Aileron"/>
              </a:rPr>
              <a:t> 우리 학교에는 여전히 학교 폭력이 만연하다.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593019" y="7384011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68">
                <a:solidFill>
                  <a:srgbClr val="252525"/>
                </a:solidFill>
                <a:latin typeface="Aileron"/>
                <a:ea typeface="Aileron"/>
                <a:cs typeface="Aileron"/>
                <a:sym typeface="Aileron"/>
              </a:rPr>
              <a:t>3. 플라스틱은 환경 오염의 주범이다. </a:t>
            </a:r>
          </a:p>
        </p:txBody>
      </p:sp>
    </p:spTree>
  </p:cSld>
  <p:clrMapOvr>
    <a:masterClrMapping/>
  </p:clrMapOvr>
  <p:transition spd="fast">
    <p:wipe dir="r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211" y="298131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810727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374390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219416" y="1736678"/>
            <a:ext cx="10347525" cy="126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b="true" sz="4800" spc="-369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가치 논제 : </a:t>
            </a:r>
          </a:p>
          <a:p>
            <a:pPr algn="ctr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pc="-369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좋으냐 나쁘냐? or 바람직하냐 아니냐?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453393" y="3505589"/>
            <a:ext cx="14160756" cy="1348443"/>
            <a:chOff x="0" y="0"/>
            <a:chExt cx="4044850" cy="3851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44850" cy="385167"/>
            </a:xfrm>
            <a:custGeom>
              <a:avLst/>
              <a:gdLst/>
              <a:ahLst/>
              <a:cxnLst/>
              <a:rect r="r" b="b" t="t" l="l"/>
              <a:pathLst>
                <a:path h="385167" w="4044850">
                  <a:moveTo>
                    <a:pt x="8201" y="0"/>
                  </a:moveTo>
                  <a:lnTo>
                    <a:pt x="4036650" y="0"/>
                  </a:lnTo>
                  <a:cubicBezTo>
                    <a:pt x="4041179" y="0"/>
                    <a:pt x="4044850" y="3672"/>
                    <a:pt x="4044850" y="8201"/>
                  </a:cubicBezTo>
                  <a:lnTo>
                    <a:pt x="4044850" y="376966"/>
                  </a:lnTo>
                  <a:cubicBezTo>
                    <a:pt x="4044850" y="381495"/>
                    <a:pt x="4041179" y="385167"/>
                    <a:pt x="4036650" y="385167"/>
                  </a:cubicBezTo>
                  <a:lnTo>
                    <a:pt x="8201" y="385167"/>
                  </a:lnTo>
                  <a:cubicBezTo>
                    <a:pt x="3672" y="385167"/>
                    <a:pt x="0" y="381495"/>
                    <a:pt x="0" y="376966"/>
                  </a:cubicBezTo>
                  <a:lnTo>
                    <a:pt x="0" y="8201"/>
                  </a:lnTo>
                  <a:cubicBezTo>
                    <a:pt x="0" y="3672"/>
                    <a:pt x="3672" y="0"/>
                    <a:pt x="8201" y="0"/>
                  </a:cubicBezTo>
                  <a:close/>
                </a:path>
              </a:pathLst>
            </a:custGeom>
            <a:solidFill>
              <a:srgbClr val="FFF9AD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044850" cy="432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53393" y="5143500"/>
            <a:ext cx="14160756" cy="1764261"/>
            <a:chOff x="0" y="0"/>
            <a:chExt cx="4044850" cy="5039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44850" cy="503940"/>
            </a:xfrm>
            <a:custGeom>
              <a:avLst/>
              <a:gdLst/>
              <a:ahLst/>
              <a:cxnLst/>
              <a:rect r="r" b="b" t="t" l="l"/>
              <a:pathLst>
                <a:path h="503940" w="4044850">
                  <a:moveTo>
                    <a:pt x="8201" y="0"/>
                  </a:moveTo>
                  <a:lnTo>
                    <a:pt x="4036650" y="0"/>
                  </a:lnTo>
                  <a:cubicBezTo>
                    <a:pt x="4041179" y="0"/>
                    <a:pt x="4044850" y="3672"/>
                    <a:pt x="4044850" y="8201"/>
                  </a:cubicBezTo>
                  <a:lnTo>
                    <a:pt x="4044850" y="495739"/>
                  </a:lnTo>
                  <a:cubicBezTo>
                    <a:pt x="4044850" y="500268"/>
                    <a:pt x="4041179" y="503940"/>
                    <a:pt x="4036650" y="503940"/>
                  </a:cubicBezTo>
                  <a:lnTo>
                    <a:pt x="8201" y="503940"/>
                  </a:lnTo>
                  <a:cubicBezTo>
                    <a:pt x="3672" y="503940"/>
                    <a:pt x="0" y="500268"/>
                    <a:pt x="0" y="495739"/>
                  </a:cubicBezTo>
                  <a:lnTo>
                    <a:pt x="0" y="8201"/>
                  </a:lnTo>
                  <a:cubicBezTo>
                    <a:pt x="0" y="3672"/>
                    <a:pt x="3672" y="0"/>
                    <a:pt x="8201" y="0"/>
                  </a:cubicBezTo>
                  <a:close/>
                </a:path>
              </a:pathLst>
            </a:custGeom>
            <a:solidFill>
              <a:srgbClr val="FFF9AD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044850" cy="55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453393" y="7193511"/>
            <a:ext cx="14160756" cy="1763483"/>
            <a:chOff x="0" y="0"/>
            <a:chExt cx="4044850" cy="5037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44850" cy="503718"/>
            </a:xfrm>
            <a:custGeom>
              <a:avLst/>
              <a:gdLst/>
              <a:ahLst/>
              <a:cxnLst/>
              <a:rect r="r" b="b" t="t" l="l"/>
              <a:pathLst>
                <a:path h="503718" w="4044850">
                  <a:moveTo>
                    <a:pt x="8201" y="0"/>
                  </a:moveTo>
                  <a:lnTo>
                    <a:pt x="4036650" y="0"/>
                  </a:lnTo>
                  <a:cubicBezTo>
                    <a:pt x="4041179" y="0"/>
                    <a:pt x="4044850" y="3672"/>
                    <a:pt x="4044850" y="8201"/>
                  </a:cubicBezTo>
                  <a:lnTo>
                    <a:pt x="4044850" y="495517"/>
                  </a:lnTo>
                  <a:cubicBezTo>
                    <a:pt x="4044850" y="500046"/>
                    <a:pt x="4041179" y="503718"/>
                    <a:pt x="4036650" y="503718"/>
                  </a:cubicBezTo>
                  <a:lnTo>
                    <a:pt x="8201" y="503718"/>
                  </a:lnTo>
                  <a:cubicBezTo>
                    <a:pt x="3672" y="503718"/>
                    <a:pt x="0" y="500046"/>
                    <a:pt x="0" y="495517"/>
                  </a:cubicBezTo>
                  <a:lnTo>
                    <a:pt x="0" y="8201"/>
                  </a:lnTo>
                  <a:cubicBezTo>
                    <a:pt x="0" y="3672"/>
                    <a:pt x="3672" y="0"/>
                    <a:pt x="8201" y="0"/>
                  </a:cubicBezTo>
                  <a:close/>
                </a:path>
              </a:pathLst>
            </a:custGeom>
            <a:solidFill>
              <a:srgbClr val="FFF9AD"/>
            </a:solidFill>
            <a:ln w="19050" cap="sq">
              <a:solidFill>
                <a:srgbClr val="EBD7E2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044850" cy="551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050371" y="3884535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무엇이 좋고 나쁜지 혹은 옳고 그른지에 대한 ‘가치 판단‘을 전제로 하는 논제 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50371" y="5317086"/>
            <a:ext cx="11424899" cy="156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9"/>
              </a:lnSpc>
            </a:pPr>
            <a:r>
              <a:rPr lang="en-US" sz="2942" spc="-164" b="true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예시 ) ‘선의의 거짓말은 나쁘다’</a:t>
            </a:r>
          </a:p>
          <a:p>
            <a:pPr algn="l">
              <a:lnSpc>
                <a:spcPts val="4119"/>
              </a:lnSpc>
            </a:pPr>
            <a:r>
              <a:rPr lang="en-US" sz="2942" spc="-164" b="true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-&gt;(찬성) 방법의 정당성 중요 vs (반대) 목적 실현을 위한 결과 중요 </a:t>
            </a:r>
          </a:p>
          <a:p>
            <a:pPr algn="l">
              <a:lnSpc>
                <a:spcPts val="411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3827742" y="7345911"/>
            <a:ext cx="1164752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168" b="true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학생들의 쉬운 접근을 위해서는?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 - 음식, 과목, 취미 생활에 대한 선호도를 조사하여 간단한 토론 진행 추천 </a:t>
            </a:r>
          </a:p>
        </p:txBody>
      </p:sp>
    </p:spTree>
  </p:cSld>
  <p:clrMapOvr>
    <a:masterClrMapping/>
  </p:clrMapOvr>
  <p:transition spd="fast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211" y="298131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810727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374390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477743" y="1509911"/>
            <a:ext cx="10347525" cy="126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b="true" sz="4800" spc="-369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정책 논제 : </a:t>
            </a:r>
          </a:p>
          <a:p>
            <a:pPr algn="ctr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pc="-369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무엇을 해야한다/하지말아야 한다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453393" y="3505589"/>
            <a:ext cx="14160756" cy="1348443"/>
            <a:chOff x="0" y="0"/>
            <a:chExt cx="4044850" cy="3851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44850" cy="385167"/>
            </a:xfrm>
            <a:custGeom>
              <a:avLst/>
              <a:gdLst/>
              <a:ahLst/>
              <a:cxnLst/>
              <a:rect r="r" b="b" t="t" l="l"/>
              <a:pathLst>
                <a:path h="385167" w="4044850">
                  <a:moveTo>
                    <a:pt x="8201" y="0"/>
                  </a:moveTo>
                  <a:lnTo>
                    <a:pt x="4036650" y="0"/>
                  </a:lnTo>
                  <a:cubicBezTo>
                    <a:pt x="4041179" y="0"/>
                    <a:pt x="4044850" y="3672"/>
                    <a:pt x="4044850" y="8201"/>
                  </a:cubicBezTo>
                  <a:lnTo>
                    <a:pt x="4044850" y="376966"/>
                  </a:lnTo>
                  <a:cubicBezTo>
                    <a:pt x="4044850" y="381495"/>
                    <a:pt x="4041179" y="385167"/>
                    <a:pt x="4036650" y="385167"/>
                  </a:cubicBezTo>
                  <a:lnTo>
                    <a:pt x="8201" y="385167"/>
                  </a:lnTo>
                  <a:cubicBezTo>
                    <a:pt x="3672" y="385167"/>
                    <a:pt x="0" y="381495"/>
                    <a:pt x="0" y="376966"/>
                  </a:cubicBezTo>
                  <a:lnTo>
                    <a:pt x="0" y="8201"/>
                  </a:lnTo>
                  <a:cubicBezTo>
                    <a:pt x="0" y="3672"/>
                    <a:pt x="3672" y="0"/>
                    <a:pt x="8201" y="0"/>
                  </a:cubicBezTo>
                  <a:close/>
                </a:path>
              </a:pathLst>
            </a:custGeom>
            <a:solidFill>
              <a:srgbClr val="F2F9FD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044850" cy="432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53393" y="5143500"/>
            <a:ext cx="14160756" cy="1764261"/>
            <a:chOff x="0" y="0"/>
            <a:chExt cx="4044850" cy="5039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44850" cy="503940"/>
            </a:xfrm>
            <a:custGeom>
              <a:avLst/>
              <a:gdLst/>
              <a:ahLst/>
              <a:cxnLst/>
              <a:rect r="r" b="b" t="t" l="l"/>
              <a:pathLst>
                <a:path h="503940" w="4044850">
                  <a:moveTo>
                    <a:pt x="8201" y="0"/>
                  </a:moveTo>
                  <a:lnTo>
                    <a:pt x="4036650" y="0"/>
                  </a:lnTo>
                  <a:cubicBezTo>
                    <a:pt x="4041179" y="0"/>
                    <a:pt x="4044850" y="3672"/>
                    <a:pt x="4044850" y="8201"/>
                  </a:cubicBezTo>
                  <a:lnTo>
                    <a:pt x="4044850" y="495739"/>
                  </a:lnTo>
                  <a:cubicBezTo>
                    <a:pt x="4044850" y="500268"/>
                    <a:pt x="4041179" y="503940"/>
                    <a:pt x="4036650" y="503940"/>
                  </a:cubicBezTo>
                  <a:lnTo>
                    <a:pt x="8201" y="503940"/>
                  </a:lnTo>
                  <a:cubicBezTo>
                    <a:pt x="3672" y="503940"/>
                    <a:pt x="0" y="500268"/>
                    <a:pt x="0" y="495739"/>
                  </a:cubicBezTo>
                  <a:lnTo>
                    <a:pt x="0" y="8201"/>
                  </a:lnTo>
                  <a:cubicBezTo>
                    <a:pt x="0" y="3672"/>
                    <a:pt x="3672" y="0"/>
                    <a:pt x="8201" y="0"/>
                  </a:cubicBezTo>
                  <a:close/>
                </a:path>
              </a:pathLst>
            </a:custGeom>
            <a:solidFill>
              <a:srgbClr val="F2F9FD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044850" cy="551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453393" y="7193511"/>
            <a:ext cx="14160756" cy="1763483"/>
            <a:chOff x="0" y="0"/>
            <a:chExt cx="4044850" cy="5037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44850" cy="503718"/>
            </a:xfrm>
            <a:custGeom>
              <a:avLst/>
              <a:gdLst/>
              <a:ahLst/>
              <a:cxnLst/>
              <a:rect r="r" b="b" t="t" l="l"/>
              <a:pathLst>
                <a:path h="503718" w="4044850">
                  <a:moveTo>
                    <a:pt x="8201" y="0"/>
                  </a:moveTo>
                  <a:lnTo>
                    <a:pt x="4036650" y="0"/>
                  </a:lnTo>
                  <a:cubicBezTo>
                    <a:pt x="4041179" y="0"/>
                    <a:pt x="4044850" y="3672"/>
                    <a:pt x="4044850" y="8201"/>
                  </a:cubicBezTo>
                  <a:lnTo>
                    <a:pt x="4044850" y="495517"/>
                  </a:lnTo>
                  <a:cubicBezTo>
                    <a:pt x="4044850" y="500046"/>
                    <a:pt x="4041179" y="503718"/>
                    <a:pt x="4036650" y="503718"/>
                  </a:cubicBezTo>
                  <a:lnTo>
                    <a:pt x="8201" y="503718"/>
                  </a:lnTo>
                  <a:cubicBezTo>
                    <a:pt x="3672" y="503718"/>
                    <a:pt x="0" y="500046"/>
                    <a:pt x="0" y="495517"/>
                  </a:cubicBezTo>
                  <a:lnTo>
                    <a:pt x="0" y="8201"/>
                  </a:lnTo>
                  <a:cubicBezTo>
                    <a:pt x="0" y="3672"/>
                    <a:pt x="3672" y="0"/>
                    <a:pt x="8201" y="0"/>
                  </a:cubicBezTo>
                  <a:close/>
                </a:path>
              </a:pathLst>
            </a:custGeom>
            <a:solidFill>
              <a:srgbClr val="F2F9FD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044850" cy="551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726600" y="5211520"/>
            <a:ext cx="11424899" cy="156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9"/>
              </a:lnSpc>
            </a:pPr>
            <a:r>
              <a:rPr lang="en-US" sz="2942" spc="-164" b="true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현재 상황의 문제를 해결할 수 있는가?</a:t>
            </a:r>
          </a:p>
          <a:p>
            <a:pPr algn="l">
              <a:lnSpc>
                <a:spcPts val="4119"/>
              </a:lnSpc>
            </a:pPr>
            <a:r>
              <a:rPr lang="en-US" sz="2942" spc="-164" b="true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그 방안을 실행할 수 있는 가능성은 있는가?</a:t>
            </a:r>
          </a:p>
          <a:p>
            <a:pPr algn="l">
              <a:lnSpc>
                <a:spcPts val="4119"/>
              </a:lnSpc>
              <a:spcBef>
                <a:spcPct val="0"/>
              </a:spcBef>
            </a:pPr>
            <a:r>
              <a:rPr lang="en-US" b="true" sz="2942" spc="-164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실행에 따른 긍정적인 영향과 부정적인 영향은 무엇인가?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27742" y="7774536"/>
            <a:ext cx="11647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위의 질문들을 종합하여 그 방안을 실행할 것인지 아닌지를 최종 판단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27742" y="3638838"/>
            <a:ext cx="11424899" cy="103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9"/>
              </a:lnSpc>
              <a:spcBef>
                <a:spcPct val="0"/>
              </a:spcBef>
            </a:pPr>
            <a:r>
              <a:rPr lang="en-US" b="true" sz="2942" spc="-164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정해진 입장에 대해서 구체적인 실행을 어떻게 할 것인가 혹은 문제에 대한 해결안을 포함하는 것에 대한 논제 </a:t>
            </a:r>
          </a:p>
        </p:txBody>
      </p:sp>
    </p:spTree>
  </p:cSld>
  <p:clrMapOvr>
    <a:masterClrMapping/>
  </p:clrMapOvr>
  <p:transition spd="fast">
    <p:wipe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5011" y="100126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6475355">
            <a:off x="14207921" y="6320197"/>
            <a:ext cx="2159247" cy="2167375"/>
          </a:xfrm>
          <a:custGeom>
            <a:avLst/>
            <a:gdLst/>
            <a:ahLst/>
            <a:cxnLst/>
            <a:rect r="r" b="b" t="t" l="l"/>
            <a:pathLst>
              <a:path h="2167375" w="2159247">
                <a:moveTo>
                  <a:pt x="0" y="0"/>
                </a:moveTo>
                <a:lnTo>
                  <a:pt x="2159247" y="0"/>
                </a:lnTo>
                <a:lnTo>
                  <a:pt x="2159247" y="2167374"/>
                </a:lnTo>
                <a:lnTo>
                  <a:pt x="0" y="2167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406864" y="2545585"/>
            <a:ext cx="847884" cy="84788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4890" y="34890"/>
              <a:ext cx="743021" cy="743021"/>
            </a:xfrm>
            <a:custGeom>
              <a:avLst/>
              <a:gdLst/>
              <a:ahLst/>
              <a:cxnLst/>
              <a:rect r="r" b="b" t="t" l="l"/>
              <a:pathLst>
                <a:path h="743021" w="743021">
                  <a:moveTo>
                    <a:pt x="394679" y="14755"/>
                  </a:moveTo>
                  <a:lnTo>
                    <a:pt x="477656" y="192550"/>
                  </a:lnTo>
                  <a:cubicBezTo>
                    <a:pt x="492623" y="224619"/>
                    <a:pt x="518401" y="250397"/>
                    <a:pt x="550470" y="265364"/>
                  </a:cubicBezTo>
                  <a:lnTo>
                    <a:pt x="728265" y="348341"/>
                  </a:lnTo>
                  <a:cubicBezTo>
                    <a:pt x="737267" y="352542"/>
                    <a:pt x="743020" y="361576"/>
                    <a:pt x="743020" y="371510"/>
                  </a:cubicBezTo>
                  <a:cubicBezTo>
                    <a:pt x="743020" y="381444"/>
                    <a:pt x="737267" y="390478"/>
                    <a:pt x="728265" y="394679"/>
                  </a:cubicBezTo>
                  <a:lnTo>
                    <a:pt x="550470" y="477656"/>
                  </a:lnTo>
                  <a:cubicBezTo>
                    <a:pt x="518401" y="492623"/>
                    <a:pt x="492623" y="518401"/>
                    <a:pt x="477656" y="550470"/>
                  </a:cubicBezTo>
                  <a:lnTo>
                    <a:pt x="394679" y="728265"/>
                  </a:lnTo>
                  <a:cubicBezTo>
                    <a:pt x="390478" y="737267"/>
                    <a:pt x="381444" y="743020"/>
                    <a:pt x="371510" y="743020"/>
                  </a:cubicBezTo>
                  <a:cubicBezTo>
                    <a:pt x="361576" y="743020"/>
                    <a:pt x="352542" y="737267"/>
                    <a:pt x="348341" y="728265"/>
                  </a:cubicBezTo>
                  <a:lnTo>
                    <a:pt x="265364" y="550470"/>
                  </a:lnTo>
                  <a:cubicBezTo>
                    <a:pt x="250397" y="518401"/>
                    <a:pt x="224619" y="492623"/>
                    <a:pt x="192550" y="477656"/>
                  </a:cubicBezTo>
                  <a:lnTo>
                    <a:pt x="14755" y="394679"/>
                  </a:lnTo>
                  <a:cubicBezTo>
                    <a:pt x="5753" y="390478"/>
                    <a:pt x="0" y="381444"/>
                    <a:pt x="0" y="371510"/>
                  </a:cubicBezTo>
                  <a:cubicBezTo>
                    <a:pt x="0" y="361576"/>
                    <a:pt x="5753" y="352542"/>
                    <a:pt x="14755" y="348341"/>
                  </a:cubicBezTo>
                  <a:lnTo>
                    <a:pt x="192550" y="265364"/>
                  </a:lnTo>
                  <a:cubicBezTo>
                    <a:pt x="224619" y="250397"/>
                    <a:pt x="250397" y="224619"/>
                    <a:pt x="265364" y="192550"/>
                  </a:cubicBezTo>
                  <a:lnTo>
                    <a:pt x="348341" y="14755"/>
                  </a:lnTo>
                  <a:cubicBezTo>
                    <a:pt x="352542" y="5753"/>
                    <a:pt x="361576" y="0"/>
                    <a:pt x="371510" y="0"/>
                  </a:cubicBezTo>
                  <a:cubicBezTo>
                    <a:pt x="381444" y="0"/>
                    <a:pt x="390478" y="5753"/>
                    <a:pt x="394679" y="14755"/>
                  </a:cubicBezTo>
                  <a:close/>
                </a:path>
              </a:pathLst>
            </a:custGeom>
            <a:solidFill>
              <a:srgbClr val="FFF9A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02523" y="8292365"/>
            <a:ext cx="624458" cy="62445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7373" y="47373"/>
              <a:ext cx="718054" cy="718054"/>
            </a:xfrm>
            <a:custGeom>
              <a:avLst/>
              <a:gdLst/>
              <a:ahLst/>
              <a:cxnLst/>
              <a:rect r="r" b="b" t="t" l="l"/>
              <a:pathLst>
                <a:path h="718054" w="718054">
                  <a:moveTo>
                    <a:pt x="390486" y="20034"/>
                  </a:moveTo>
                  <a:lnTo>
                    <a:pt x="456883" y="162304"/>
                  </a:lnTo>
                  <a:cubicBezTo>
                    <a:pt x="477205" y="205848"/>
                    <a:pt x="512206" y="240849"/>
                    <a:pt x="555750" y="261171"/>
                  </a:cubicBezTo>
                  <a:lnTo>
                    <a:pt x="698020" y="327568"/>
                  </a:lnTo>
                  <a:cubicBezTo>
                    <a:pt x="710242" y="333272"/>
                    <a:pt x="718054" y="345539"/>
                    <a:pt x="718054" y="359027"/>
                  </a:cubicBezTo>
                  <a:cubicBezTo>
                    <a:pt x="718054" y="372515"/>
                    <a:pt x="710242" y="384782"/>
                    <a:pt x="698020" y="390486"/>
                  </a:cubicBezTo>
                  <a:lnTo>
                    <a:pt x="555750" y="456883"/>
                  </a:lnTo>
                  <a:cubicBezTo>
                    <a:pt x="512206" y="477205"/>
                    <a:pt x="477205" y="512206"/>
                    <a:pt x="456883" y="555750"/>
                  </a:cubicBezTo>
                  <a:lnTo>
                    <a:pt x="390486" y="698020"/>
                  </a:lnTo>
                  <a:cubicBezTo>
                    <a:pt x="384782" y="710242"/>
                    <a:pt x="372515" y="718054"/>
                    <a:pt x="359027" y="718054"/>
                  </a:cubicBezTo>
                  <a:cubicBezTo>
                    <a:pt x="345539" y="718054"/>
                    <a:pt x="333272" y="710242"/>
                    <a:pt x="327568" y="698020"/>
                  </a:cubicBezTo>
                  <a:lnTo>
                    <a:pt x="261171" y="555750"/>
                  </a:lnTo>
                  <a:cubicBezTo>
                    <a:pt x="240849" y="512206"/>
                    <a:pt x="205848" y="477205"/>
                    <a:pt x="162304" y="456883"/>
                  </a:cubicBezTo>
                  <a:lnTo>
                    <a:pt x="20034" y="390486"/>
                  </a:lnTo>
                  <a:cubicBezTo>
                    <a:pt x="7812" y="384782"/>
                    <a:pt x="0" y="372515"/>
                    <a:pt x="0" y="359027"/>
                  </a:cubicBezTo>
                  <a:cubicBezTo>
                    <a:pt x="0" y="345539"/>
                    <a:pt x="7812" y="333272"/>
                    <a:pt x="20034" y="327568"/>
                  </a:cubicBezTo>
                  <a:lnTo>
                    <a:pt x="162304" y="261171"/>
                  </a:lnTo>
                  <a:cubicBezTo>
                    <a:pt x="205848" y="240849"/>
                    <a:pt x="240849" y="205848"/>
                    <a:pt x="261171" y="162304"/>
                  </a:cubicBezTo>
                  <a:lnTo>
                    <a:pt x="327568" y="20034"/>
                  </a:lnTo>
                  <a:cubicBezTo>
                    <a:pt x="333272" y="7812"/>
                    <a:pt x="345539" y="0"/>
                    <a:pt x="359027" y="0"/>
                  </a:cubicBezTo>
                  <a:cubicBezTo>
                    <a:pt x="372515" y="0"/>
                    <a:pt x="384782" y="7812"/>
                    <a:pt x="390486" y="20034"/>
                  </a:cubicBezTo>
                  <a:close/>
                </a:path>
              </a:pathLst>
            </a:custGeom>
            <a:solidFill>
              <a:srgbClr val="FDD2B9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87367" y="1966964"/>
            <a:ext cx="578620" cy="57862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33253" y="33253"/>
              <a:ext cx="746294" cy="746294"/>
            </a:xfrm>
            <a:custGeom>
              <a:avLst/>
              <a:gdLst/>
              <a:ahLst/>
              <a:cxnLst/>
              <a:rect r="r" b="b" t="t" l="l"/>
              <a:pathLst>
                <a:path h="746294" w="746294">
                  <a:moveTo>
                    <a:pt x="429913" y="23513"/>
                  </a:moveTo>
                  <a:lnTo>
                    <a:pt x="722781" y="316381"/>
                  </a:lnTo>
                  <a:cubicBezTo>
                    <a:pt x="737836" y="331436"/>
                    <a:pt x="746294" y="351855"/>
                    <a:pt x="746294" y="373147"/>
                  </a:cubicBezTo>
                  <a:cubicBezTo>
                    <a:pt x="746294" y="394439"/>
                    <a:pt x="737836" y="414858"/>
                    <a:pt x="722781" y="429913"/>
                  </a:cubicBezTo>
                  <a:lnTo>
                    <a:pt x="429913" y="722781"/>
                  </a:lnTo>
                  <a:cubicBezTo>
                    <a:pt x="414858" y="737836"/>
                    <a:pt x="394439" y="746294"/>
                    <a:pt x="373147" y="746294"/>
                  </a:cubicBezTo>
                  <a:cubicBezTo>
                    <a:pt x="351855" y="746294"/>
                    <a:pt x="331436" y="737836"/>
                    <a:pt x="316381" y="722781"/>
                  </a:cubicBezTo>
                  <a:lnTo>
                    <a:pt x="23513" y="429913"/>
                  </a:lnTo>
                  <a:cubicBezTo>
                    <a:pt x="8458" y="414858"/>
                    <a:pt x="0" y="394439"/>
                    <a:pt x="0" y="373147"/>
                  </a:cubicBezTo>
                  <a:cubicBezTo>
                    <a:pt x="0" y="351855"/>
                    <a:pt x="8458" y="331436"/>
                    <a:pt x="23513" y="316381"/>
                  </a:cubicBezTo>
                  <a:lnTo>
                    <a:pt x="316381" y="23513"/>
                  </a:lnTo>
                  <a:cubicBezTo>
                    <a:pt x="331436" y="8458"/>
                    <a:pt x="351855" y="0"/>
                    <a:pt x="373147" y="0"/>
                  </a:cubicBezTo>
                  <a:cubicBezTo>
                    <a:pt x="394439" y="0"/>
                    <a:pt x="414858" y="8458"/>
                    <a:pt x="429913" y="23513"/>
                  </a:cubicBezTo>
                  <a:close/>
                </a:path>
              </a:pathLst>
            </a:custGeom>
            <a:solidFill>
              <a:srgbClr val="D2E3E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9904" y="5892732"/>
            <a:ext cx="478464" cy="47846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0214" y="40214"/>
              <a:ext cx="732372" cy="732372"/>
            </a:xfrm>
            <a:custGeom>
              <a:avLst/>
              <a:gdLst/>
              <a:ahLst/>
              <a:cxnLst/>
              <a:rect r="r" b="b" t="t" l="l"/>
              <a:pathLst>
                <a:path h="732372" w="732372">
                  <a:moveTo>
                    <a:pt x="434835" y="28435"/>
                  </a:moveTo>
                  <a:lnTo>
                    <a:pt x="703937" y="297537"/>
                  </a:lnTo>
                  <a:cubicBezTo>
                    <a:pt x="741851" y="335451"/>
                    <a:pt x="741851" y="396921"/>
                    <a:pt x="703937" y="434835"/>
                  </a:cubicBezTo>
                  <a:lnTo>
                    <a:pt x="434835" y="703937"/>
                  </a:lnTo>
                  <a:cubicBezTo>
                    <a:pt x="396921" y="741851"/>
                    <a:pt x="335451" y="741851"/>
                    <a:pt x="297537" y="703937"/>
                  </a:cubicBezTo>
                  <a:lnTo>
                    <a:pt x="28435" y="434835"/>
                  </a:lnTo>
                  <a:cubicBezTo>
                    <a:pt x="-9479" y="396921"/>
                    <a:pt x="-9479" y="335451"/>
                    <a:pt x="28435" y="297537"/>
                  </a:cubicBezTo>
                  <a:lnTo>
                    <a:pt x="297537" y="28435"/>
                  </a:lnTo>
                  <a:cubicBezTo>
                    <a:pt x="335451" y="-9479"/>
                    <a:pt x="396921" y="-9479"/>
                    <a:pt x="434835" y="28435"/>
                  </a:cubicBezTo>
                  <a:close/>
                </a:path>
              </a:pathLst>
            </a:custGeom>
            <a:solidFill>
              <a:srgbClr val="EBD7E2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855089" y="8292365"/>
            <a:ext cx="246938" cy="24693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9A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736711" y="5892732"/>
            <a:ext cx="300869" cy="300869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DAC2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025864" y="4512586"/>
            <a:ext cx="9527087" cy="20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60"/>
              </a:lnSpc>
            </a:pPr>
            <a:r>
              <a:rPr lang="en-US" b="true" sz="6689" spc="-515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쟁점을 효과적으로 찾을 수 있는 방법이 있나요?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83776" y="3161699"/>
            <a:ext cx="215577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4E39D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질문7 </a:t>
            </a:r>
          </a:p>
        </p:txBody>
      </p:sp>
    </p:spTree>
  </p:cSld>
  <p:clrMapOvr>
    <a:masterClrMapping/>
  </p:clrMapOvr>
  <p:transition spd="fast">
    <p:wipe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211" y="298131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09525" y="3814703"/>
            <a:ext cx="7442382" cy="4999584"/>
            <a:chOff x="0" y="0"/>
            <a:chExt cx="2125827" cy="1428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25827" cy="1428071"/>
            </a:xfrm>
            <a:custGeom>
              <a:avLst/>
              <a:gdLst/>
              <a:ahLst/>
              <a:cxnLst/>
              <a:rect r="r" b="b" t="t" l="l"/>
              <a:pathLst>
                <a:path h="1428071" w="2125827">
                  <a:moveTo>
                    <a:pt x="15604" y="0"/>
                  </a:moveTo>
                  <a:lnTo>
                    <a:pt x="2110224" y="0"/>
                  </a:lnTo>
                  <a:cubicBezTo>
                    <a:pt x="2114362" y="0"/>
                    <a:pt x="2118331" y="1644"/>
                    <a:pt x="2121257" y="4570"/>
                  </a:cubicBezTo>
                  <a:cubicBezTo>
                    <a:pt x="2124183" y="7496"/>
                    <a:pt x="2125827" y="11465"/>
                    <a:pt x="2125827" y="15604"/>
                  </a:cubicBezTo>
                  <a:lnTo>
                    <a:pt x="2125827" y="1412468"/>
                  </a:lnTo>
                  <a:cubicBezTo>
                    <a:pt x="2125827" y="1416606"/>
                    <a:pt x="2124183" y="1420575"/>
                    <a:pt x="2121257" y="1423501"/>
                  </a:cubicBezTo>
                  <a:cubicBezTo>
                    <a:pt x="2118331" y="1426427"/>
                    <a:pt x="2114362" y="1428071"/>
                    <a:pt x="2110224" y="1428071"/>
                  </a:cubicBezTo>
                  <a:lnTo>
                    <a:pt x="15604" y="1428071"/>
                  </a:lnTo>
                  <a:cubicBezTo>
                    <a:pt x="11465" y="1428071"/>
                    <a:pt x="7496" y="1426427"/>
                    <a:pt x="4570" y="1423501"/>
                  </a:cubicBezTo>
                  <a:cubicBezTo>
                    <a:pt x="1644" y="1420575"/>
                    <a:pt x="0" y="1416606"/>
                    <a:pt x="0" y="1412468"/>
                  </a:cubicBezTo>
                  <a:lnTo>
                    <a:pt x="0" y="15604"/>
                  </a:lnTo>
                  <a:cubicBezTo>
                    <a:pt x="0" y="11465"/>
                    <a:pt x="1644" y="7496"/>
                    <a:pt x="4570" y="4570"/>
                  </a:cubicBezTo>
                  <a:cubicBezTo>
                    <a:pt x="7496" y="1644"/>
                    <a:pt x="11465" y="0"/>
                    <a:pt x="15604" y="0"/>
                  </a:cubicBezTo>
                  <a:close/>
                </a:path>
              </a:pathLst>
            </a:custGeom>
            <a:solidFill>
              <a:srgbClr val="FFFAE5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25827" cy="1475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36094" y="3814703"/>
            <a:ext cx="7442382" cy="4999584"/>
            <a:chOff x="0" y="0"/>
            <a:chExt cx="2125827" cy="1428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5827" cy="1428071"/>
            </a:xfrm>
            <a:custGeom>
              <a:avLst/>
              <a:gdLst/>
              <a:ahLst/>
              <a:cxnLst/>
              <a:rect r="r" b="b" t="t" l="l"/>
              <a:pathLst>
                <a:path h="1428071" w="2125827">
                  <a:moveTo>
                    <a:pt x="15604" y="0"/>
                  </a:moveTo>
                  <a:lnTo>
                    <a:pt x="2110224" y="0"/>
                  </a:lnTo>
                  <a:cubicBezTo>
                    <a:pt x="2114362" y="0"/>
                    <a:pt x="2118331" y="1644"/>
                    <a:pt x="2121257" y="4570"/>
                  </a:cubicBezTo>
                  <a:cubicBezTo>
                    <a:pt x="2124183" y="7496"/>
                    <a:pt x="2125827" y="11465"/>
                    <a:pt x="2125827" y="15604"/>
                  </a:cubicBezTo>
                  <a:lnTo>
                    <a:pt x="2125827" y="1412468"/>
                  </a:lnTo>
                  <a:cubicBezTo>
                    <a:pt x="2125827" y="1416606"/>
                    <a:pt x="2124183" y="1420575"/>
                    <a:pt x="2121257" y="1423501"/>
                  </a:cubicBezTo>
                  <a:cubicBezTo>
                    <a:pt x="2118331" y="1426427"/>
                    <a:pt x="2114362" y="1428071"/>
                    <a:pt x="2110224" y="1428071"/>
                  </a:cubicBezTo>
                  <a:lnTo>
                    <a:pt x="15604" y="1428071"/>
                  </a:lnTo>
                  <a:cubicBezTo>
                    <a:pt x="11465" y="1428071"/>
                    <a:pt x="7496" y="1426427"/>
                    <a:pt x="4570" y="1423501"/>
                  </a:cubicBezTo>
                  <a:cubicBezTo>
                    <a:pt x="1644" y="1420575"/>
                    <a:pt x="0" y="1416606"/>
                    <a:pt x="0" y="1412468"/>
                  </a:cubicBezTo>
                  <a:lnTo>
                    <a:pt x="0" y="15604"/>
                  </a:lnTo>
                  <a:cubicBezTo>
                    <a:pt x="0" y="11465"/>
                    <a:pt x="1644" y="7496"/>
                    <a:pt x="4570" y="4570"/>
                  </a:cubicBezTo>
                  <a:cubicBezTo>
                    <a:pt x="7496" y="1644"/>
                    <a:pt x="11465" y="0"/>
                    <a:pt x="15604" y="0"/>
                  </a:cubicBezTo>
                  <a:close/>
                </a:path>
              </a:pathLst>
            </a:custGeom>
            <a:solidFill>
              <a:srgbClr val="F2F9FD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25827" cy="1475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68306" y="5204341"/>
            <a:ext cx="6741324" cy="3231367"/>
            <a:chOff x="0" y="0"/>
            <a:chExt cx="1925578" cy="9230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5578" cy="923001"/>
            </a:xfrm>
            <a:custGeom>
              <a:avLst/>
              <a:gdLst/>
              <a:ahLst/>
              <a:cxnLst/>
              <a:rect r="r" b="b" t="t" l="l"/>
              <a:pathLst>
                <a:path h="923001" w="1925578">
                  <a:moveTo>
                    <a:pt x="17226" y="0"/>
                  </a:moveTo>
                  <a:lnTo>
                    <a:pt x="1908352" y="0"/>
                  </a:lnTo>
                  <a:cubicBezTo>
                    <a:pt x="1917866" y="0"/>
                    <a:pt x="1925578" y="7713"/>
                    <a:pt x="1925578" y="17226"/>
                  </a:cubicBezTo>
                  <a:lnTo>
                    <a:pt x="1925578" y="905775"/>
                  </a:lnTo>
                  <a:cubicBezTo>
                    <a:pt x="1925578" y="915289"/>
                    <a:pt x="1917866" y="923001"/>
                    <a:pt x="1908352" y="923001"/>
                  </a:cubicBezTo>
                  <a:lnTo>
                    <a:pt x="17226" y="923001"/>
                  </a:lnTo>
                  <a:cubicBezTo>
                    <a:pt x="7713" y="923001"/>
                    <a:pt x="0" y="915289"/>
                    <a:pt x="0" y="905775"/>
                  </a:cubicBezTo>
                  <a:lnTo>
                    <a:pt x="0" y="17226"/>
                  </a:lnTo>
                  <a:cubicBezTo>
                    <a:pt x="0" y="7713"/>
                    <a:pt x="7713" y="0"/>
                    <a:pt x="1722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925578" cy="999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 b="true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토론에서 찬성 측과 반대 측이 </a:t>
              </a:r>
            </a:p>
            <a:p>
              <a:pPr algn="ctr">
                <a:lnSpc>
                  <a:spcPts val="5039"/>
                </a:lnSpc>
              </a:pPr>
              <a:r>
                <a:rPr lang="en-US" b="true" sz="3599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분명히 의견을 달리하는 지점</a:t>
              </a:r>
            </a:p>
            <a:p>
              <a:pPr algn="ctr">
                <a:lnSpc>
                  <a:spcPts val="5039"/>
                </a:lnSpc>
              </a:pPr>
              <a:r>
                <a:rPr lang="en-US" b="true" sz="3599">
                  <a:solidFill>
                    <a:srgbClr val="000000"/>
                  </a:solidFill>
                  <a:latin typeface="Arita Dotum Light"/>
                  <a:ea typeface="Arita Dotum Light"/>
                  <a:cs typeface="Arita Dotum Light"/>
                  <a:sym typeface="Arita Dotum Light"/>
                </a:rPr>
                <a:t>(찬성과 반대가 부딪치는 지점)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94875" y="5204341"/>
            <a:ext cx="6741324" cy="3231367"/>
            <a:chOff x="0" y="0"/>
            <a:chExt cx="1925578" cy="9230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25578" cy="923001"/>
            </a:xfrm>
            <a:custGeom>
              <a:avLst/>
              <a:gdLst/>
              <a:ahLst/>
              <a:cxnLst/>
              <a:rect r="r" b="b" t="t" l="l"/>
              <a:pathLst>
                <a:path h="923001" w="1925578">
                  <a:moveTo>
                    <a:pt x="17226" y="0"/>
                  </a:moveTo>
                  <a:lnTo>
                    <a:pt x="1908352" y="0"/>
                  </a:lnTo>
                  <a:cubicBezTo>
                    <a:pt x="1917866" y="0"/>
                    <a:pt x="1925578" y="7713"/>
                    <a:pt x="1925578" y="17226"/>
                  </a:cubicBezTo>
                  <a:lnTo>
                    <a:pt x="1925578" y="905775"/>
                  </a:lnTo>
                  <a:cubicBezTo>
                    <a:pt x="1925578" y="915289"/>
                    <a:pt x="1917866" y="923001"/>
                    <a:pt x="1908352" y="923001"/>
                  </a:cubicBezTo>
                  <a:lnTo>
                    <a:pt x="17226" y="923001"/>
                  </a:lnTo>
                  <a:cubicBezTo>
                    <a:pt x="7713" y="923001"/>
                    <a:pt x="0" y="915289"/>
                    <a:pt x="0" y="905775"/>
                  </a:cubicBezTo>
                  <a:lnTo>
                    <a:pt x="0" y="17226"/>
                  </a:lnTo>
                  <a:cubicBezTo>
                    <a:pt x="0" y="7713"/>
                    <a:pt x="7713" y="0"/>
                    <a:pt x="1722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925578" cy="980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문제 상황에서 서로 다르게 주장하는 부분은?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논제에 관련된 근거에서 의견이 대립되거나 불일치하는 부분은 무엇인가?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810727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374390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140228" y="2348781"/>
            <a:ext cx="8007544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pc="-369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쟁점의 뜻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77494" y="4225110"/>
            <a:ext cx="652598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 spc="-234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쟁점이란?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04063" y="4225110"/>
            <a:ext cx="652598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34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쟁점을 잘 찾으려면?</a:t>
            </a:r>
          </a:p>
        </p:txBody>
      </p:sp>
    </p:spTree>
  </p:cSld>
  <p:clrMapOvr>
    <a:masterClrMapping/>
  </p:clrMapOvr>
  <p:transition spd="fast">
    <p:wipe dir="u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211" y="298131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09525" y="3814703"/>
            <a:ext cx="7442382" cy="4999584"/>
            <a:chOff x="0" y="0"/>
            <a:chExt cx="2125827" cy="1428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25827" cy="1428071"/>
            </a:xfrm>
            <a:custGeom>
              <a:avLst/>
              <a:gdLst/>
              <a:ahLst/>
              <a:cxnLst/>
              <a:rect r="r" b="b" t="t" l="l"/>
              <a:pathLst>
                <a:path h="1428071" w="2125827">
                  <a:moveTo>
                    <a:pt x="15604" y="0"/>
                  </a:moveTo>
                  <a:lnTo>
                    <a:pt x="2110224" y="0"/>
                  </a:lnTo>
                  <a:cubicBezTo>
                    <a:pt x="2114362" y="0"/>
                    <a:pt x="2118331" y="1644"/>
                    <a:pt x="2121257" y="4570"/>
                  </a:cubicBezTo>
                  <a:cubicBezTo>
                    <a:pt x="2124183" y="7496"/>
                    <a:pt x="2125827" y="11465"/>
                    <a:pt x="2125827" y="15604"/>
                  </a:cubicBezTo>
                  <a:lnTo>
                    <a:pt x="2125827" y="1412468"/>
                  </a:lnTo>
                  <a:cubicBezTo>
                    <a:pt x="2125827" y="1416606"/>
                    <a:pt x="2124183" y="1420575"/>
                    <a:pt x="2121257" y="1423501"/>
                  </a:cubicBezTo>
                  <a:cubicBezTo>
                    <a:pt x="2118331" y="1426427"/>
                    <a:pt x="2114362" y="1428071"/>
                    <a:pt x="2110224" y="1428071"/>
                  </a:cubicBezTo>
                  <a:lnTo>
                    <a:pt x="15604" y="1428071"/>
                  </a:lnTo>
                  <a:cubicBezTo>
                    <a:pt x="11465" y="1428071"/>
                    <a:pt x="7496" y="1426427"/>
                    <a:pt x="4570" y="1423501"/>
                  </a:cubicBezTo>
                  <a:cubicBezTo>
                    <a:pt x="1644" y="1420575"/>
                    <a:pt x="0" y="1416606"/>
                    <a:pt x="0" y="1412468"/>
                  </a:cubicBezTo>
                  <a:lnTo>
                    <a:pt x="0" y="15604"/>
                  </a:lnTo>
                  <a:cubicBezTo>
                    <a:pt x="0" y="11465"/>
                    <a:pt x="1644" y="7496"/>
                    <a:pt x="4570" y="4570"/>
                  </a:cubicBezTo>
                  <a:cubicBezTo>
                    <a:pt x="7496" y="1644"/>
                    <a:pt x="11465" y="0"/>
                    <a:pt x="15604" y="0"/>
                  </a:cubicBezTo>
                  <a:close/>
                </a:path>
              </a:pathLst>
            </a:custGeom>
            <a:solidFill>
              <a:srgbClr val="FFFAE5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25827" cy="1475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36094" y="3814703"/>
            <a:ext cx="7442382" cy="4999584"/>
            <a:chOff x="0" y="0"/>
            <a:chExt cx="2125827" cy="1428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5827" cy="1428071"/>
            </a:xfrm>
            <a:custGeom>
              <a:avLst/>
              <a:gdLst/>
              <a:ahLst/>
              <a:cxnLst/>
              <a:rect r="r" b="b" t="t" l="l"/>
              <a:pathLst>
                <a:path h="1428071" w="2125827">
                  <a:moveTo>
                    <a:pt x="15604" y="0"/>
                  </a:moveTo>
                  <a:lnTo>
                    <a:pt x="2110224" y="0"/>
                  </a:lnTo>
                  <a:cubicBezTo>
                    <a:pt x="2114362" y="0"/>
                    <a:pt x="2118331" y="1644"/>
                    <a:pt x="2121257" y="4570"/>
                  </a:cubicBezTo>
                  <a:cubicBezTo>
                    <a:pt x="2124183" y="7496"/>
                    <a:pt x="2125827" y="11465"/>
                    <a:pt x="2125827" y="15604"/>
                  </a:cubicBezTo>
                  <a:lnTo>
                    <a:pt x="2125827" y="1412468"/>
                  </a:lnTo>
                  <a:cubicBezTo>
                    <a:pt x="2125827" y="1416606"/>
                    <a:pt x="2124183" y="1420575"/>
                    <a:pt x="2121257" y="1423501"/>
                  </a:cubicBezTo>
                  <a:cubicBezTo>
                    <a:pt x="2118331" y="1426427"/>
                    <a:pt x="2114362" y="1428071"/>
                    <a:pt x="2110224" y="1428071"/>
                  </a:cubicBezTo>
                  <a:lnTo>
                    <a:pt x="15604" y="1428071"/>
                  </a:lnTo>
                  <a:cubicBezTo>
                    <a:pt x="11465" y="1428071"/>
                    <a:pt x="7496" y="1426427"/>
                    <a:pt x="4570" y="1423501"/>
                  </a:cubicBezTo>
                  <a:cubicBezTo>
                    <a:pt x="1644" y="1420575"/>
                    <a:pt x="0" y="1416606"/>
                    <a:pt x="0" y="1412468"/>
                  </a:cubicBezTo>
                  <a:lnTo>
                    <a:pt x="0" y="15604"/>
                  </a:lnTo>
                  <a:cubicBezTo>
                    <a:pt x="0" y="11465"/>
                    <a:pt x="1644" y="7496"/>
                    <a:pt x="4570" y="4570"/>
                  </a:cubicBezTo>
                  <a:cubicBezTo>
                    <a:pt x="7496" y="1644"/>
                    <a:pt x="11465" y="0"/>
                    <a:pt x="15604" y="0"/>
                  </a:cubicBezTo>
                  <a:close/>
                </a:path>
              </a:pathLst>
            </a:custGeom>
            <a:solidFill>
              <a:srgbClr val="F2F9FD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25827" cy="1475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68306" y="5204341"/>
            <a:ext cx="6741324" cy="3231367"/>
            <a:chOff x="0" y="0"/>
            <a:chExt cx="1925578" cy="9230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5578" cy="923001"/>
            </a:xfrm>
            <a:custGeom>
              <a:avLst/>
              <a:gdLst/>
              <a:ahLst/>
              <a:cxnLst/>
              <a:rect r="r" b="b" t="t" l="l"/>
              <a:pathLst>
                <a:path h="923001" w="1925578">
                  <a:moveTo>
                    <a:pt x="17226" y="0"/>
                  </a:moveTo>
                  <a:lnTo>
                    <a:pt x="1908352" y="0"/>
                  </a:lnTo>
                  <a:cubicBezTo>
                    <a:pt x="1917866" y="0"/>
                    <a:pt x="1925578" y="7713"/>
                    <a:pt x="1925578" y="17226"/>
                  </a:cubicBezTo>
                  <a:lnTo>
                    <a:pt x="1925578" y="905775"/>
                  </a:lnTo>
                  <a:cubicBezTo>
                    <a:pt x="1925578" y="915289"/>
                    <a:pt x="1917866" y="923001"/>
                    <a:pt x="1908352" y="923001"/>
                  </a:cubicBezTo>
                  <a:lnTo>
                    <a:pt x="17226" y="923001"/>
                  </a:lnTo>
                  <a:cubicBezTo>
                    <a:pt x="7713" y="923001"/>
                    <a:pt x="0" y="915289"/>
                    <a:pt x="0" y="905775"/>
                  </a:cubicBezTo>
                  <a:lnTo>
                    <a:pt x="0" y="17226"/>
                  </a:lnTo>
                  <a:cubicBezTo>
                    <a:pt x="0" y="7713"/>
                    <a:pt x="7713" y="0"/>
                    <a:pt x="1722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925578" cy="999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1) 돈의 소중함을 알게된다</a:t>
              </a:r>
            </a:p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2) 가정 경제에 보탬이 된다. </a:t>
              </a:r>
            </a:p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3) 대인 관계가 개선된다.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94875" y="5204341"/>
            <a:ext cx="6741324" cy="3231367"/>
            <a:chOff x="0" y="0"/>
            <a:chExt cx="1925578" cy="9230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25578" cy="923001"/>
            </a:xfrm>
            <a:custGeom>
              <a:avLst/>
              <a:gdLst/>
              <a:ahLst/>
              <a:cxnLst/>
              <a:rect r="r" b="b" t="t" l="l"/>
              <a:pathLst>
                <a:path h="923001" w="1925578">
                  <a:moveTo>
                    <a:pt x="17226" y="0"/>
                  </a:moveTo>
                  <a:lnTo>
                    <a:pt x="1908352" y="0"/>
                  </a:lnTo>
                  <a:cubicBezTo>
                    <a:pt x="1917866" y="0"/>
                    <a:pt x="1925578" y="7713"/>
                    <a:pt x="1925578" y="17226"/>
                  </a:cubicBezTo>
                  <a:lnTo>
                    <a:pt x="1925578" y="905775"/>
                  </a:lnTo>
                  <a:cubicBezTo>
                    <a:pt x="1925578" y="915289"/>
                    <a:pt x="1917866" y="923001"/>
                    <a:pt x="1908352" y="923001"/>
                  </a:cubicBezTo>
                  <a:lnTo>
                    <a:pt x="17226" y="923001"/>
                  </a:lnTo>
                  <a:cubicBezTo>
                    <a:pt x="7713" y="923001"/>
                    <a:pt x="0" y="915289"/>
                    <a:pt x="0" y="905775"/>
                  </a:cubicBezTo>
                  <a:lnTo>
                    <a:pt x="0" y="17226"/>
                  </a:lnTo>
                  <a:cubicBezTo>
                    <a:pt x="0" y="7713"/>
                    <a:pt x="7713" y="0"/>
                    <a:pt x="1722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925578" cy="989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1) 유흥비를 벌기 위해 아르바이트를 한다. </a:t>
              </a:r>
            </a:p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2) 돈을 낭비하게 된다.</a:t>
              </a:r>
            </a:p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3) 나쁜 친구를 사귈 수 있다. 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810727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374390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901774">
            <a:off x="7917142" y="6323381"/>
            <a:ext cx="2837904" cy="592412"/>
          </a:xfrm>
          <a:custGeom>
            <a:avLst/>
            <a:gdLst/>
            <a:ahLst/>
            <a:cxnLst/>
            <a:rect r="r" b="b" t="t" l="l"/>
            <a:pathLst>
              <a:path h="592412" w="2837904">
                <a:moveTo>
                  <a:pt x="0" y="0"/>
                </a:moveTo>
                <a:lnTo>
                  <a:pt x="2837904" y="0"/>
                </a:lnTo>
                <a:lnTo>
                  <a:pt x="2837904" y="592413"/>
                </a:lnTo>
                <a:lnTo>
                  <a:pt x="0" y="5924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832296" y="2260480"/>
            <a:ext cx="11480723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pc="-369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[사례]논제: 청소년 아르바이트는 바람직하다.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77494" y="4225110"/>
            <a:ext cx="652598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 spc="-234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찬성 측 주장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04063" y="4225110"/>
            <a:ext cx="652598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34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반대 측 주장 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80244">
            <a:off x="7532954" y="7461811"/>
            <a:ext cx="2837904" cy="592412"/>
          </a:xfrm>
          <a:custGeom>
            <a:avLst/>
            <a:gdLst/>
            <a:ahLst/>
            <a:cxnLst/>
            <a:rect r="r" b="b" t="t" l="l"/>
            <a:pathLst>
              <a:path h="592412" w="2837904">
                <a:moveTo>
                  <a:pt x="0" y="0"/>
                </a:moveTo>
                <a:lnTo>
                  <a:pt x="2837904" y="0"/>
                </a:lnTo>
                <a:lnTo>
                  <a:pt x="2837904" y="592413"/>
                </a:lnTo>
                <a:lnTo>
                  <a:pt x="0" y="5924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d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211" y="298131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09525" y="3814703"/>
            <a:ext cx="7442382" cy="4999584"/>
            <a:chOff x="0" y="0"/>
            <a:chExt cx="2125827" cy="1428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25827" cy="1428071"/>
            </a:xfrm>
            <a:custGeom>
              <a:avLst/>
              <a:gdLst/>
              <a:ahLst/>
              <a:cxnLst/>
              <a:rect r="r" b="b" t="t" l="l"/>
              <a:pathLst>
                <a:path h="1428071" w="2125827">
                  <a:moveTo>
                    <a:pt x="15604" y="0"/>
                  </a:moveTo>
                  <a:lnTo>
                    <a:pt x="2110224" y="0"/>
                  </a:lnTo>
                  <a:cubicBezTo>
                    <a:pt x="2114362" y="0"/>
                    <a:pt x="2118331" y="1644"/>
                    <a:pt x="2121257" y="4570"/>
                  </a:cubicBezTo>
                  <a:cubicBezTo>
                    <a:pt x="2124183" y="7496"/>
                    <a:pt x="2125827" y="11465"/>
                    <a:pt x="2125827" y="15604"/>
                  </a:cubicBezTo>
                  <a:lnTo>
                    <a:pt x="2125827" y="1412468"/>
                  </a:lnTo>
                  <a:cubicBezTo>
                    <a:pt x="2125827" y="1416606"/>
                    <a:pt x="2124183" y="1420575"/>
                    <a:pt x="2121257" y="1423501"/>
                  </a:cubicBezTo>
                  <a:cubicBezTo>
                    <a:pt x="2118331" y="1426427"/>
                    <a:pt x="2114362" y="1428071"/>
                    <a:pt x="2110224" y="1428071"/>
                  </a:cubicBezTo>
                  <a:lnTo>
                    <a:pt x="15604" y="1428071"/>
                  </a:lnTo>
                  <a:cubicBezTo>
                    <a:pt x="11465" y="1428071"/>
                    <a:pt x="7496" y="1426427"/>
                    <a:pt x="4570" y="1423501"/>
                  </a:cubicBezTo>
                  <a:cubicBezTo>
                    <a:pt x="1644" y="1420575"/>
                    <a:pt x="0" y="1416606"/>
                    <a:pt x="0" y="1412468"/>
                  </a:cubicBezTo>
                  <a:lnTo>
                    <a:pt x="0" y="15604"/>
                  </a:lnTo>
                  <a:cubicBezTo>
                    <a:pt x="0" y="11465"/>
                    <a:pt x="1644" y="7496"/>
                    <a:pt x="4570" y="4570"/>
                  </a:cubicBezTo>
                  <a:cubicBezTo>
                    <a:pt x="7496" y="1644"/>
                    <a:pt x="11465" y="0"/>
                    <a:pt x="15604" y="0"/>
                  </a:cubicBezTo>
                  <a:close/>
                </a:path>
              </a:pathLst>
            </a:custGeom>
            <a:solidFill>
              <a:srgbClr val="FFFAE5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25827" cy="1475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36094" y="3814703"/>
            <a:ext cx="7442382" cy="4999584"/>
            <a:chOff x="0" y="0"/>
            <a:chExt cx="2125827" cy="1428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5827" cy="1428071"/>
            </a:xfrm>
            <a:custGeom>
              <a:avLst/>
              <a:gdLst/>
              <a:ahLst/>
              <a:cxnLst/>
              <a:rect r="r" b="b" t="t" l="l"/>
              <a:pathLst>
                <a:path h="1428071" w="2125827">
                  <a:moveTo>
                    <a:pt x="15604" y="0"/>
                  </a:moveTo>
                  <a:lnTo>
                    <a:pt x="2110224" y="0"/>
                  </a:lnTo>
                  <a:cubicBezTo>
                    <a:pt x="2114362" y="0"/>
                    <a:pt x="2118331" y="1644"/>
                    <a:pt x="2121257" y="4570"/>
                  </a:cubicBezTo>
                  <a:cubicBezTo>
                    <a:pt x="2124183" y="7496"/>
                    <a:pt x="2125827" y="11465"/>
                    <a:pt x="2125827" y="15604"/>
                  </a:cubicBezTo>
                  <a:lnTo>
                    <a:pt x="2125827" y="1412468"/>
                  </a:lnTo>
                  <a:cubicBezTo>
                    <a:pt x="2125827" y="1416606"/>
                    <a:pt x="2124183" y="1420575"/>
                    <a:pt x="2121257" y="1423501"/>
                  </a:cubicBezTo>
                  <a:cubicBezTo>
                    <a:pt x="2118331" y="1426427"/>
                    <a:pt x="2114362" y="1428071"/>
                    <a:pt x="2110224" y="1428071"/>
                  </a:cubicBezTo>
                  <a:lnTo>
                    <a:pt x="15604" y="1428071"/>
                  </a:lnTo>
                  <a:cubicBezTo>
                    <a:pt x="11465" y="1428071"/>
                    <a:pt x="7496" y="1426427"/>
                    <a:pt x="4570" y="1423501"/>
                  </a:cubicBezTo>
                  <a:cubicBezTo>
                    <a:pt x="1644" y="1420575"/>
                    <a:pt x="0" y="1416606"/>
                    <a:pt x="0" y="1412468"/>
                  </a:cubicBezTo>
                  <a:lnTo>
                    <a:pt x="0" y="15604"/>
                  </a:lnTo>
                  <a:cubicBezTo>
                    <a:pt x="0" y="11465"/>
                    <a:pt x="1644" y="7496"/>
                    <a:pt x="4570" y="4570"/>
                  </a:cubicBezTo>
                  <a:cubicBezTo>
                    <a:pt x="7496" y="1644"/>
                    <a:pt x="11465" y="0"/>
                    <a:pt x="15604" y="0"/>
                  </a:cubicBezTo>
                  <a:close/>
                </a:path>
              </a:pathLst>
            </a:custGeom>
            <a:solidFill>
              <a:srgbClr val="F2F9FD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25827" cy="1475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68306" y="5204341"/>
            <a:ext cx="6741324" cy="3231367"/>
            <a:chOff x="0" y="0"/>
            <a:chExt cx="1925578" cy="9230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5578" cy="923001"/>
            </a:xfrm>
            <a:custGeom>
              <a:avLst/>
              <a:gdLst/>
              <a:ahLst/>
              <a:cxnLst/>
              <a:rect r="r" b="b" t="t" l="l"/>
              <a:pathLst>
                <a:path h="923001" w="1925578">
                  <a:moveTo>
                    <a:pt x="17226" y="0"/>
                  </a:moveTo>
                  <a:lnTo>
                    <a:pt x="1908352" y="0"/>
                  </a:lnTo>
                  <a:cubicBezTo>
                    <a:pt x="1917866" y="0"/>
                    <a:pt x="1925578" y="7713"/>
                    <a:pt x="1925578" y="17226"/>
                  </a:cubicBezTo>
                  <a:lnTo>
                    <a:pt x="1925578" y="905775"/>
                  </a:lnTo>
                  <a:cubicBezTo>
                    <a:pt x="1925578" y="915289"/>
                    <a:pt x="1917866" y="923001"/>
                    <a:pt x="1908352" y="923001"/>
                  </a:cubicBezTo>
                  <a:lnTo>
                    <a:pt x="17226" y="923001"/>
                  </a:lnTo>
                  <a:cubicBezTo>
                    <a:pt x="7713" y="923001"/>
                    <a:pt x="0" y="915289"/>
                    <a:pt x="0" y="905775"/>
                  </a:cubicBezTo>
                  <a:lnTo>
                    <a:pt x="0" y="17226"/>
                  </a:lnTo>
                  <a:cubicBezTo>
                    <a:pt x="0" y="7713"/>
                    <a:pt x="7713" y="0"/>
                    <a:pt x="1722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4E39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925578" cy="999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94875" y="5204341"/>
            <a:ext cx="6741324" cy="3231367"/>
            <a:chOff x="0" y="0"/>
            <a:chExt cx="1925578" cy="9230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25578" cy="923001"/>
            </a:xfrm>
            <a:custGeom>
              <a:avLst/>
              <a:gdLst/>
              <a:ahLst/>
              <a:cxnLst/>
              <a:rect r="r" b="b" t="t" l="l"/>
              <a:pathLst>
                <a:path h="923001" w="1925578">
                  <a:moveTo>
                    <a:pt x="17226" y="0"/>
                  </a:moveTo>
                  <a:lnTo>
                    <a:pt x="1908352" y="0"/>
                  </a:lnTo>
                  <a:cubicBezTo>
                    <a:pt x="1917866" y="0"/>
                    <a:pt x="1925578" y="7713"/>
                    <a:pt x="1925578" y="17226"/>
                  </a:cubicBezTo>
                  <a:lnTo>
                    <a:pt x="1925578" y="905775"/>
                  </a:lnTo>
                  <a:cubicBezTo>
                    <a:pt x="1925578" y="915289"/>
                    <a:pt x="1917866" y="923001"/>
                    <a:pt x="1908352" y="923001"/>
                  </a:cubicBezTo>
                  <a:lnTo>
                    <a:pt x="17226" y="923001"/>
                  </a:lnTo>
                  <a:cubicBezTo>
                    <a:pt x="7713" y="923001"/>
                    <a:pt x="0" y="915289"/>
                    <a:pt x="0" y="905775"/>
                  </a:cubicBezTo>
                  <a:lnTo>
                    <a:pt x="0" y="17226"/>
                  </a:lnTo>
                  <a:cubicBezTo>
                    <a:pt x="0" y="7713"/>
                    <a:pt x="7713" y="0"/>
                    <a:pt x="1722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2E3E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925578" cy="989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810727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374390" y="2435068"/>
            <a:ext cx="6265140" cy="563863"/>
          </a:xfrm>
          <a:custGeom>
            <a:avLst/>
            <a:gdLst/>
            <a:ahLst/>
            <a:cxnLst/>
            <a:rect r="r" b="b" t="t" l="l"/>
            <a:pathLst>
              <a:path h="563863" w="6265140">
                <a:moveTo>
                  <a:pt x="0" y="0"/>
                </a:moveTo>
                <a:lnTo>
                  <a:pt x="6265140" y="0"/>
                </a:lnTo>
                <a:lnTo>
                  <a:pt x="6265140" y="563863"/>
                </a:lnTo>
                <a:lnTo>
                  <a:pt x="0" y="56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832296" y="2260480"/>
            <a:ext cx="11480723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pc="-369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[실습]논제: 무인 점포의 확산은 바람직하다.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77494" y="4225110"/>
            <a:ext cx="652598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 spc="-234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찬성 측 주장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04063" y="4225110"/>
            <a:ext cx="652598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34">
                <a:solidFill>
                  <a:srgbClr val="252525"/>
                </a:solidFill>
                <a:latin typeface="Tlab 모던라운드 Medium"/>
                <a:ea typeface="Tlab 모던라운드 Medium"/>
                <a:cs typeface="Tlab 모던라운드 Medium"/>
                <a:sym typeface="Tlab 모던라운드 Medium"/>
              </a:rPr>
              <a:t>반대 측 주장 </a:t>
            </a:r>
          </a:p>
        </p:txBody>
      </p:sp>
    </p:spTree>
  </p:cSld>
  <p:clrMapOvr>
    <a:masterClrMapping/>
  </p:clrMapOvr>
  <p:transition spd="fast">
    <p:wipe dir="d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211" y="298131"/>
            <a:ext cx="16757979" cy="9470790"/>
            <a:chOff x="0" y="0"/>
            <a:chExt cx="22343972" cy="126277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6990" y="1322092"/>
              <a:ext cx="22136982" cy="11305627"/>
              <a:chOff x="0" y="0"/>
              <a:chExt cx="4292677" cy="219232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20900" y="0"/>
                    </a:moveTo>
                    <a:lnTo>
                      <a:pt x="4271778" y="0"/>
                    </a:lnTo>
                    <a:cubicBezTo>
                      <a:pt x="4277321" y="0"/>
                      <a:pt x="4282637" y="2202"/>
                      <a:pt x="4286556" y="6121"/>
                    </a:cubicBezTo>
                    <a:cubicBezTo>
                      <a:pt x="4290476" y="10041"/>
                      <a:pt x="4292678" y="15357"/>
                      <a:pt x="4292678" y="20900"/>
                    </a:cubicBezTo>
                    <a:lnTo>
                      <a:pt x="4292678" y="2171423"/>
                    </a:lnTo>
                    <a:cubicBezTo>
                      <a:pt x="4292678" y="2176966"/>
                      <a:pt x="4290476" y="2182282"/>
                      <a:pt x="4286556" y="2186201"/>
                    </a:cubicBezTo>
                    <a:cubicBezTo>
                      <a:pt x="4282637" y="2190121"/>
                      <a:pt x="4277321" y="2192323"/>
                      <a:pt x="4271778" y="2192323"/>
                    </a:cubicBezTo>
                    <a:lnTo>
                      <a:pt x="20900" y="2192323"/>
                    </a:lnTo>
                    <a:cubicBezTo>
                      <a:pt x="15357" y="2192323"/>
                      <a:pt x="10041" y="2190121"/>
                      <a:pt x="6121" y="2186201"/>
                    </a:cubicBezTo>
                    <a:cubicBezTo>
                      <a:pt x="2202" y="2182282"/>
                      <a:pt x="0" y="2176966"/>
                      <a:pt x="0" y="2171423"/>
                    </a:cubicBezTo>
                    <a:lnTo>
                      <a:pt x="0" y="20900"/>
                    </a:lnTo>
                    <a:cubicBezTo>
                      <a:pt x="0" y="15357"/>
                      <a:pt x="2202" y="10041"/>
                      <a:pt x="6121" y="6121"/>
                    </a:cubicBezTo>
                    <a:cubicBezTo>
                      <a:pt x="10041" y="2202"/>
                      <a:pt x="15357" y="0"/>
                      <a:pt x="20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03495" y="1218597"/>
              <a:ext cx="22136982" cy="11305627"/>
              <a:chOff x="0" y="0"/>
              <a:chExt cx="4292677" cy="21923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950" y="0"/>
                    </a:moveTo>
                    <a:lnTo>
                      <a:pt x="4272728" y="0"/>
                    </a:lnTo>
                    <a:cubicBezTo>
                      <a:pt x="4278019" y="0"/>
                      <a:pt x="4283093" y="2102"/>
                      <a:pt x="4286834" y="5843"/>
                    </a:cubicBezTo>
                    <a:cubicBezTo>
                      <a:pt x="4290576" y="9585"/>
                      <a:pt x="4292678" y="14659"/>
                      <a:pt x="4292678" y="19950"/>
                    </a:cubicBezTo>
                    <a:lnTo>
                      <a:pt x="4292678" y="2172373"/>
                    </a:lnTo>
                    <a:cubicBezTo>
                      <a:pt x="4292678" y="2177664"/>
                      <a:pt x="4290576" y="2182738"/>
                      <a:pt x="4286834" y="2186480"/>
                    </a:cubicBezTo>
                    <a:cubicBezTo>
                      <a:pt x="4283093" y="2190221"/>
                      <a:pt x="4278019" y="2192323"/>
                      <a:pt x="4272728" y="2192323"/>
                    </a:cubicBezTo>
                    <a:lnTo>
                      <a:pt x="19950" y="2192323"/>
                    </a:lnTo>
                    <a:cubicBezTo>
                      <a:pt x="14659" y="2192323"/>
                      <a:pt x="9585" y="2190221"/>
                      <a:pt x="5843" y="2186480"/>
                    </a:cubicBezTo>
                    <a:cubicBezTo>
                      <a:pt x="2102" y="2182738"/>
                      <a:pt x="0" y="2177664"/>
                      <a:pt x="0" y="2172373"/>
                    </a:cubicBezTo>
                    <a:lnTo>
                      <a:pt x="0" y="19950"/>
                    </a:lnTo>
                    <a:cubicBezTo>
                      <a:pt x="0" y="14659"/>
                      <a:pt x="2102" y="9585"/>
                      <a:pt x="5843" y="5843"/>
                    </a:cubicBezTo>
                    <a:cubicBezTo>
                      <a:pt x="9585" y="2102"/>
                      <a:pt x="14659" y="0"/>
                      <a:pt x="199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21254"/>
              <a:ext cx="22136982" cy="11305627"/>
              <a:chOff x="0" y="0"/>
              <a:chExt cx="4292677" cy="21923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92678" cy="2192323"/>
              </a:xfrm>
              <a:custGeom>
                <a:avLst/>
                <a:gdLst/>
                <a:ahLst/>
                <a:cxnLst/>
                <a:rect r="r" b="b" t="t" l="l"/>
                <a:pathLst>
                  <a:path h="2192323" w="4292678">
                    <a:moveTo>
                      <a:pt x="19000" y="0"/>
                    </a:moveTo>
                    <a:lnTo>
                      <a:pt x="4273678" y="0"/>
                    </a:lnTo>
                    <a:cubicBezTo>
                      <a:pt x="4278717" y="0"/>
                      <a:pt x="4283549" y="2002"/>
                      <a:pt x="4287113" y="5565"/>
                    </a:cubicBezTo>
                    <a:cubicBezTo>
                      <a:pt x="4290676" y="9128"/>
                      <a:pt x="4292678" y="13961"/>
                      <a:pt x="4292678" y="19000"/>
                    </a:cubicBezTo>
                    <a:lnTo>
                      <a:pt x="4292678" y="2173323"/>
                    </a:lnTo>
                    <a:cubicBezTo>
                      <a:pt x="4292678" y="2183816"/>
                      <a:pt x="4284171" y="2192323"/>
                      <a:pt x="4273678" y="2192323"/>
                    </a:cubicBezTo>
                    <a:lnTo>
                      <a:pt x="19000" y="2192323"/>
                    </a:lnTo>
                    <a:cubicBezTo>
                      <a:pt x="8507" y="2192323"/>
                      <a:pt x="0" y="2183816"/>
                      <a:pt x="0" y="2173323"/>
                    </a:cubicBezTo>
                    <a:lnTo>
                      <a:pt x="0" y="19000"/>
                    </a:lnTo>
                    <a:cubicBezTo>
                      <a:pt x="0" y="8507"/>
                      <a:pt x="8507" y="0"/>
                      <a:pt x="19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52525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92677" cy="2239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943632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683689" y="0"/>
              <a:ext cx="1506669" cy="1516145"/>
            </a:xfrm>
            <a:custGeom>
              <a:avLst/>
              <a:gdLst/>
              <a:ahLst/>
              <a:cxnLst/>
              <a:rect r="r" b="b" t="t" l="l"/>
              <a:pathLst>
                <a:path h="1516145" w="1506669">
                  <a:moveTo>
                    <a:pt x="0" y="0"/>
                  </a:moveTo>
                  <a:lnTo>
                    <a:pt x="1506669" y="0"/>
                  </a:lnTo>
                  <a:lnTo>
                    <a:pt x="1506669" y="1516145"/>
                  </a:lnTo>
                  <a:lnTo>
                    <a:pt x="0" y="151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6475355">
            <a:off x="12227871" y="5310556"/>
            <a:ext cx="2159247" cy="2167375"/>
          </a:xfrm>
          <a:custGeom>
            <a:avLst/>
            <a:gdLst/>
            <a:ahLst/>
            <a:cxnLst/>
            <a:rect r="r" b="b" t="t" l="l"/>
            <a:pathLst>
              <a:path h="2167375" w="2159247">
                <a:moveTo>
                  <a:pt x="0" y="0"/>
                </a:moveTo>
                <a:lnTo>
                  <a:pt x="2159247" y="0"/>
                </a:lnTo>
                <a:lnTo>
                  <a:pt x="2159247" y="2167375"/>
                </a:lnTo>
                <a:lnTo>
                  <a:pt x="0" y="216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406864" y="2545585"/>
            <a:ext cx="847884" cy="84788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4890" y="34890"/>
              <a:ext cx="743021" cy="743021"/>
            </a:xfrm>
            <a:custGeom>
              <a:avLst/>
              <a:gdLst/>
              <a:ahLst/>
              <a:cxnLst/>
              <a:rect r="r" b="b" t="t" l="l"/>
              <a:pathLst>
                <a:path h="743021" w="743021">
                  <a:moveTo>
                    <a:pt x="394679" y="14755"/>
                  </a:moveTo>
                  <a:lnTo>
                    <a:pt x="477656" y="192550"/>
                  </a:lnTo>
                  <a:cubicBezTo>
                    <a:pt x="492623" y="224619"/>
                    <a:pt x="518401" y="250397"/>
                    <a:pt x="550470" y="265364"/>
                  </a:cubicBezTo>
                  <a:lnTo>
                    <a:pt x="728265" y="348341"/>
                  </a:lnTo>
                  <a:cubicBezTo>
                    <a:pt x="737267" y="352542"/>
                    <a:pt x="743020" y="361576"/>
                    <a:pt x="743020" y="371510"/>
                  </a:cubicBezTo>
                  <a:cubicBezTo>
                    <a:pt x="743020" y="381444"/>
                    <a:pt x="737267" y="390478"/>
                    <a:pt x="728265" y="394679"/>
                  </a:cubicBezTo>
                  <a:lnTo>
                    <a:pt x="550470" y="477656"/>
                  </a:lnTo>
                  <a:cubicBezTo>
                    <a:pt x="518401" y="492623"/>
                    <a:pt x="492623" y="518401"/>
                    <a:pt x="477656" y="550470"/>
                  </a:cubicBezTo>
                  <a:lnTo>
                    <a:pt x="394679" y="728265"/>
                  </a:lnTo>
                  <a:cubicBezTo>
                    <a:pt x="390478" y="737267"/>
                    <a:pt x="381444" y="743020"/>
                    <a:pt x="371510" y="743020"/>
                  </a:cubicBezTo>
                  <a:cubicBezTo>
                    <a:pt x="361576" y="743020"/>
                    <a:pt x="352542" y="737267"/>
                    <a:pt x="348341" y="728265"/>
                  </a:cubicBezTo>
                  <a:lnTo>
                    <a:pt x="265364" y="550470"/>
                  </a:lnTo>
                  <a:cubicBezTo>
                    <a:pt x="250397" y="518401"/>
                    <a:pt x="224619" y="492623"/>
                    <a:pt x="192550" y="477656"/>
                  </a:cubicBezTo>
                  <a:lnTo>
                    <a:pt x="14755" y="394679"/>
                  </a:lnTo>
                  <a:cubicBezTo>
                    <a:pt x="5753" y="390478"/>
                    <a:pt x="0" y="381444"/>
                    <a:pt x="0" y="371510"/>
                  </a:cubicBezTo>
                  <a:cubicBezTo>
                    <a:pt x="0" y="361576"/>
                    <a:pt x="5753" y="352542"/>
                    <a:pt x="14755" y="348341"/>
                  </a:cubicBezTo>
                  <a:lnTo>
                    <a:pt x="192550" y="265364"/>
                  </a:lnTo>
                  <a:cubicBezTo>
                    <a:pt x="224619" y="250397"/>
                    <a:pt x="250397" y="224619"/>
                    <a:pt x="265364" y="192550"/>
                  </a:cubicBezTo>
                  <a:lnTo>
                    <a:pt x="348341" y="14755"/>
                  </a:lnTo>
                  <a:cubicBezTo>
                    <a:pt x="352542" y="5753"/>
                    <a:pt x="361576" y="0"/>
                    <a:pt x="371510" y="0"/>
                  </a:cubicBezTo>
                  <a:cubicBezTo>
                    <a:pt x="381444" y="0"/>
                    <a:pt x="390478" y="5753"/>
                    <a:pt x="394679" y="14755"/>
                  </a:cubicBezTo>
                  <a:close/>
                </a:path>
              </a:pathLst>
            </a:custGeom>
            <a:solidFill>
              <a:srgbClr val="FFF9A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02523" y="8292365"/>
            <a:ext cx="624458" cy="62445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7373" y="47373"/>
              <a:ext cx="718054" cy="718054"/>
            </a:xfrm>
            <a:custGeom>
              <a:avLst/>
              <a:gdLst/>
              <a:ahLst/>
              <a:cxnLst/>
              <a:rect r="r" b="b" t="t" l="l"/>
              <a:pathLst>
                <a:path h="718054" w="718054">
                  <a:moveTo>
                    <a:pt x="390486" y="20034"/>
                  </a:moveTo>
                  <a:lnTo>
                    <a:pt x="456883" y="162304"/>
                  </a:lnTo>
                  <a:cubicBezTo>
                    <a:pt x="477205" y="205848"/>
                    <a:pt x="512206" y="240849"/>
                    <a:pt x="555750" y="261171"/>
                  </a:cubicBezTo>
                  <a:lnTo>
                    <a:pt x="698020" y="327568"/>
                  </a:lnTo>
                  <a:cubicBezTo>
                    <a:pt x="710242" y="333272"/>
                    <a:pt x="718054" y="345539"/>
                    <a:pt x="718054" y="359027"/>
                  </a:cubicBezTo>
                  <a:cubicBezTo>
                    <a:pt x="718054" y="372515"/>
                    <a:pt x="710242" y="384782"/>
                    <a:pt x="698020" y="390486"/>
                  </a:cubicBezTo>
                  <a:lnTo>
                    <a:pt x="555750" y="456883"/>
                  </a:lnTo>
                  <a:cubicBezTo>
                    <a:pt x="512206" y="477205"/>
                    <a:pt x="477205" y="512206"/>
                    <a:pt x="456883" y="555750"/>
                  </a:cubicBezTo>
                  <a:lnTo>
                    <a:pt x="390486" y="698020"/>
                  </a:lnTo>
                  <a:cubicBezTo>
                    <a:pt x="384782" y="710242"/>
                    <a:pt x="372515" y="718054"/>
                    <a:pt x="359027" y="718054"/>
                  </a:cubicBezTo>
                  <a:cubicBezTo>
                    <a:pt x="345539" y="718054"/>
                    <a:pt x="333272" y="710242"/>
                    <a:pt x="327568" y="698020"/>
                  </a:cubicBezTo>
                  <a:lnTo>
                    <a:pt x="261171" y="555750"/>
                  </a:lnTo>
                  <a:cubicBezTo>
                    <a:pt x="240849" y="512206"/>
                    <a:pt x="205848" y="477205"/>
                    <a:pt x="162304" y="456883"/>
                  </a:cubicBezTo>
                  <a:lnTo>
                    <a:pt x="20034" y="390486"/>
                  </a:lnTo>
                  <a:cubicBezTo>
                    <a:pt x="7812" y="384782"/>
                    <a:pt x="0" y="372515"/>
                    <a:pt x="0" y="359027"/>
                  </a:cubicBezTo>
                  <a:cubicBezTo>
                    <a:pt x="0" y="345539"/>
                    <a:pt x="7812" y="333272"/>
                    <a:pt x="20034" y="327568"/>
                  </a:cubicBezTo>
                  <a:lnTo>
                    <a:pt x="162304" y="261171"/>
                  </a:lnTo>
                  <a:cubicBezTo>
                    <a:pt x="205848" y="240849"/>
                    <a:pt x="240849" y="205848"/>
                    <a:pt x="261171" y="162304"/>
                  </a:cubicBezTo>
                  <a:lnTo>
                    <a:pt x="327568" y="20034"/>
                  </a:lnTo>
                  <a:cubicBezTo>
                    <a:pt x="333272" y="7812"/>
                    <a:pt x="345539" y="0"/>
                    <a:pt x="359027" y="0"/>
                  </a:cubicBezTo>
                  <a:cubicBezTo>
                    <a:pt x="372515" y="0"/>
                    <a:pt x="384782" y="7812"/>
                    <a:pt x="390486" y="20034"/>
                  </a:cubicBezTo>
                  <a:close/>
                </a:path>
              </a:pathLst>
            </a:custGeom>
            <a:solidFill>
              <a:srgbClr val="FDD2B9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87367" y="1966964"/>
            <a:ext cx="578620" cy="57862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33253" y="33253"/>
              <a:ext cx="746294" cy="746294"/>
            </a:xfrm>
            <a:custGeom>
              <a:avLst/>
              <a:gdLst/>
              <a:ahLst/>
              <a:cxnLst/>
              <a:rect r="r" b="b" t="t" l="l"/>
              <a:pathLst>
                <a:path h="746294" w="746294">
                  <a:moveTo>
                    <a:pt x="429913" y="23513"/>
                  </a:moveTo>
                  <a:lnTo>
                    <a:pt x="722781" y="316381"/>
                  </a:lnTo>
                  <a:cubicBezTo>
                    <a:pt x="737836" y="331436"/>
                    <a:pt x="746294" y="351855"/>
                    <a:pt x="746294" y="373147"/>
                  </a:cubicBezTo>
                  <a:cubicBezTo>
                    <a:pt x="746294" y="394439"/>
                    <a:pt x="737836" y="414858"/>
                    <a:pt x="722781" y="429913"/>
                  </a:cubicBezTo>
                  <a:lnTo>
                    <a:pt x="429913" y="722781"/>
                  </a:lnTo>
                  <a:cubicBezTo>
                    <a:pt x="414858" y="737836"/>
                    <a:pt x="394439" y="746294"/>
                    <a:pt x="373147" y="746294"/>
                  </a:cubicBezTo>
                  <a:cubicBezTo>
                    <a:pt x="351855" y="746294"/>
                    <a:pt x="331436" y="737836"/>
                    <a:pt x="316381" y="722781"/>
                  </a:cubicBezTo>
                  <a:lnTo>
                    <a:pt x="23513" y="429913"/>
                  </a:lnTo>
                  <a:cubicBezTo>
                    <a:pt x="8458" y="414858"/>
                    <a:pt x="0" y="394439"/>
                    <a:pt x="0" y="373147"/>
                  </a:cubicBezTo>
                  <a:cubicBezTo>
                    <a:pt x="0" y="351855"/>
                    <a:pt x="8458" y="331436"/>
                    <a:pt x="23513" y="316381"/>
                  </a:cubicBezTo>
                  <a:lnTo>
                    <a:pt x="316381" y="23513"/>
                  </a:lnTo>
                  <a:cubicBezTo>
                    <a:pt x="331436" y="8458"/>
                    <a:pt x="351855" y="0"/>
                    <a:pt x="373147" y="0"/>
                  </a:cubicBezTo>
                  <a:cubicBezTo>
                    <a:pt x="394439" y="0"/>
                    <a:pt x="414858" y="8458"/>
                    <a:pt x="429913" y="23513"/>
                  </a:cubicBezTo>
                  <a:close/>
                </a:path>
              </a:pathLst>
            </a:custGeom>
            <a:solidFill>
              <a:srgbClr val="D2E3E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639361" y="5325470"/>
            <a:ext cx="478464" cy="47846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0214" y="40214"/>
              <a:ext cx="732372" cy="732372"/>
            </a:xfrm>
            <a:custGeom>
              <a:avLst/>
              <a:gdLst/>
              <a:ahLst/>
              <a:cxnLst/>
              <a:rect r="r" b="b" t="t" l="l"/>
              <a:pathLst>
                <a:path h="732372" w="732372">
                  <a:moveTo>
                    <a:pt x="434835" y="28435"/>
                  </a:moveTo>
                  <a:lnTo>
                    <a:pt x="703937" y="297537"/>
                  </a:lnTo>
                  <a:cubicBezTo>
                    <a:pt x="741851" y="335451"/>
                    <a:pt x="741851" y="396921"/>
                    <a:pt x="703937" y="434835"/>
                  </a:cubicBezTo>
                  <a:lnTo>
                    <a:pt x="434835" y="703937"/>
                  </a:lnTo>
                  <a:cubicBezTo>
                    <a:pt x="396921" y="741851"/>
                    <a:pt x="335451" y="741851"/>
                    <a:pt x="297537" y="703937"/>
                  </a:cubicBezTo>
                  <a:lnTo>
                    <a:pt x="28435" y="434835"/>
                  </a:lnTo>
                  <a:cubicBezTo>
                    <a:pt x="-9479" y="396921"/>
                    <a:pt x="-9479" y="335451"/>
                    <a:pt x="28435" y="297537"/>
                  </a:cubicBezTo>
                  <a:lnTo>
                    <a:pt x="297537" y="28435"/>
                  </a:lnTo>
                  <a:cubicBezTo>
                    <a:pt x="335451" y="-9479"/>
                    <a:pt x="396921" y="-9479"/>
                    <a:pt x="434835" y="28435"/>
                  </a:cubicBezTo>
                  <a:close/>
                </a:path>
              </a:pathLst>
            </a:custGeom>
            <a:solidFill>
              <a:srgbClr val="EBD7E2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855089" y="8292365"/>
            <a:ext cx="246938" cy="24693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9AD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736711" y="5892732"/>
            <a:ext cx="300869" cy="300869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DAC2"/>
            </a:solidFill>
            <a:ln w="28575" cap="sq">
              <a:solidFill>
                <a:srgbClr val="252525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139038" y="5143500"/>
            <a:ext cx="5805123" cy="101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60"/>
              </a:lnSpc>
            </a:pPr>
            <a:r>
              <a:rPr lang="en-US" b="true" sz="6689" spc="-515">
                <a:solidFill>
                  <a:srgbClr val="252525"/>
                </a:solidFill>
                <a:latin typeface="Tlab 모던라운드 Bold"/>
                <a:ea typeface="Tlab 모던라운드 Bold"/>
                <a:cs typeface="Tlab 모던라운드 Bold"/>
                <a:sym typeface="Tlab 모던라운드 Bold"/>
              </a:rPr>
              <a:t>수고하셨습니다</a:t>
            </a:r>
          </a:p>
        </p:txBody>
      </p:sp>
    </p:spTree>
  </p:cSld>
  <p:clrMapOvr>
    <a:masterClrMapping/>
  </p:clrMapOvr>
  <p:transition spd="fast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DAGppi3GpEg</dc:identifier>
  <dcterms:modified xsi:type="dcterms:W3CDTF">2011-08-01T06:04:30Z</dcterms:modified>
  <cp:revision>1</cp:revision>
  <dc:title>논제를 알면 토론이 보인다</dc:title>
</cp:coreProperties>
</file>