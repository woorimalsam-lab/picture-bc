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303" r:id="rId2"/>
    <p:sldId id="257" r:id="rId3"/>
    <p:sldId id="291" r:id="rId26"/>
    <p:sldId id="304" r:id="rId27"/>
    <p:sldId id="293" r:id="rId28"/>
    <p:sldId id="306" r:id="rId29"/>
    <p:sldId id="305" r:id="rId30"/>
    <p:sldId id="298" r:id="rId31"/>
    <p:sldId id="300" r:id="rId32"/>
    <p:sldId id="301" r:id="rId33"/>
    <p:sldId id="299" r:id="rId34"/>
    <p:sldId id="302" r:id="rId35"/>
    <p:sldId id="296" r:id="rId36"/>
  </p:sldIdLst>
  <p:sldSz cx="18288000" cy="10287000"/>
  <p:notesSz cx="6888163" cy="10020300"/>
  <p:embeddedFontLst>
    <p:embeddedFont>
      <p:font typeface="210 도시락" panose="020B0600000101010101" charset="-127"/>
      <p:regular r:id="rId38"/>
    </p:embeddedFont>
    <p:embeddedFont>
      <p:font typeface="맑은 고딕" panose="020B0503020000020004" pitchFamily="50" charset="-127"/>
      <p:regular r:id="rId39"/>
      <p:bold r:id="rId40"/>
    </p:embeddedFont>
    <p:embeddedFont>
      <p:font typeface="함초롬바탕" panose="02030604000101010101" pitchFamily="18" charset="-127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5939" autoAdjust="0"/>
  </p:normalViewPr>
  <p:slideViewPr>
    <p:cSldViewPr>
      <p:cViewPr varScale="1">
        <p:scale>
          <a:sx n="36" d="100"/>
          <a:sy n="36" d="100"/>
        </p:scale>
        <p:origin x="176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font" Target="fonts/font1.fntdata"/><Relationship Id="rId39" Type="http://schemas.openxmlformats.org/officeDocument/2006/relationships/font" Target="fonts/font2.fntdata"/><Relationship Id="rId40" Type="http://schemas.openxmlformats.org/officeDocument/2006/relationships/font" Target="fonts/font3.fntdata"/><Relationship Id="rId41" Type="http://schemas.openxmlformats.org/officeDocument/2006/relationships/font" Target="fonts/font4.fntdata"/><Relationship Id="rId42" Type="http://schemas.openxmlformats.org/officeDocument/2006/relationships/font" Target="fonts/font5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9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C88424A8-F1D1-4E8A-8CE4-339BD8493134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0950"/>
            <a:ext cx="6015037" cy="3384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2270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517547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9" y="9517547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4E32129A-18A2-48D8-92B5-B468817AD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546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155">
              <a:defRPr/>
            </a:pPr>
            <a:endParaRPr lang="ko-KR" altLang="en-US" sz="19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2129A-18A2-48D8-92B5-B468817AD26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919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2129A-18A2-48D8-92B5-B468817AD26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936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155">
              <a:defRPr/>
            </a:pPr>
            <a:r>
              <a:rPr lang="en-US" altLang="ko-KR" dirty="0"/>
              <a:t>"</a:t>
            </a:r>
            <a:r>
              <a:rPr lang="ko-KR" altLang="en-US" dirty="0"/>
              <a:t>파노라마 토론을 원활하게 진행하기 위해서는 본격적인 토론에 앞서 입체적인 관점을 고루 나누어 갖는 사전 준비가 필요합니다</a:t>
            </a:r>
            <a:r>
              <a:rPr lang="en-US" altLang="ko-KR" dirty="0"/>
              <a:t>. </a:t>
            </a:r>
          </a:p>
          <a:p>
            <a:pPr defTabSz="966155">
              <a:defRPr/>
            </a:pPr>
            <a:r>
              <a:rPr lang="ko-KR" altLang="en-US" dirty="0"/>
              <a:t>기본적으로 </a:t>
            </a:r>
            <a:r>
              <a:rPr lang="en-US" altLang="ko-KR" dirty="0"/>
              <a:t>'3</a:t>
            </a:r>
            <a:r>
              <a:rPr lang="ko-KR" altLang="en-US" dirty="0"/>
              <a:t>명씩 한 모둠</a:t>
            </a:r>
            <a:r>
              <a:rPr lang="en-US" altLang="ko-KR" dirty="0"/>
              <a:t>'</a:t>
            </a:r>
            <a:r>
              <a:rPr lang="ko-KR" altLang="en-US" dirty="0"/>
              <a:t>을 구성하여</a:t>
            </a:r>
            <a:r>
              <a:rPr lang="en-US" altLang="ko-KR" dirty="0"/>
              <a:t>, </a:t>
            </a:r>
            <a:r>
              <a:rPr lang="ko-KR" altLang="en-US" dirty="0"/>
              <a:t>각자가 서로 다른 가치관을 대변하는 </a:t>
            </a:r>
            <a:r>
              <a:rPr lang="en-US" altLang="ko-KR" dirty="0"/>
              <a:t>3</a:t>
            </a:r>
            <a:r>
              <a:rPr lang="ko-KR" altLang="en-US" dirty="0"/>
              <a:t>가지 역할을 하나씩 맡게 됩니다</a:t>
            </a:r>
            <a:r>
              <a:rPr lang="en-US" altLang="ko-KR" dirty="0"/>
              <a:t>.“</a:t>
            </a:r>
          </a:p>
          <a:p>
            <a:pPr defTabSz="966155">
              <a:defRPr/>
            </a:pPr>
            <a:endParaRPr lang="en-US" altLang="ko-KR" dirty="0"/>
          </a:p>
          <a:p>
            <a:pPr defTabSz="966155">
              <a:defRPr/>
            </a:pPr>
            <a:endParaRPr lang="en-US" altLang="ko-KR" dirty="0"/>
          </a:p>
          <a:p>
            <a:pPr defTabSz="966155">
              <a:defRPr/>
            </a:pPr>
            <a:r>
              <a:rPr lang="ko-KR" altLang="en-US" dirty="0"/>
              <a:t>첫 번째 역할은 </a:t>
            </a:r>
            <a:r>
              <a:rPr lang="en-US" altLang="ko-KR" dirty="0"/>
              <a:t>'</a:t>
            </a:r>
            <a:r>
              <a:rPr lang="ko-KR" altLang="en-US" dirty="0"/>
              <a:t>부모</a:t>
            </a:r>
            <a:r>
              <a:rPr lang="en-US" altLang="ko-KR" dirty="0"/>
              <a:t>'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defTabSz="966155">
              <a:defRPr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2129A-18A2-48D8-92B5-B468817AD26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368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2129A-18A2-48D8-92B5-B468817AD26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824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2129A-18A2-48D8-92B5-B468817AD26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8928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84E96D1-7B0A-89F5-C31B-F4CF84DEC00C}"/>
              </a:ext>
            </a:extLst>
          </p:cNvPr>
          <p:cNvSpPr txBox="1"/>
          <p:nvPr/>
        </p:nvSpPr>
        <p:spPr>
          <a:xfrm>
            <a:off x="1219200" y="4000500"/>
            <a:ext cx="15468600" cy="1322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160"/>
              </a:lnSpc>
            </a:pPr>
            <a:r>
              <a:rPr lang="en-US" altLang="ko-KR" sz="7971" spc="-27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(</a:t>
            </a:r>
            <a:r>
              <a:rPr lang="ko-KR" altLang="en-US" sz="7971" spc="-27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그림책</a:t>
            </a:r>
            <a:r>
              <a:rPr lang="en-US" altLang="ko-KR" sz="7971" spc="-27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)</a:t>
            </a:r>
            <a:r>
              <a:rPr lang="ko-KR" altLang="en-US" sz="7971" spc="-27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 토론은 왜 하는 것일까요</a:t>
            </a:r>
            <a:r>
              <a:rPr lang="en-US" altLang="ko-KR" sz="7971" spc="-27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?</a:t>
            </a:r>
            <a:endParaRPr lang="en-US" sz="7971" spc="-27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</p:spTree>
    <p:extLst>
      <p:ext uri="{BB962C8B-B14F-4D97-AF65-F5344CB8AC3E}">
        <p14:creationId xmlns:p14="http://schemas.microsoft.com/office/powerpoint/2010/main" val="3468543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124200" y="7353300"/>
            <a:ext cx="10820400" cy="1322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160"/>
              </a:lnSpc>
            </a:pPr>
            <a:r>
              <a:rPr lang="en-US" sz="7971" spc="-27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1부 : </a:t>
            </a:r>
            <a:r>
              <a:rPr lang="en-US" sz="7971" spc="-279" dirty="0" err="1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파노라마</a:t>
            </a:r>
            <a:r>
              <a:rPr lang="en-US" sz="7971" spc="-27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 </a:t>
            </a:r>
            <a:r>
              <a:rPr lang="en-US" sz="7971" spc="-279" dirty="0" err="1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토론의</a:t>
            </a:r>
            <a:r>
              <a:rPr lang="en-US" sz="7971" spc="-27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 </a:t>
            </a:r>
            <a:r>
              <a:rPr lang="en-US" sz="7971" spc="-279" dirty="0" err="1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이해</a:t>
            </a:r>
            <a:endParaRPr lang="en-US" sz="7971" spc="-27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5" name="AutoShape 2" descr=", AI로 생성">
            <a:extLst>
              <a:ext uri="{FF2B5EF4-FFF2-40B4-BE49-F238E27FC236}">
                <a16:creationId xmlns:a16="http://schemas.microsoft.com/office/drawing/2014/main" id="{E3BC102D-7261-2C1D-276D-91A3BB7BAE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8CD5CC-52E5-299E-1B32-5EE36D73E1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554"/>
          <a:stretch/>
        </p:blipFill>
        <p:spPr>
          <a:xfrm>
            <a:off x="0" y="25152"/>
            <a:ext cx="9067800" cy="66531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AF54EA-48E1-F9CD-5712-244C1415F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/>
          <a:stretch/>
        </p:blipFill>
        <p:spPr>
          <a:xfrm>
            <a:off x="9030928" y="25152"/>
            <a:ext cx="9329991" cy="665314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017"/>
            <a:ext cx="18294651" cy="10210966"/>
            <a:chOff x="0" y="0"/>
            <a:chExt cx="24392868" cy="1361462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92868" cy="13614622"/>
              <a:chOff x="0" y="0"/>
              <a:chExt cx="23300271" cy="13004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300310" cy="13004800"/>
              </a:xfrm>
              <a:custGeom>
                <a:avLst/>
                <a:gdLst/>
                <a:ahLst/>
                <a:cxnLst/>
                <a:rect l="l" t="t" r="r" b="b"/>
                <a:pathLst>
                  <a:path w="23300310" h="13004800">
                    <a:moveTo>
                      <a:pt x="0" y="0"/>
                    </a:moveTo>
                    <a:lnTo>
                      <a:pt x="23300310" y="0"/>
                    </a:lnTo>
                    <a:lnTo>
                      <a:pt x="23300310" y="13004800"/>
                    </a:lnTo>
                    <a:lnTo>
                      <a:pt x="0" y="1300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54" b="-54"/>
                </a:stretch>
              </a:blipFill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952812" y="3702544"/>
              <a:ext cx="15209331" cy="4536722"/>
            </a:xfrm>
            <a:prstGeom prst="rect">
              <a:avLst/>
            </a:prstGeom>
          </p:spPr>
          <p:txBody>
            <a:bodyPr lIns="54241" tIns="54241" rIns="54241" bIns="54241" rtlCol="0" anchor="ctr"/>
            <a:lstStyle/>
            <a:p>
              <a:pPr algn="ctr">
                <a:lnSpc>
                  <a:spcPts val="2638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A921955A-D7C0-22A9-7ABD-9812C7A41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017"/>
            <a:ext cx="18294651" cy="10210966"/>
            <a:chOff x="0" y="0"/>
            <a:chExt cx="24392868" cy="1361462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92868" cy="13614622"/>
              <a:chOff x="0" y="0"/>
              <a:chExt cx="23300271" cy="13004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300310" cy="13004800"/>
              </a:xfrm>
              <a:custGeom>
                <a:avLst/>
                <a:gdLst/>
                <a:ahLst/>
                <a:cxnLst/>
                <a:rect l="l" t="t" r="r" b="b"/>
                <a:pathLst>
                  <a:path w="23300310" h="13004800">
                    <a:moveTo>
                      <a:pt x="0" y="0"/>
                    </a:moveTo>
                    <a:lnTo>
                      <a:pt x="23300310" y="0"/>
                    </a:lnTo>
                    <a:lnTo>
                      <a:pt x="23300310" y="13004800"/>
                    </a:lnTo>
                    <a:lnTo>
                      <a:pt x="0" y="1300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499928" y="8463274"/>
              <a:ext cx="8898682" cy="4114800"/>
              <a:chOff x="0" y="0"/>
              <a:chExt cx="1757764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75776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757764" h="812800">
                    <a:moveTo>
                      <a:pt x="59161" y="0"/>
                    </a:moveTo>
                    <a:lnTo>
                      <a:pt x="1698604" y="0"/>
                    </a:lnTo>
                    <a:cubicBezTo>
                      <a:pt x="1731277" y="0"/>
                      <a:pt x="1757764" y="26487"/>
                      <a:pt x="1757764" y="59161"/>
                    </a:cubicBezTo>
                    <a:lnTo>
                      <a:pt x="1757764" y="753640"/>
                    </a:lnTo>
                    <a:cubicBezTo>
                      <a:pt x="1757764" y="786313"/>
                      <a:pt x="1731277" y="812800"/>
                      <a:pt x="1698604" y="812800"/>
                    </a:cubicBezTo>
                    <a:lnTo>
                      <a:pt x="59161" y="812800"/>
                    </a:lnTo>
                    <a:cubicBezTo>
                      <a:pt x="26487" y="812800"/>
                      <a:pt x="0" y="786313"/>
                      <a:pt x="0" y="753640"/>
                    </a:cubicBezTo>
                    <a:lnTo>
                      <a:pt x="0" y="59161"/>
                    </a:lnTo>
                    <a:cubicBezTo>
                      <a:pt x="0" y="26487"/>
                      <a:pt x="26487" y="0"/>
                      <a:pt x="59161" y="0"/>
                    </a:cubicBezTo>
                    <a:close/>
                  </a:path>
                </a:pathLst>
              </a:custGeom>
              <a:solidFill>
                <a:srgbClr val="CFDFEE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757764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4954414" y="8463274"/>
              <a:ext cx="8898682" cy="4114800"/>
              <a:chOff x="0" y="0"/>
              <a:chExt cx="1757764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5776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757764" h="812800">
                    <a:moveTo>
                      <a:pt x="59161" y="0"/>
                    </a:moveTo>
                    <a:lnTo>
                      <a:pt x="1698604" y="0"/>
                    </a:lnTo>
                    <a:cubicBezTo>
                      <a:pt x="1731277" y="0"/>
                      <a:pt x="1757764" y="26487"/>
                      <a:pt x="1757764" y="59161"/>
                    </a:cubicBezTo>
                    <a:lnTo>
                      <a:pt x="1757764" y="753640"/>
                    </a:lnTo>
                    <a:cubicBezTo>
                      <a:pt x="1757764" y="786313"/>
                      <a:pt x="1731277" y="812800"/>
                      <a:pt x="1698604" y="812800"/>
                    </a:cubicBezTo>
                    <a:lnTo>
                      <a:pt x="59161" y="812800"/>
                    </a:lnTo>
                    <a:cubicBezTo>
                      <a:pt x="26487" y="812800"/>
                      <a:pt x="0" y="786313"/>
                      <a:pt x="0" y="753640"/>
                    </a:cubicBezTo>
                    <a:lnTo>
                      <a:pt x="0" y="59161"/>
                    </a:lnTo>
                    <a:cubicBezTo>
                      <a:pt x="0" y="26487"/>
                      <a:pt x="26487" y="0"/>
                      <a:pt x="59161" y="0"/>
                    </a:cubicBezTo>
                    <a:close/>
                  </a:path>
                </a:pathLst>
              </a:custGeom>
              <a:solidFill>
                <a:srgbClr val="FEE5C6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757764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FCDC06-6817-7F82-E218-09D0B58CE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45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50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4E5568E-9EAE-F158-CC54-7B347EA2D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8288000" cy="1031166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D30D7D-01F6-9E00-D38A-D1C9AC4B2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16" y="-3688"/>
            <a:ext cx="18292916" cy="1031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44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2BDB776-7837-B908-0094-16EB8BC26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977"/>
            <a:ext cx="18288000" cy="102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195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C4E6B1-838E-BF0B-BFF5-738EB8BF6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4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257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677EA7-D8D3-D064-D7ED-F34DB50A5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" y="-1"/>
            <a:ext cx="18297832" cy="1022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87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CC3656-8E85-C60F-C919-326EFCA6C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83"/>
            <a:ext cx="18288000" cy="1026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12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E5BC53B-A228-D160-17B0-5D55FEF8E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77" y="-29240"/>
            <a:ext cx="18302177" cy="1031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70</Words>
  <Application>Microsoft Office PowerPoint</Application>
  <PresentationFormat>사용자 지정</PresentationFormat>
  <Paragraphs>16</Paragraphs>
  <Slides>35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Arial</vt:lpstr>
      <vt:lpstr>210 도시락</vt:lpstr>
      <vt:lpstr>Calibri</vt:lpstr>
      <vt:lpstr>함초롬바탕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파노라마 토론(꽃을 너에게 줄게)</dc:title>
  <dc:creator>admin</dc:creator>
  <cp:lastModifiedBy>수연 김</cp:lastModifiedBy>
  <cp:revision>15</cp:revision>
  <cp:lastPrinted>2026-06-26T22:38:20Z</cp:lastPrinted>
  <dcterms:created xsi:type="dcterms:W3CDTF">2006-08-16T00:00:00Z</dcterms:created>
  <dcterms:modified xsi:type="dcterms:W3CDTF">2026-06-26T22:38:41Z</dcterms:modified>
  <dc:identifier>DAHJJ6xhEdw</dc:identifier>
</cp:coreProperties>
</file>