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F5E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91695" cy="7315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7315200" cy="76200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429768"/>
            <a:ext cx="7040880" cy="762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585216"/>
            <a:ext cx="6766560" cy="7620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740664"/>
            <a:ext cx="6492241" cy="76200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896112"/>
            <a:ext cx="6217920" cy="7620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1051560"/>
            <a:ext cx="5943600" cy="762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0" y="1207008"/>
            <a:ext cx="5669281" cy="76200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1362456"/>
            <a:ext cx="5394960" cy="76200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BB36A"/>
                </a:solidFill>
                <a:latin typeface="맑은 고딕"/>
              </a:defRPr>
            </a:pPr>
            <a:r>
              <a:rPr dirty="0"/>
              <a:t>토론, 생각의 꽃을 피우다 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A4A4A"/>
                </a:solidFill>
                <a:latin typeface="맑은 고딕"/>
              </a:defRPr>
            </a:pPr>
            <a:r>
              <a:rPr dirty="0" err="1"/>
              <a:t>주장과</a:t>
            </a:r>
            <a:r>
              <a:t> 근거의 힘, 논제와 쟁점의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  <a:latin typeface="맑은 고딕"/>
              </a:defRPr>
            </a:pPr>
            <a:r>
              <a:t>『토론 설득의 기술』 2부  |  1장 주장, 근거, 논거  ·  2장 논제와 쟁점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4754880"/>
            <a:ext cx="365760" cy="365760"/>
          </a:xfrm>
          <a:prstGeom prst="ellipse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41280" y="5120640"/>
            <a:ext cx="274320" cy="274320"/>
          </a:xfrm>
          <a:prstGeom prst="ellipse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75520" y="5577840"/>
            <a:ext cx="228600" cy="228600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71600" y="5303520"/>
            <a:ext cx="320040" cy="32004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011680" y="5669280"/>
            <a:ext cx="182880" cy="182880"/>
          </a:xfrm>
          <a:prstGeom prst="ellipse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81AA19-A7D2-B762-1BC5-B21E84ADE628}"/>
              </a:ext>
            </a:extLst>
          </p:cNvPr>
          <p:cNvSpPr txBox="1"/>
          <p:nvPr/>
        </p:nvSpPr>
        <p:spPr>
          <a:xfrm>
            <a:off x="9319491" y="6062472"/>
            <a:ext cx="268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발제 옥길중학교 </a:t>
            </a:r>
            <a:r>
              <a:rPr lang="ko-KR" altLang="en-US" dirty="0" err="1"/>
              <a:t>김진익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3222815-1A4B-95E5-D883-1963A63C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8" y="1946800"/>
            <a:ext cx="1741742" cy="25733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859536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859536"/>
            <a:ext cx="137160" cy="859536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1719072"/>
            <a:ext cx="137160" cy="859536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2578608"/>
            <a:ext cx="137160" cy="859536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3438144"/>
            <a:ext cx="137160" cy="859536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4297679"/>
            <a:ext cx="137160" cy="859536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0" y="5157216"/>
            <a:ext cx="137160" cy="859536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016752"/>
            <a:ext cx="137160" cy="859536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A9BD9"/>
                </a:solidFill>
                <a:latin typeface="맑은 고딕"/>
              </a:defRPr>
            </a:pPr>
            <a:r>
              <a:rPr dirty="0"/>
              <a:t>✏️ 오늘의</a:t>
            </a:r>
            <a:r>
              <a:rPr lang="en-US" dirty="0"/>
              <a:t> </a:t>
            </a:r>
            <a:r>
              <a:rPr lang="ko-KR" altLang="en-US" dirty="0"/>
              <a:t>차례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731520" y="1097280"/>
            <a:ext cx="3657600" cy="36576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914400" y="1645920"/>
            <a:ext cx="4754880" cy="201168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188720" y="1783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B36A"/>
                </a:solidFill>
                <a:latin typeface="맑은 고딕"/>
              </a:defRPr>
            </a:pPr>
            <a:r>
              <a:rPr dirty="0"/>
              <a:t>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48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주장, 근거, 논거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43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주장과 근거의 관계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논거(Warrant)의 역할과 중요성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'논거'와 '이유' — 번역의 차이와 이해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4754880" cy="201168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BAE"/>
                </a:solidFill>
                <a:latin typeface="맑은 고딕"/>
              </a:defRPr>
            </a:pPr>
            <a:r>
              <a:rPr dirty="0"/>
              <a:t>PART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48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논제와 쟁점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사실·가치·정책 논제의 구분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논제 유형별 핵심 쟁점 분석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가치 우선순위와 정책 필수 쟁점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114800"/>
            <a:ext cx="4754880" cy="182880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3840480" y="4251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9BD9"/>
                </a:solidFill>
                <a:latin typeface="맑은 고딕"/>
              </a:defRPr>
            </a:pPr>
            <a:r>
              <a:rPr dirty="0"/>
              <a:t>PART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6177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수업 속으로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206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논제 유형별 쟁점 한눈에 보기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• 수업 활동 아이디어와 차시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23360" y="1371600"/>
            <a:ext cx="4114800" cy="4114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20624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B36A"/>
                </a:solidFill>
                <a:latin typeface="맑은 고딕"/>
              </a:defRPr>
            </a:pPr>
            <a:r>
              <a:rPr dirty="0"/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8346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주장, 근거, 논거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840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설득력 있는 발언의 구조를 이해하다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164592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011680" cy="164592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737360" cy="164592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463040" cy="164592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88720" cy="164592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9601200" y="1097280"/>
            <a:ext cx="457200" cy="457200"/>
          </a:xfrm>
          <a:prstGeom prst="ellipse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10332720" y="1828800"/>
            <a:ext cx="274320" cy="27432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9875520" y="5029200"/>
            <a:ext cx="365760" cy="365760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주장이란 무엇인가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118872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💡 주장 = 논제에 대한 자신의 입장을 뒷받침하는 핵심 진술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주장은 단순한 의견 표명이 아니라, 청중이 "왜 이 입장을 받아들여야 하는지"에 답하는 논리적 진술입니다.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4846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3F"/>
                </a:solidFill>
                <a:latin typeface="맑은 고딕"/>
              </a:defRPr>
            </a:pPr>
            <a:r>
              <a:rPr dirty="0"/>
              <a:t>📌  예시 — 최저임금 인상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438912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rPr sz="1600" dirty="0"/>
              <a:t>논제: "최저임금을 인상해야 한다"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300" b="1">
                <a:solidFill>
                  <a:srgbClr val="5BB36A"/>
                </a:solidFill>
                <a:latin typeface="맑은 고딕"/>
              </a:defRPr>
            </a:pPr>
            <a:r>
              <a:rPr sz="1600" dirty="0"/>
              <a:t>긍정 측 주장: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sz="1600" dirty="0"/>
              <a:t>"저임금 노동자의 생활 안정을 위해</a:t>
            </a:r>
            <a:br>
              <a:rPr sz="1600" dirty="0"/>
            </a:br>
            <a:r>
              <a:rPr sz="1600" dirty="0"/>
              <a:t>  최저임금 인상이 필요하다."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300" b="1">
                <a:solidFill>
                  <a:srgbClr val="E88BAE"/>
                </a:solidFill>
                <a:latin typeface="맑은 고딕"/>
              </a:defRPr>
            </a:pPr>
            <a:r>
              <a:rPr sz="1600" dirty="0"/>
              <a:t>부정 측 주장: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sz="1600" dirty="0"/>
              <a:t>"급격한 인상은 소상공인의 고용 여력을</a:t>
            </a:r>
            <a:br>
              <a:rPr sz="1600" dirty="0"/>
            </a:br>
            <a:r>
              <a:rPr sz="1600" dirty="0"/>
              <a:t>  감소시켜 오히려 일자리를 줄인다."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743200"/>
            <a:ext cx="5303520" cy="32004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0" y="2880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3F"/>
                </a:solidFill>
                <a:latin typeface="맑은 고딕"/>
              </a:defRPr>
            </a:pPr>
            <a:r>
              <a:rPr dirty="0"/>
              <a:t>✏️  주장을 세울 때 유의할 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337560"/>
            <a:ext cx="47548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sz="1600" dirty="0"/>
              <a:t>① 논제에서 벗어나지 않는 진술이어야 합니다.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sz="1600" dirty="0"/>
              <a:t>② 구체적이고 검증 가능한 내용을 담아야 합니다.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sz="1600" dirty="0"/>
              <a:t>③ 상대측의 반박을 예상하며 설계해야 합니다.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sz="1600" dirty="0"/>
              <a:t>④ 주장 자체가 또 하나의 논제가 되어</a:t>
            </a:r>
            <a:br>
              <a:rPr sz="1600" dirty="0"/>
            </a:br>
            <a:r>
              <a:rPr sz="1600" dirty="0"/>
              <a:t>    근거를 필요로 한다는 점을 기억합니다.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rPr sz="1400" dirty="0"/>
              <a:t>🌱 주장이 분명해야 근거와 논거가 힘을 발휘합니다. 학생들에게 "한 문장으로 말할 수 있는가?"를 질문해 보세요.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근거란 무엇인가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💡 근거 = 주장이 참이라고 믿을 수 있게 만드는 사실적·객관적 뒷받침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청중의 논리적 의문을 해소하여 주장을 수용하도록 이끄는 핵심 요소입니다.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48463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BD9"/>
                </a:solidFill>
                <a:latin typeface="맑은 고딕"/>
              </a:defRPr>
            </a:pPr>
            <a:r>
              <a:rPr dirty="0"/>
              <a:t>📌  예시 — 통일세 징수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논제: "통일세를 징수해야 한다"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주장: 통일 과정에 소요될 비용을</a:t>
            </a:r>
            <a:br>
              <a:rPr dirty="0"/>
            </a:br>
            <a:r>
              <a:rPr dirty="0"/>
              <a:t>          미리 마련해야 한다.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4A9BD9"/>
                </a:solidFill>
                <a:latin typeface="맑은 고딕"/>
              </a:defRPr>
            </a:pPr>
            <a:r>
              <a:rPr dirty="0"/>
              <a:t>근거: 통일비용은 약 2,100조 원으로</a:t>
            </a:r>
            <a:br>
              <a:rPr dirty="0"/>
            </a:br>
            <a:r>
              <a:rPr dirty="0"/>
              <a:t>          단기간에 마련할 수 없다.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560320"/>
            <a:ext cx="5303520" cy="22860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3F"/>
                </a:solidFill>
                <a:latin typeface="맑은 고딕"/>
              </a:defRPr>
            </a:pPr>
            <a:r>
              <a:rPr dirty="0"/>
              <a:t>✏️  근거의 네 가지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dirty="0"/>
              <a:t>① 통계 자료 — 수치와 데이터로 객관성 확보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dirty="0"/>
              <a:t>② 사례 — 구체적 사건이나 경험으로 설득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dirty="0"/>
              <a:t>③ 전문가 견해 — 권위 있는 출처의 판단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dirty="0"/>
              <a:t>④ 연구 결과 — 학술적 검증을 거친 사실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515600" cy="100584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🔗 주장 → "왜?" → 근거 → "왜 그 근거를 믿지?" → 또 다른 근거 … 이 연쇄가 설득의 깊이를 만듭니다.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rPr dirty="0"/>
              <a:t>🌱 학생들에게 "네 주장에 왜?를 세 번 물어보자"라는 활동을 해보세요. 근거의 층위를 체험할 수 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논거란 무엇인가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137160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9B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💡 논거(Warrant) = 근거가 주장을 지지하는 이유, 즉 둘을 연결하는 논리적 다리</a:t>
            </a:r>
          </a:p>
          <a:p>
            <a:pPr algn="l">
              <a:spcBef>
                <a:spcPts val="8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근거가 "사실"을 제시한다면, 논거는 "그 사실이 왜 이 주장을 뒷받침하는지"를 설명합니다.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논거가 빠지면 근거와 주장 사이에 논리적 비약이 발생하여 설득력이 급격히 떨어집니다.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48463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B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7EC8"/>
                </a:solidFill>
                <a:latin typeface="맑은 고딕"/>
              </a:defRPr>
            </a:pPr>
            <a:r>
              <a:rPr dirty="0"/>
              <a:t>📌  예시 — 원자력 발전소 건설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주장: 원자력 발전소를 추가 건설해야 한다.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근거: 전력 수요가 매년 5%씩 증가하고 있다.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9B7EC8"/>
                </a:solidFill>
                <a:latin typeface="맑은 고딕"/>
              </a:defRPr>
            </a:pPr>
            <a:r>
              <a:rPr dirty="0"/>
              <a:t>논거: 증가하는 수요를 감당하려면 대규모</a:t>
            </a:r>
            <a:br>
              <a:rPr dirty="0"/>
            </a:br>
            <a:r>
              <a:rPr dirty="0"/>
              <a:t>          발전 시설이 필요하며, 원자력은 단위</a:t>
            </a:r>
            <a:br>
              <a:rPr dirty="0"/>
            </a:br>
            <a:r>
              <a:rPr dirty="0"/>
              <a:t>          비용 대비 발전량이 가장 높다.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834640"/>
            <a:ext cx="5303520" cy="25603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21792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3F"/>
                </a:solidFill>
                <a:latin typeface="맑은 고딕"/>
              </a:defRPr>
            </a:pPr>
            <a:r>
              <a:rPr dirty="0"/>
              <a:t>✏️  청중에 따라 논거가 달라진다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맑은 고딕"/>
              </a:defRPr>
            </a:pPr>
            <a:r>
              <a:rPr dirty="0"/>
              <a:t>같은 근거라도 청중의 가치관에 따라</a:t>
            </a:r>
            <a:br>
              <a:rPr dirty="0"/>
            </a:br>
            <a:r>
              <a:rPr dirty="0"/>
              <a:t>다른 논거를 제시해야 설득력이 높아집니다.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 dirty="0"/>
          </a:p>
          <a:p>
            <a:pPr algn="l">
              <a:defRPr sz="1300" b="1">
                <a:solidFill>
                  <a:srgbClr val="5BB36A"/>
                </a:solidFill>
                <a:latin typeface="맑은 고딕"/>
              </a:defRPr>
            </a:pPr>
            <a:r>
              <a:rPr dirty="0"/>
              <a:t>경제 중시 청중 →</a:t>
            </a:r>
          </a:p>
          <a:p>
            <a:pPr algn="l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 "비용 효율성이 가장 높은 에너지원"</a:t>
            </a:r>
          </a:p>
          <a:p>
            <a:pPr algn="l">
              <a:spcBef>
                <a:spcPts val="400"/>
              </a:spcBef>
              <a:defRPr sz="1300" b="1">
                <a:solidFill>
                  <a:srgbClr val="4A9BD9"/>
                </a:solidFill>
                <a:latin typeface="맑은 고딕"/>
              </a:defRPr>
            </a:pPr>
            <a:r>
              <a:rPr dirty="0"/>
              <a:t>환경 중시 청중 →</a:t>
            </a:r>
          </a:p>
          <a:p>
            <a:pPr algn="l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 "탄소 배출이 화석연료보다 현저히 적음"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rPr dirty="0"/>
              <a:t>🌱 논거는 "당연한 것"이 아닙니다. 학생들에게 "왜 그 근거가 이 주장을 </a:t>
            </a:r>
            <a:r>
              <a:rPr dirty="0" err="1"/>
              <a:t>지지하지?"라고</a:t>
            </a:r>
            <a:r>
              <a:rPr dirty="0"/>
              <a:t> </a:t>
            </a:r>
            <a:r>
              <a:rPr dirty="0" err="1"/>
              <a:t>물으면</a:t>
            </a:r>
            <a:r>
              <a:rPr dirty="0"/>
              <a:t> </a:t>
            </a:r>
            <a:r>
              <a:rPr dirty="0" err="1"/>
              <a:t>토론의</a:t>
            </a:r>
            <a:r>
              <a:rPr dirty="0"/>
              <a:t> </a:t>
            </a:r>
            <a:r>
              <a:rPr dirty="0" err="1"/>
              <a:t>깊이가</a:t>
            </a:r>
            <a:r>
              <a:rPr dirty="0"/>
              <a:t> </a:t>
            </a:r>
            <a:r>
              <a:rPr dirty="0" err="1"/>
              <a:t>달라집니다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'논거'와 '이유' — Toulmin의 Warrant, 번역의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Stephen Toulmin의 논증 모형에서 Warrant는 한국 도서마다 다르게 번역됩니다. 용어가 다를 뿐, 가리키는 개념은 같습니다.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515600" cy="50292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79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'논거'로 번역하는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'이유'로 번역하는 경우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2286000" cy="502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3017520" y="2286000"/>
            <a:ext cx="3383280" cy="502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4846320" cy="5029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원어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Warrant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Warrant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07208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3017520" y="2807208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6400800" y="2807208"/>
            <a:ext cx="48463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68680" y="28529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대표 도서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8529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『토론 설득의 기술』 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5292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『토론의 전략』, 『논증과 토론』 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328416"/>
            <a:ext cx="2286000" cy="8686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3017520" y="3328416"/>
            <a:ext cx="3383280" cy="8686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6400800" y="3328416"/>
            <a:ext cx="4846320" cy="86868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68680" y="3374136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강조점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374136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근거→주장의 논리적 연결 고리</a:t>
            </a:r>
            <a:br>
              <a:rPr dirty="0"/>
            </a:br>
            <a:r>
              <a:rPr dirty="0"/>
              <a:t>(다리 역할)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74136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주장을 뒷받침하는</a:t>
            </a:r>
            <a:br>
              <a:rPr dirty="0"/>
            </a:br>
            <a:r>
              <a:rPr dirty="0"/>
              <a:t>포괄적 까닭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15384"/>
            <a:ext cx="2286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Rectangle 28"/>
          <p:cNvSpPr/>
          <p:nvPr/>
        </p:nvSpPr>
        <p:spPr>
          <a:xfrm>
            <a:off x="3017520" y="4215384"/>
            <a:ext cx="3383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6400800" y="4215384"/>
            <a:ext cx="4846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868680" y="4261104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수업 활용 시</a:t>
            </a:r>
            <a:br>
              <a:rPr dirty="0"/>
            </a:br>
            <a:r>
              <a:rPr dirty="0"/>
              <a:t>유의점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261104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학생들에게 '왜 그 근거가</a:t>
            </a:r>
            <a:br>
              <a:rPr dirty="0"/>
            </a:br>
            <a:r>
              <a:rPr dirty="0"/>
              <a:t>이 주장을 지지하는가?'라고</a:t>
            </a:r>
            <a:br>
              <a:rPr dirty="0"/>
            </a:br>
            <a:r>
              <a:rPr dirty="0"/>
              <a:t>물을 때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61104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학생들에게 '이 주장을 하는</a:t>
            </a:r>
            <a:br>
              <a:rPr dirty="0"/>
            </a:br>
            <a:r>
              <a:rPr dirty="0"/>
              <a:t>이유가 무엇인가?'라고</a:t>
            </a:r>
            <a:br>
              <a:rPr dirty="0"/>
            </a:br>
            <a:r>
              <a:rPr dirty="0"/>
              <a:t>물을 때 적합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097280" y="51206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🎯 핵심: 용어보다 중요한 것은 개념입니다.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"근거가 주장을 지지하는 논리적 연결 고리"라는 본질을 학생들이 이해하면, 어떤 용어를 쓰든 토론의 질이 높아집니다.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Rectangle 37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ectangle 39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2" name="Rectangle 41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Rectangle 42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rPr sz="3200" dirty="0"/>
              <a:t>Toulmin 모형 — 주장·근거·논거의 연결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2743200" cy="1097280"/>
          </a:xfrm>
          <a:prstGeom prst="roundRect">
            <a:avLst/>
          </a:prstGeom>
          <a:solidFill>
            <a:srgbClr val="5BB36A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754880" y="141732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주장 (Claim)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83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논제에 대한</a:t>
            </a:r>
            <a:br>
              <a:rPr dirty="0"/>
            </a:br>
            <a:r>
              <a:rPr dirty="0"/>
              <a:t>자신의 입장 진술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2743200" cy="1097280"/>
          </a:xfrm>
          <a:prstGeom prst="roundRect">
            <a:avLst/>
          </a:prstGeom>
          <a:solidFill>
            <a:srgbClr val="4A9BD9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근거 (Data)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사실적·객관적</a:t>
            </a:r>
            <a:br>
              <a:rPr dirty="0"/>
            </a:br>
            <a:r>
              <a:rPr dirty="0"/>
              <a:t>뒷받침 자료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1691640"/>
            <a:ext cx="640080" cy="365760"/>
          </a:xfrm>
          <a:prstGeom prst="rightArrow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2468880" y="3017520"/>
            <a:ext cx="3474720" cy="1097280"/>
          </a:xfrm>
          <a:prstGeom prst="roundRect">
            <a:avLst/>
          </a:prstGeom>
          <a:solidFill>
            <a:srgbClr val="9B7EC8"/>
          </a:solidFill>
          <a:ln w="19050">
            <a:solidFill>
              <a:srgbClr val="9B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468880" y="306324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 sz="2000" dirty="0"/>
              <a:t>논거 (Warrant)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4290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근거가 주장을 지지하는</a:t>
            </a:r>
            <a:br>
              <a:rPr dirty="0"/>
            </a:br>
            <a:r>
              <a:rPr dirty="0"/>
              <a:t>논리적 연결 고리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6143" y="1371600"/>
            <a:ext cx="3856948" cy="45720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7635241" y="1534853"/>
            <a:ext cx="402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3F"/>
                </a:solidFill>
                <a:latin typeface="맑은 고딕"/>
              </a:defRPr>
            </a:pPr>
            <a:r>
              <a:rPr dirty="0"/>
              <a:t>📌  </a:t>
            </a:r>
            <a:r>
              <a:rPr sz="2000" dirty="0"/>
              <a:t>구체적 예시로 이해하기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1" y="2165281"/>
            <a:ext cx="402336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rPr sz="1600" dirty="0"/>
              <a:t>논제: "통일세를 징수해야 한다"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200" b="1">
                <a:solidFill>
                  <a:srgbClr val="4A9BD9"/>
                </a:solidFill>
                <a:latin typeface="맑은 고딕"/>
              </a:defRPr>
            </a:pPr>
            <a:r>
              <a:rPr sz="1600" dirty="0"/>
              <a:t>근거 (Data)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sz="1600" dirty="0"/>
              <a:t>"통일비용은 약 2,100조 원이다."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200" b="1">
                <a:solidFill>
                  <a:srgbClr val="9B7EC8"/>
                </a:solidFill>
                <a:latin typeface="맑은 고딕"/>
              </a:defRPr>
            </a:pPr>
            <a:r>
              <a:rPr sz="1600" dirty="0"/>
              <a:t>논거 (Warrant)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sz="1600" dirty="0"/>
              <a:t>"이 규모의 비용은 단기간에</a:t>
            </a:r>
            <a:br>
              <a:rPr sz="1600" dirty="0"/>
            </a:br>
            <a:r>
              <a:rPr sz="1600" dirty="0"/>
              <a:t>  조달할 수 없으므로 사전에</a:t>
            </a:r>
            <a:br>
              <a:rPr sz="1600" dirty="0"/>
            </a:br>
            <a:r>
              <a:rPr sz="1600" dirty="0"/>
              <a:t>  재원 마련이 필요하다."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 sz="1600" dirty="0"/>
          </a:p>
          <a:p>
            <a:pPr algn="l">
              <a:defRPr sz="1200" b="1">
                <a:solidFill>
                  <a:srgbClr val="5BB36A"/>
                </a:solidFill>
                <a:latin typeface="맑은 고딕"/>
              </a:defRPr>
            </a:pPr>
            <a:r>
              <a:rPr sz="1600" dirty="0"/>
              <a:t>주장 (Claim)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4A4A4A"/>
                </a:solidFill>
                <a:latin typeface="맑은 고딕"/>
              </a:defRPr>
            </a:pPr>
            <a:r>
              <a:rPr sz="1600" dirty="0"/>
              <a:t>"통일 과정에 소요될 비용을</a:t>
            </a:r>
            <a:br>
              <a:rPr sz="1600" dirty="0"/>
            </a:br>
            <a:r>
              <a:rPr sz="1600" dirty="0"/>
              <a:t>  미리 마련해야 한다."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rPr dirty="0"/>
              <a:t>🌱 수업에서 이 세 요소를 분리하여 분석하는 활동은 학생들의 논리적 사고력을 구조적으로 기를 수 있는 강력한 도구입니다.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23360" y="1371600"/>
            <a:ext cx="4114800" cy="4114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20624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8BAE"/>
                </a:solidFill>
                <a:latin typeface="맑은 고딕"/>
              </a:defRPr>
            </a:pPr>
            <a:r>
              <a:rPr dirty="0"/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28346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D2D2D"/>
                </a:solidFill>
                <a:latin typeface="맑은 고딕"/>
              </a:defRPr>
            </a:pPr>
            <a:r>
              <a:rPr dirty="0"/>
              <a:t>논제와 쟁점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384048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4A4A"/>
                </a:solidFill>
                <a:latin typeface="맑은 고딕"/>
              </a:defRPr>
            </a:pPr>
            <a:r>
              <a:rPr dirty="0"/>
              <a:t>토론의 방향을 결정짓는 핵심 요소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164592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011680" cy="164592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737360" cy="164592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1463040" cy="164592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457200" y="4663440"/>
            <a:ext cx="1188720" cy="164592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맑은 고딕"/>
              </a:defRPr>
            </a:pPr>
            <a:r>
              <a:rPr dirty="0" err="1"/>
              <a:t>논제란</a:t>
            </a:r>
            <a:r>
              <a:rPr dirty="0"/>
              <a:t> </a:t>
            </a:r>
            <a:r>
              <a:rPr dirty="0" err="1"/>
              <a:t>무엇인가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515600" cy="91440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2D"/>
                </a:solidFill>
                <a:latin typeface="맑은 고딕"/>
              </a:defRPr>
            </a:pPr>
            <a:r>
              <a:t>💡 논제 = 토론에서 긍정과 부정이 대립하는 중심 명제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t>좋은 논제는 양측이 대등하게 논증할 수 있어야 하며, 하나의 명확한 쟁점을 담아야 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91840" cy="365760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386584"/>
            <a:ext cx="3273552" cy="45720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사실논제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t>어떤 사실의 참·거짓을</a:t>
            </a:r>
            <a:br/>
            <a:r>
              <a:t>규명하는 논제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3192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66349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9BD9"/>
                </a:solidFill>
                <a:latin typeface="맑은 고딕"/>
              </a:defRPr>
            </a:pPr>
            <a:r>
              <a:rPr dirty="0" err="1"/>
              <a:t>예시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"수시 중심의 대입제도는</a:t>
            </a:r>
            <a:br/>
            <a:r>
              <a:t>교육 불평등을 증가시켰다."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377440"/>
            <a:ext cx="3291840" cy="365760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6824" y="2386584"/>
            <a:ext cx="3273552" cy="45720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가치논제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t>특정 가치의 옳고 그름을</a:t>
            </a:r>
            <a:br/>
            <a:r>
              <a:t>판단하는 논제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93192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6941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B36A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60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"경제 성장은 환경 보전보다</a:t>
            </a:r>
            <a:br/>
            <a:r>
              <a:t>우선해야 한다."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2377440"/>
            <a:ext cx="3291840" cy="36576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872984" y="2386584"/>
            <a:ext cx="3273552" cy="4572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0" y="2423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정책논제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017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4A4A"/>
                </a:solidFill>
                <a:latin typeface="맑은 고딕"/>
              </a:defRPr>
            </a:pPr>
            <a:r>
              <a:t>특정 정책의 도입 여부를</a:t>
            </a:r>
            <a:br/>
            <a:r>
              <a:t>결정하는 논제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29260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0" y="365366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8D3F"/>
                </a:solidFill>
                <a:latin typeface="맑은 고딕"/>
              </a:defRPr>
            </a:pPr>
            <a:r>
              <a:rPr dirty="0" err="1"/>
              <a:t>예시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138160" y="4160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"비례대표제를</a:t>
            </a:r>
            <a:br/>
            <a:r>
              <a:t>확대해야 한다."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사실논제와 쟁점 — 세 가지 핵심 쟁점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t>사실논제에서는 "개념 정의 → 사실 확인 → 사실 해석"의 세 층위로 쟁점이 형성됩니다.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38912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6344" y="1563624"/>
            <a:ext cx="3547872" cy="50292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① </a:t>
            </a:r>
            <a:r>
              <a:rPr dirty="0" err="1"/>
              <a:t>개념</a:t>
            </a:r>
            <a:r>
              <a:rPr dirty="0"/>
              <a:t> </a:t>
            </a:r>
            <a:r>
              <a:rPr dirty="0" err="1"/>
              <a:t>정의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BD9"/>
                </a:solidFill>
                <a:latin typeface="맑은 고딕"/>
              </a:defRPr>
            </a:pPr>
            <a:r>
              <a:t>"무엇을 ○○이라 할 것인가?"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논제에 사용된 핵심 용어의 의미와</a:t>
            </a:r>
            <a:br/>
            <a:r>
              <a:t>범위를 어떻게 규정할 것인지가</a:t>
            </a:r>
            <a:br/>
            <a:r>
              <a:t>첫 번째 쟁점입니다.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39"/>
            <a:ext cx="3200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"K-POP이 세계적 문화인가?"</a:t>
            </a:r>
            <a:br/>
            <a:r>
              <a:t>→ '세계적 문화'의 기준은?</a:t>
            </a:r>
            <a:br/>
            <a:r>
              <a:t>   (매출? 인지도? 문화적 영향력?)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554480"/>
            <a:ext cx="3566160" cy="438912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1104" y="1563624"/>
            <a:ext cx="3547872" cy="50292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② 사실 </a:t>
            </a:r>
            <a:r>
              <a:rPr dirty="0" err="1"/>
              <a:t>확인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B36A"/>
                </a:solidFill>
                <a:latin typeface="맑은 고딕"/>
              </a:defRPr>
            </a:pPr>
            <a:r>
              <a:t>"하위 사실은 입증 가능한가?"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주장을 구성하는 개별 사실들이</a:t>
            </a:r>
            <a:br/>
            <a:r>
              <a:t>실제로 존재하며 검증 가능한지를</a:t>
            </a:r>
            <a:br/>
            <a:r>
              <a:t>따져보는 쟁점입니다.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49039"/>
            <a:ext cx="3200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"독재정권이 경제를 성장시켰다"</a:t>
            </a:r>
            <a:br/>
            <a:r>
              <a:t>→ GDP 성장률, 1인당 국민소득 등</a:t>
            </a:r>
            <a:br/>
            <a:r>
              <a:t>   수치가 실제로 뒷받침하는가?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554480"/>
            <a:ext cx="3566160" cy="438912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5864" y="1563624"/>
            <a:ext cx="3547872" cy="50292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600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③ 사실 </a:t>
            </a:r>
            <a:r>
              <a:rPr dirty="0" err="1"/>
              <a:t>해석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8D3F"/>
                </a:solidFill>
                <a:latin typeface="맑은 고딕"/>
              </a:defRPr>
            </a:pPr>
            <a:r>
              <a:t>"그 사실의 의미는 무엇인가?"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6060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확인된 사실에 대해 양측이</a:t>
            </a:r>
            <a:br/>
            <a:r>
              <a:t>상반된 의미를 부여할 수 있으며,</a:t>
            </a:r>
            <a:br/>
            <a:r>
              <a:t>인과관계 타당성이 쟁점이 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749039"/>
            <a:ext cx="32004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384048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같은 경제성장 수치를 두고</a:t>
            </a:r>
            <a:br/>
            <a:r>
              <a:t>긍정: "독재정권의 정책 덕분"</a:t>
            </a:r>
            <a:br/>
            <a:r>
              <a:t>부정: "세계경제 호황·원조 덕분"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80760"/>
            <a:ext cx="11247120" cy="50292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🔗  개념 정의  →  사실 확인  →  사실 해석  :  이 세 쟁점이 순차적으로 탄탄해야 사실논제의 논증이 완성됩니다.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사실논제의 세 쟁점 — 하나의 논제로 분석하기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515600" cy="640080"/>
          </a:xfrm>
          <a:prstGeom prst="roundRect">
            <a:avLst/>
          </a:prstGeom>
          <a:solidFill>
            <a:srgbClr val="4A9BD9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7899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논제:  "수시 중심의 대입제도는 교육 불평등을 증가시켰다."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1828800" cy="32004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928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① 개념 정의 쟁점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874519"/>
            <a:ext cx="3657600" cy="123444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80" y="1892807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B36A"/>
                </a:solidFill>
                <a:latin typeface="맑은 고딕"/>
              </a:defRPr>
            </a:pPr>
            <a:r>
              <a:rPr dirty="0" err="1">
                <a:solidFill>
                  <a:srgbClr val="00B050"/>
                </a:solidFill>
              </a:rPr>
              <a:t>긍정</a:t>
            </a:r>
            <a:r>
              <a:rPr dirty="0">
                <a:solidFill>
                  <a:srgbClr val="00B050"/>
                </a:solidFill>
              </a:rPr>
              <a:t> 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03119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rPr sz="1200" dirty="0"/>
              <a:t>긍정 측: "교육 불평등"이란 사교육 접근성의</a:t>
            </a:r>
            <a:br>
              <a:rPr sz="1200" dirty="0"/>
            </a:br>
            <a:r>
              <a:rPr sz="1200" dirty="0"/>
              <a:t>격차를 </a:t>
            </a:r>
            <a:r>
              <a:rPr sz="1200" dirty="0" err="1"/>
              <a:t>의미하며</a:t>
            </a:r>
            <a:r>
              <a:rPr sz="1200" dirty="0"/>
              <a:t>, 소득에 </a:t>
            </a:r>
            <a:r>
              <a:rPr sz="1200" dirty="0" err="1"/>
              <a:t>따른</a:t>
            </a:r>
            <a:r>
              <a:rPr sz="1200" dirty="0"/>
              <a:t> 입시 준비</a:t>
            </a:r>
            <a:br>
              <a:rPr sz="1200" dirty="0"/>
            </a:br>
            <a:r>
              <a:rPr sz="1200" dirty="0"/>
              <a:t>기회의 차이로 정의한다.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3657600" cy="1234440"/>
          </a:xfrm>
          <a:prstGeom prst="round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892807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8BAE"/>
                </a:solidFill>
                <a:latin typeface="맑은 고딕"/>
              </a:defRPr>
            </a:pPr>
            <a:r>
              <a:rPr dirty="0" err="1">
                <a:solidFill>
                  <a:srgbClr val="FF0000"/>
                </a:solidFill>
              </a:rPr>
              <a:t>부정</a:t>
            </a:r>
            <a:r>
              <a:rPr dirty="0">
                <a:solidFill>
                  <a:srgbClr val="FF0000"/>
                </a:solidFill>
              </a:rPr>
              <a:t> 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19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rPr sz="1200" dirty="0"/>
              <a:t>부정 측: "교육 </a:t>
            </a:r>
            <a:r>
              <a:rPr sz="1200" dirty="0" err="1"/>
              <a:t>불평등"이란</a:t>
            </a:r>
            <a:r>
              <a:rPr sz="1200" dirty="0"/>
              <a:t> </a:t>
            </a:r>
            <a:r>
              <a:rPr sz="1200" dirty="0" err="1"/>
              <a:t>학벌에</a:t>
            </a:r>
            <a:r>
              <a:rPr sz="1200" dirty="0"/>
              <a:t> </a:t>
            </a:r>
            <a:r>
              <a:rPr sz="1200" dirty="0" err="1"/>
              <a:t>의한</a:t>
            </a:r>
            <a:br>
              <a:rPr sz="1200" dirty="0"/>
            </a:br>
            <a:r>
              <a:rPr sz="1200" dirty="0" err="1"/>
              <a:t>사회적</a:t>
            </a:r>
            <a:r>
              <a:rPr sz="1200" dirty="0"/>
              <a:t> </a:t>
            </a:r>
            <a:r>
              <a:rPr sz="1200" dirty="0" err="1"/>
              <a:t>차별을</a:t>
            </a:r>
            <a:r>
              <a:rPr sz="1200" dirty="0"/>
              <a:t> </a:t>
            </a:r>
            <a:r>
              <a:rPr sz="1200" dirty="0" err="1"/>
              <a:t>의미하며</a:t>
            </a:r>
            <a:r>
              <a:rPr sz="1200" dirty="0"/>
              <a:t>, </a:t>
            </a:r>
            <a:r>
              <a:rPr sz="1200" dirty="0" err="1"/>
              <a:t>수시는</a:t>
            </a:r>
            <a:r>
              <a:rPr sz="1200" dirty="0"/>
              <a:t> </a:t>
            </a:r>
            <a:r>
              <a:rPr sz="1200" dirty="0" err="1"/>
              <a:t>오히려</a:t>
            </a:r>
            <a:br>
              <a:rPr sz="1200" dirty="0"/>
            </a:br>
            <a:r>
              <a:rPr sz="1200" dirty="0" err="1"/>
              <a:t>다양한</a:t>
            </a:r>
            <a:r>
              <a:rPr sz="1200" dirty="0"/>
              <a:t> </a:t>
            </a:r>
            <a:r>
              <a:rPr sz="1200" dirty="0" err="1"/>
              <a:t>경로를</a:t>
            </a:r>
            <a:r>
              <a:rPr sz="1200" dirty="0"/>
              <a:t> </a:t>
            </a:r>
            <a:r>
              <a:rPr sz="1200" dirty="0" err="1"/>
              <a:t>열어</a:t>
            </a:r>
            <a:r>
              <a:rPr sz="1200" dirty="0"/>
              <a:t> </a:t>
            </a:r>
            <a:r>
              <a:rPr sz="1200" dirty="0" err="1"/>
              <a:t>불평등을</a:t>
            </a:r>
            <a:r>
              <a:rPr sz="1200" dirty="0"/>
              <a:t> </a:t>
            </a:r>
            <a:r>
              <a:rPr sz="1200" dirty="0" err="1"/>
              <a:t>완화한다</a:t>
            </a:r>
            <a:r>
              <a:rPr sz="1200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214883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9BD9"/>
                </a:solidFill>
                <a:latin typeface="맑은 고딕"/>
              </a:defRPr>
            </a:pPr>
            <a:r>
              <a:t>💡 같은 용어라도 정의에 따라 토론의 방향이 완전히 달라집니다.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39"/>
            <a:ext cx="1828800" cy="32004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1012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② 사실 확인 쟁점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291839"/>
            <a:ext cx="3657600" cy="1234440"/>
          </a:xfrm>
          <a:prstGeom prst="roundRect">
            <a:avLst/>
          </a:prstGeom>
          <a:solidFill>
            <a:srgbClr val="F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3310127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B36A"/>
                </a:solidFill>
                <a:latin typeface="맑은 고딕"/>
              </a:defRPr>
            </a:pPr>
            <a:r>
              <a:rPr dirty="0">
                <a:solidFill>
                  <a:srgbClr val="00B050"/>
                </a:solidFill>
              </a:rPr>
              <a:t>긍정 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20439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rPr sz="1200" dirty="0" err="1"/>
              <a:t>긍정</a:t>
            </a:r>
            <a:r>
              <a:rPr sz="1200" dirty="0"/>
              <a:t> 측: </a:t>
            </a:r>
            <a:r>
              <a:rPr sz="1200" dirty="0" err="1"/>
              <a:t>사교육비</a:t>
            </a:r>
            <a:r>
              <a:rPr sz="1200" dirty="0"/>
              <a:t> </a:t>
            </a:r>
            <a:r>
              <a:rPr sz="1200" dirty="0" err="1"/>
              <a:t>지출</a:t>
            </a:r>
            <a:r>
              <a:rPr sz="1200" dirty="0"/>
              <a:t> </a:t>
            </a:r>
            <a:r>
              <a:rPr sz="1200" dirty="0" err="1"/>
              <a:t>통계에서</a:t>
            </a:r>
            <a:br>
              <a:rPr sz="1200" dirty="0"/>
            </a:br>
            <a:r>
              <a:rPr sz="1200" dirty="0" err="1"/>
              <a:t>소득</a:t>
            </a:r>
            <a:r>
              <a:rPr sz="1200" dirty="0"/>
              <a:t> </a:t>
            </a:r>
            <a:r>
              <a:rPr sz="1200" dirty="0" err="1"/>
              <a:t>상위</a:t>
            </a:r>
            <a:r>
              <a:rPr sz="1200" dirty="0"/>
              <a:t> 20%와 </a:t>
            </a:r>
            <a:r>
              <a:rPr sz="1200" dirty="0" err="1"/>
              <a:t>하위</a:t>
            </a:r>
            <a:r>
              <a:rPr sz="1200" dirty="0"/>
              <a:t> 20%의 </a:t>
            </a:r>
            <a:r>
              <a:rPr sz="1200" dirty="0" err="1"/>
              <a:t>격차가</a:t>
            </a:r>
            <a:br>
              <a:rPr sz="1200" dirty="0"/>
            </a:br>
            <a:r>
              <a:rPr sz="1200" dirty="0" err="1"/>
              <a:t>최근</a:t>
            </a:r>
            <a:r>
              <a:rPr sz="1200" dirty="0"/>
              <a:t> 5년간 35% </a:t>
            </a:r>
            <a:r>
              <a:rPr sz="1200" dirty="0" err="1"/>
              <a:t>이상</a:t>
            </a:r>
            <a:r>
              <a:rPr sz="1200" dirty="0"/>
              <a:t> </a:t>
            </a:r>
            <a:r>
              <a:rPr sz="1200" dirty="0" err="1"/>
              <a:t>벌어졌다</a:t>
            </a:r>
            <a:r>
              <a:rPr sz="1200"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39"/>
            <a:ext cx="3657600" cy="1234440"/>
          </a:xfrm>
          <a:prstGeom prst="roundRect">
            <a:avLst/>
          </a:prstGeom>
          <a:solidFill>
            <a:srgbClr val="F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310127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8BAE"/>
                </a:solidFill>
                <a:latin typeface="맑은 고딕"/>
              </a:defRPr>
            </a:pPr>
            <a:r>
              <a:rPr dirty="0" err="1">
                <a:solidFill>
                  <a:srgbClr val="FF0000"/>
                </a:solidFill>
              </a:rPr>
              <a:t>부정</a:t>
            </a:r>
            <a:r>
              <a:rPr dirty="0">
                <a:solidFill>
                  <a:srgbClr val="FF0000"/>
                </a:solidFill>
              </a:rPr>
              <a:t> 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20439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rPr sz="1200" dirty="0"/>
              <a:t>부정 측: 해당 </a:t>
            </a:r>
            <a:r>
              <a:rPr sz="1200" dirty="0" err="1"/>
              <a:t>통계는</a:t>
            </a:r>
            <a:r>
              <a:rPr sz="1200" dirty="0"/>
              <a:t> 수시와 </a:t>
            </a:r>
            <a:r>
              <a:rPr sz="1200" dirty="0" err="1"/>
              <a:t>정시를</a:t>
            </a:r>
            <a:br>
              <a:rPr sz="1200" dirty="0"/>
            </a:br>
            <a:r>
              <a:rPr sz="1200" dirty="0" err="1"/>
              <a:t>구분하지</a:t>
            </a:r>
            <a:r>
              <a:rPr sz="1200" dirty="0"/>
              <a:t> </a:t>
            </a:r>
            <a:r>
              <a:rPr sz="1200" dirty="0" err="1"/>
              <a:t>않으며</a:t>
            </a:r>
            <a:r>
              <a:rPr sz="1200" dirty="0"/>
              <a:t>, </a:t>
            </a:r>
            <a:r>
              <a:rPr sz="1200" dirty="0" err="1"/>
              <a:t>정시</a:t>
            </a:r>
            <a:r>
              <a:rPr sz="1200" dirty="0"/>
              <a:t> </a:t>
            </a:r>
            <a:r>
              <a:rPr sz="1200" dirty="0" err="1"/>
              <a:t>준비에도</a:t>
            </a:r>
            <a:br>
              <a:rPr sz="1200" dirty="0"/>
            </a:br>
            <a:r>
              <a:rPr sz="1200" dirty="0" err="1"/>
              <a:t>동등한</a:t>
            </a:r>
            <a:r>
              <a:rPr sz="1200" dirty="0"/>
              <a:t> </a:t>
            </a:r>
            <a:r>
              <a:rPr sz="1200" dirty="0" err="1"/>
              <a:t>수준의</a:t>
            </a:r>
            <a:r>
              <a:rPr sz="1200" dirty="0"/>
              <a:t> </a:t>
            </a:r>
            <a:r>
              <a:rPr sz="1200" dirty="0" err="1"/>
              <a:t>사교육비가</a:t>
            </a:r>
            <a:r>
              <a:rPr sz="1200" dirty="0"/>
              <a:t> </a:t>
            </a:r>
            <a:r>
              <a:rPr sz="1200" dirty="0" err="1"/>
              <a:t>지출된다</a:t>
            </a:r>
            <a:r>
              <a:rPr sz="1200" dirty="0"/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56615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BB36A"/>
                </a:solidFill>
                <a:latin typeface="맑은 고딕"/>
              </a:defRPr>
            </a:pPr>
            <a:r>
              <a:t>💡 통계의 신뢰성과 출처, 측정 범위를 꼼꼼히 따져야 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59"/>
            <a:ext cx="1828800" cy="32004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72744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③ 사실 해석 쟁점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23160" y="4709159"/>
            <a:ext cx="3657600" cy="123444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80" y="4727447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B36A"/>
                </a:solidFill>
                <a:latin typeface="맑은 고딕"/>
              </a:defRPr>
            </a:pPr>
            <a:r>
              <a:rPr dirty="0" err="1">
                <a:solidFill>
                  <a:srgbClr val="00B050"/>
                </a:solidFill>
              </a:rPr>
              <a:t>긍정</a:t>
            </a:r>
            <a:r>
              <a:rPr dirty="0">
                <a:solidFill>
                  <a:srgbClr val="00B050"/>
                </a:solidFill>
              </a:rPr>
              <a:t> 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937759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rPr sz="1200" dirty="0"/>
              <a:t>긍정 측: </a:t>
            </a:r>
            <a:r>
              <a:rPr sz="1200" dirty="0" err="1"/>
              <a:t>사교육비</a:t>
            </a:r>
            <a:r>
              <a:rPr sz="1200" dirty="0"/>
              <a:t> </a:t>
            </a:r>
            <a:r>
              <a:rPr sz="1200" dirty="0" err="1"/>
              <a:t>격차</a:t>
            </a:r>
            <a:r>
              <a:rPr sz="1200" dirty="0"/>
              <a:t> </a:t>
            </a:r>
            <a:r>
              <a:rPr sz="1200" dirty="0" err="1"/>
              <a:t>확대는</a:t>
            </a:r>
            <a:r>
              <a:rPr sz="1200" dirty="0"/>
              <a:t> </a:t>
            </a:r>
            <a:r>
              <a:rPr sz="1200" dirty="0" err="1"/>
              <a:t>수시</a:t>
            </a:r>
            <a:r>
              <a:rPr sz="1200" dirty="0"/>
              <a:t> </a:t>
            </a:r>
            <a:r>
              <a:rPr sz="1200" dirty="0" err="1"/>
              <a:t>제도가</a:t>
            </a:r>
            <a:br>
              <a:rPr sz="1200" dirty="0"/>
            </a:br>
            <a:r>
              <a:rPr sz="1200" dirty="0" err="1"/>
              <a:t>스펙</a:t>
            </a:r>
            <a:r>
              <a:rPr sz="1200" dirty="0"/>
              <a:t> </a:t>
            </a:r>
            <a:r>
              <a:rPr sz="1200" dirty="0" err="1"/>
              <a:t>경쟁을</a:t>
            </a:r>
            <a:r>
              <a:rPr sz="1200" dirty="0"/>
              <a:t> </a:t>
            </a:r>
            <a:r>
              <a:rPr sz="1200" dirty="0" err="1"/>
              <a:t>유발한</a:t>
            </a:r>
            <a:r>
              <a:rPr sz="1200" dirty="0"/>
              <a:t> </a:t>
            </a:r>
            <a:r>
              <a:rPr sz="1200" dirty="0" err="1"/>
              <a:t>결과이며</a:t>
            </a:r>
            <a:r>
              <a:rPr sz="1200" dirty="0"/>
              <a:t>,</a:t>
            </a:r>
            <a:br>
              <a:rPr sz="1200" dirty="0"/>
            </a:br>
            <a:r>
              <a:rPr sz="1200" dirty="0" err="1"/>
              <a:t>이것이</a:t>
            </a:r>
            <a:r>
              <a:rPr sz="1200" dirty="0"/>
              <a:t> 곧 </a:t>
            </a:r>
            <a:r>
              <a:rPr sz="1200" dirty="0" err="1"/>
              <a:t>불평등</a:t>
            </a:r>
            <a:r>
              <a:rPr sz="1200" dirty="0"/>
              <a:t> </a:t>
            </a:r>
            <a:r>
              <a:rPr sz="1200" dirty="0" err="1"/>
              <a:t>심화의</a:t>
            </a:r>
            <a:r>
              <a:rPr sz="1200" dirty="0"/>
              <a:t> </a:t>
            </a:r>
            <a:r>
              <a:rPr sz="1200" dirty="0" err="1"/>
              <a:t>증거이다</a:t>
            </a:r>
            <a:r>
              <a:rPr sz="1200" dirty="0"/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09159"/>
            <a:ext cx="3657600" cy="1234440"/>
          </a:xfrm>
          <a:prstGeom prst="round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4727447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8BAE"/>
                </a:solidFill>
                <a:latin typeface="맑은 고딕"/>
              </a:defRPr>
            </a:pPr>
            <a:r>
              <a:rPr dirty="0" err="1">
                <a:solidFill>
                  <a:srgbClr val="FF0000"/>
                </a:solidFill>
              </a:rPr>
              <a:t>부정</a:t>
            </a:r>
            <a:r>
              <a:rPr dirty="0">
                <a:solidFill>
                  <a:srgbClr val="FF0000"/>
                </a:solidFill>
              </a:rPr>
              <a:t> 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937759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rPr sz="1200" dirty="0"/>
              <a:t>부정 측: </a:t>
            </a:r>
            <a:r>
              <a:rPr sz="1200" dirty="0" err="1"/>
              <a:t>사교육비</a:t>
            </a:r>
            <a:r>
              <a:rPr sz="1200" dirty="0"/>
              <a:t> </a:t>
            </a:r>
            <a:r>
              <a:rPr sz="1200" dirty="0" err="1"/>
              <a:t>증가의</a:t>
            </a:r>
            <a:r>
              <a:rPr sz="1200" dirty="0"/>
              <a:t> 원인은 </a:t>
            </a:r>
            <a:r>
              <a:rPr sz="1200" dirty="0" err="1"/>
              <a:t>수시가</a:t>
            </a:r>
            <a:br>
              <a:rPr sz="1200" dirty="0"/>
            </a:br>
            <a:r>
              <a:rPr sz="1200" dirty="0" err="1"/>
              <a:t>아니라</a:t>
            </a:r>
            <a:r>
              <a:rPr sz="1200" dirty="0"/>
              <a:t> </a:t>
            </a:r>
            <a:r>
              <a:rPr sz="1200" dirty="0" err="1"/>
              <a:t>사회</a:t>
            </a:r>
            <a:r>
              <a:rPr sz="1200" dirty="0"/>
              <a:t> </a:t>
            </a:r>
            <a:r>
              <a:rPr sz="1200" dirty="0" err="1"/>
              <a:t>전반의</a:t>
            </a:r>
            <a:r>
              <a:rPr sz="1200" dirty="0"/>
              <a:t> </a:t>
            </a:r>
            <a:r>
              <a:rPr sz="1200" dirty="0" err="1"/>
              <a:t>교육열</a:t>
            </a:r>
            <a:r>
              <a:rPr sz="1200" dirty="0"/>
              <a:t> </a:t>
            </a:r>
            <a:r>
              <a:rPr sz="1200" dirty="0" err="1"/>
              <a:t>과잉이며</a:t>
            </a:r>
            <a:r>
              <a:rPr sz="1200" dirty="0"/>
              <a:t>,</a:t>
            </a:r>
            <a:br>
              <a:rPr sz="1200" dirty="0"/>
            </a:br>
            <a:r>
              <a:rPr sz="1200" dirty="0" err="1"/>
              <a:t>제도를</a:t>
            </a:r>
            <a:r>
              <a:rPr sz="1200" dirty="0"/>
              <a:t> </a:t>
            </a:r>
            <a:r>
              <a:rPr sz="1200" dirty="0" err="1"/>
              <a:t>바꿔도</a:t>
            </a:r>
            <a:r>
              <a:rPr sz="1200" dirty="0"/>
              <a:t> </a:t>
            </a:r>
            <a:r>
              <a:rPr sz="1200" dirty="0" err="1"/>
              <a:t>격차는</a:t>
            </a:r>
            <a:r>
              <a:rPr sz="1200" dirty="0"/>
              <a:t> </a:t>
            </a:r>
            <a:r>
              <a:rPr sz="1200" dirty="0" err="1"/>
              <a:t>해소되지</a:t>
            </a:r>
            <a:r>
              <a:rPr sz="1200" dirty="0"/>
              <a:t> </a:t>
            </a:r>
            <a:r>
              <a:rPr sz="1200" dirty="0" err="1"/>
              <a:t>않는다</a:t>
            </a:r>
            <a:r>
              <a:rPr sz="1200" dirty="0"/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983479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8D3F"/>
                </a:solidFill>
                <a:latin typeface="맑은 고딕"/>
              </a:defRPr>
            </a:pPr>
            <a:r>
              <a:t>💡 같은 수치를 두고 인과관계의 방향이 달라질 수 있습니다.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수업에서 하나의 사실논제를 이 세 층위로 분석하는 활동은 학생들의 비판적 사고력을 체계적으로 성장시킵니다.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가치논제와 쟁점 — 숨은 가치를 발견하다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515600" cy="91440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맑은 고딕"/>
              </a:defRPr>
            </a:pPr>
            <a:r>
              <a:t>💡 가치논제는 서로 다른 가치가 충돌할 때, 어떤 가치를 우선할 것인지를 다투는 논제입니다.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t>핵심 쟁점: ① 가치 판단의 기준은 무엇인가?  ② 어떤 가치가 더 상위에 놓이는가?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0292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203704"/>
            <a:ext cx="5010912" cy="45720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📌  "경제 성장은 환경 보전보다 우선해야 한다"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8D3F"/>
                </a:solidFill>
                <a:latin typeface="맑은 고딕"/>
              </a:defRPr>
            </a:pPr>
            <a:r>
              <a:t>긍정 측이 중시하는 가치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• 경제적 풍요 → 국민의 생활 수준 향상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• 고용 안정 → 사회 안정의 기반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• 국가 경쟁력 → 미래 세대의 기회 확대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300" b="1">
                <a:solidFill>
                  <a:srgbClr val="4A9BD9"/>
                </a:solidFill>
                <a:latin typeface="맑은 고딕"/>
              </a:defRPr>
            </a:pPr>
            <a:r>
              <a:t>부정 측이 중시하는 가치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• 환경 보전 → 인류 생존의 전제 조건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• 지속가능성 → 미래 세대에 대한 책임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• 생태적 다양성 → 복원 불가능한 가치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94560"/>
            <a:ext cx="5120640" cy="36576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35624" y="2203704"/>
            <a:ext cx="5102352" cy="457200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✏️  가치논제의 핵심 쟁점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쟁점 1: 가치 판단의 기준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"경제 성장"과 "환경 보전"을 평가할</a:t>
            </a:r>
            <a:br/>
            <a:r>
              <a:t>    객관적 기준은 무엇인가?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쟁점 2: 가치의 우선순위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두 가치가 충돌할 때 어떤 가치를</a:t>
            </a:r>
            <a:br/>
            <a:r>
              <a:t>    먼저 고려해야 하는가?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쟁점 3: 가치의 보편성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그 가치는 특정 집단만이 아니라</a:t>
            </a:r>
            <a:br/>
            <a:r>
              <a:t>    보편적으로 추구할 만한 것인가?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가치논제는 정답이 없기에, 학생들이 "나는 왜 이 가치를 더 중요하다고 생각하는가?"를 성찰하는 계기가 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가치 우선순위를 정하는 세 가지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t>가치논제에서 양측이 서로 다른 가치를 내세울 때, 어떤 가치가 우선하는지를 논증하기 위한 세 가지 기준입니다.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429768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828800" y="1691640"/>
            <a:ext cx="502920" cy="502920"/>
          </a:xfrm>
          <a:prstGeom prst="ellipse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719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8BAE"/>
                </a:solidFill>
                <a:latin typeface="맑은 고딕"/>
              </a:defRPr>
            </a:pPr>
            <a:r>
              <a:t>본질성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(Essentiality)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어떤 가치가 인간 존재의</a:t>
            </a:r>
            <a:br/>
            <a:r>
              <a:t>근본에 더 가까운가?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생존·안전·인간 존엄과 같은</a:t>
            </a:r>
            <a:br/>
            <a:r>
              <a:t>근원적 가치는 편의·효율 등의</a:t>
            </a:r>
            <a:br/>
            <a:r>
              <a:t>도구적 가치보다 우선합니다.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80560"/>
            <a:ext cx="3200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생명권 &gt; 경제적 이익</a:t>
            </a:r>
            <a:br/>
            <a:r>
              <a:t>"사람의 생명은 경제 논리로</a:t>
            </a:r>
            <a:br/>
            <a:r>
              <a:t> 대체할 수 없다."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554480"/>
            <a:ext cx="3566160" cy="429768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623560" y="1691640"/>
            <a:ext cx="502920" cy="502920"/>
          </a:xfrm>
          <a:prstGeom prst="ellipse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560" y="1719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A9BD9"/>
                </a:solidFill>
                <a:latin typeface="맑은 고딕"/>
              </a:defRPr>
            </a:pPr>
            <a:r>
              <a:t>영향 범위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(Scope)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어떤 가치가 더 많은</a:t>
            </a:r>
            <a:br/>
            <a:r>
              <a:t>사람에게 영향을 미치는가?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66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소수의 이익보다 다수의</a:t>
            </a:r>
            <a:br/>
            <a:r>
              <a:t>복리에 기여하는 가치가</a:t>
            </a:r>
            <a:br/>
            <a:r>
              <a:t>우선적으로 고려됩니다.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480560"/>
            <a:ext cx="3200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공공 안전 &gt; 개인 자유</a:t>
            </a:r>
            <a:br/>
            <a:r>
              <a:t>"전체 사회의 안전은 개인의</a:t>
            </a:r>
            <a:br/>
            <a:r>
              <a:t> 편의보다 넓은 영향을 미친다."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554480"/>
            <a:ext cx="3566160" cy="429768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91640"/>
            <a:ext cx="502920" cy="502920"/>
          </a:xfrm>
          <a:prstGeom prst="ellipse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1719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286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B36A"/>
                </a:solidFill>
                <a:latin typeface="맑은 고딕"/>
              </a:defRPr>
            </a:pPr>
            <a:r>
              <a:t>시급성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6B"/>
                </a:solidFill>
                <a:latin typeface="맑은 고딕"/>
              </a:defRPr>
            </a:pPr>
            <a:r>
              <a:t>(Urgency)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017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어떤 가치의 실현이</a:t>
            </a:r>
            <a:br/>
            <a:r>
              <a:t>더 시급한가?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66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회복 불가능한 손실이</a:t>
            </a:r>
            <a:br/>
            <a:r>
              <a:t>예상되는 가치는 유예 가능한</a:t>
            </a:r>
            <a:br/>
            <a:r>
              <a:t>가치보다 먼저 다뤄야 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480560"/>
            <a:ext cx="3200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5720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환경 보전 &gt; 단기 이윤</a:t>
            </a:r>
            <a:br/>
            <a:r>
              <a:t>"파괴된 생태계는 복원이</a:t>
            </a:r>
            <a:br/>
            <a:r>
              <a:t> 불가능하므로 지금 보전해야 한다."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이 세 기준은 학생들이 "내 가치가 왜 상대의 가치보다 우선하는지"를 논리적으로 설명하는 도구가 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정책논제와 쟁점 — 변화를 설계하다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10515600" cy="91440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2D2D"/>
                </a:solidFill>
                <a:latin typeface="맑은 고딕"/>
              </a:defRPr>
            </a:pPr>
            <a:r>
              <a:t>💡 정책논제는 특정 정책의 도입·변경·폐지를 둘러싸고 찬반이 대립하는 논제입니다.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t>핵심은 "현 상태(Status Quo)를 바꿀 필요가 있는가, 그리고 제안된 변화가 적절한가"를 따지는 데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029200" cy="365760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203704"/>
            <a:ext cx="5010912" cy="45720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긍정 측 입론 — "변화가 필요하다"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❶ 현 상태의 문제를 드러낸다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현 제도의 구조적 한계와 심각성을 논증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❷ 정책의 실효성을 입증한다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제안하는 정책이 문제를 해결할 수 있음을 논증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❸ 이익이 비용을 상회함을 보인다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정책 시행의 긍정적 효과가 부작용보다 큼을 논증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194560"/>
            <a:ext cx="5120640" cy="365760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35624" y="2203704"/>
            <a:ext cx="5102352" cy="457200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부정 측 입론 — "변화가 부적절하다"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❶ 문제의 심각성에 이의를 제기한다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현 상태가 생각보다 심각하지 않거나 일시적임을 논증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❷ 정책의 실효성에 의문을 제기한다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해당 정책이 문제를 실제로 해결하지 못함을 논증</a:t>
            </a:r>
          </a:p>
          <a:p>
            <a:pPr algn="l">
              <a:defRPr sz="6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❸ 부작용이 이익을 초과함을 보인다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정책 시행이 새로운 문제나 과도한 비용을 초래함을 논증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정책논제는 "문제 인식 → 해결 방안 → 실행 가능성"의 흐름으로, 학생들에게 사회 문제 해결의 사고 과정을 훈련시킵니다.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정책논제의 필수 쟁점 (Stock Issues)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4A"/>
                </a:solidFill>
                <a:latin typeface="맑은 고딕"/>
              </a:defRPr>
            </a:pPr>
            <a:r>
              <a:t>정책논제를 체계적으로 분석하기 위해 반드시 다루어야 할 네 가지 필수 쟁점입니다.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508760"/>
            <a:ext cx="2743200" cy="448056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71600" y="1645920"/>
            <a:ext cx="457200" cy="457200"/>
          </a:xfrm>
          <a:prstGeom prst="ellipse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8BAE"/>
                </a:solidFill>
                <a:latin typeface="맑은 고딕"/>
              </a:defRPr>
            </a:pPr>
            <a:r>
              <a:t>문제의 심각성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6B"/>
                </a:solidFill>
                <a:latin typeface="맑은 고딕"/>
              </a:defRPr>
            </a:pPr>
            <a:r>
              <a:t>Significance / Harm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468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현 상태에 심각한 문제가</a:t>
            </a:r>
            <a:br/>
            <a:r>
              <a:t>존재하는가?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비례대표제 논제</a:t>
            </a:r>
            <a:br/>
            <a:r>
              <a:t>"현행 소선거구제에서 49% 득표로</a:t>
            </a:r>
            <a:br/>
            <a:r>
              <a:t>낙선, 23% 득표로 당선 가능</a:t>
            </a:r>
            <a:br/>
            <a:r>
              <a:t>→ 민의 왜곡의 심각성"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508760"/>
            <a:ext cx="2743200" cy="448056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51960" y="1645920"/>
            <a:ext cx="457200" cy="457200"/>
          </a:xfrm>
          <a:prstGeom prst="ellipse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9BD9"/>
                </a:solidFill>
                <a:latin typeface="맑은 고딕"/>
              </a:defRPr>
            </a:pPr>
            <a:r>
              <a:t>내재성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6B"/>
                </a:solidFill>
                <a:latin typeface="맑은 고딕"/>
              </a:defRPr>
            </a:pPr>
            <a:r>
              <a:t>Inherency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2834640"/>
            <a:ext cx="2468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그 문제는 현 체제에</a:t>
            </a:r>
            <a:br/>
            <a:r>
              <a:t>구조적으로 내재된 것인가?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6118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"비비례성 문제는 소선거구</a:t>
            </a:r>
            <a:br/>
            <a:r>
              <a:t>단순다수제의 구조적 한계에서</a:t>
            </a:r>
            <a:br/>
            <a:r>
              <a:t>비롯되므로, 제도 변경 없이는</a:t>
            </a:r>
            <a:br/>
            <a:r>
              <a:t>해결이 불가능하다."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1508760"/>
            <a:ext cx="2743200" cy="448056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32319" y="1645920"/>
            <a:ext cx="457200" cy="457200"/>
          </a:xfrm>
          <a:prstGeom prst="ellipse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19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B36A"/>
                </a:solidFill>
                <a:latin typeface="맑은 고딕"/>
              </a:defRPr>
            </a:pPr>
            <a:r>
              <a:t>해결 가능성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6B"/>
                </a:solidFill>
                <a:latin typeface="맑은 고딕"/>
              </a:defRPr>
            </a:pPr>
            <a:r>
              <a:t>Solvency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19" y="2834640"/>
            <a:ext cx="2468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39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제안된 정책이 실제로</a:t>
            </a:r>
            <a:br/>
            <a:r>
              <a:t>문제를 해결할 수 있는가?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39" y="36118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"비례대표제를 확대하면</a:t>
            </a:r>
            <a:br/>
            <a:r>
              <a:t>득표율과 의석수의 비례성이</a:t>
            </a:r>
            <a:br/>
            <a:r>
              <a:t>높아져 민의 반영도가</a:t>
            </a:r>
            <a:br/>
            <a:r>
              <a:t>실질적으로 개선된다."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1508760"/>
            <a:ext cx="2743200" cy="448056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79" y="1645920"/>
            <a:ext cx="457200" cy="457200"/>
          </a:xfrm>
          <a:prstGeom prst="ellipse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12679" y="16642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8D3F"/>
                </a:solidFill>
                <a:latin typeface="맑은 고딕"/>
              </a:defRPr>
            </a:pPr>
            <a:r>
              <a:t>실행 가능성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2514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6B6B"/>
                </a:solidFill>
                <a:latin typeface="맑은 고딕"/>
              </a:defRPr>
            </a:pPr>
            <a:r>
              <a:t>Feasibility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834640"/>
            <a:ext cx="24688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3999" y="2880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2D2D"/>
                </a:solidFill>
                <a:latin typeface="맑은 고딕"/>
              </a:defRPr>
            </a:pPr>
            <a:r>
              <a:t>그 정책은 현실적으로</a:t>
            </a:r>
            <a:br/>
            <a:r>
              <a:t>시행 가능한가?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361188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맑은 고딕"/>
              </a:defRPr>
            </a:pPr>
            <a:r>
              <a:t>예) "전 국민에게 10억씩 배분"</a:t>
            </a:r>
            <a:br/>
            <a:r>
              <a:t>→ 인구 5,000만 기준 5경 필요</a:t>
            </a:r>
            <a:br/>
            <a:r>
              <a:t>→ 과도한 비용으로 실행 불가</a:t>
            </a:r>
            <a:br/>
            <a:r>
              <a:t>(볼리비아 빗물 사용료 사례)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네 가지 필수 쟁점은 학생들이 정책논제를 분석할 때 "체크리스트"처럼 활용할 수 있는 강력한 프레임워크입니다.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좋은 논제의 조건 — 논제로서의 적절성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457200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0664" y="1106424"/>
            <a:ext cx="5010912" cy="45720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✅  논제로서 적절한 경우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① 찬반 양측이 대등하게 논증할 수 있다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한쪽으로 치우치지 않아 실질적 토론 가능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② 하나의 명확한 논점을 담고 있다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복수의 쟁점이 혼재되지 않아 초점 유지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③ 용어가 분명하고 해석의 여지가 적다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불필요한 정의 논쟁을 방지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④ 현실적 맥락에서 의미 있는 주제이다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→ 학생들이 실제 사회와 연결 지어 사고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120640" cy="457200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E88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35624" y="1106424"/>
            <a:ext cx="5102352" cy="457200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143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⚠️  논제로서 재고가 필요한 경우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❶ 논점이 두 개 이상 혼재된 경우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"사형제를 폐지하고 종신형을 도입해야 한다."</a:t>
            </a:r>
            <a:br/>
            <a:r>
              <a:t>→ 폐지와 도입이 별개의 논점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❷ 한쪽 논증이 현저히 유리한 경우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"살인은 나쁘다."</a:t>
            </a:r>
            <a:br/>
            <a:r>
              <a:t>→ 반대 논증이 사실상 불가능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❸ 핵심 개념이 모호한 경우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"좋은 교육을 해야 한다."</a:t>
            </a:r>
            <a:br/>
            <a:r>
              <a:t>→ '좋은 교육'의 기준이 불분명</a:t>
            </a:r>
          </a:p>
          <a:p>
            <a:pPr algn="l">
              <a:defRPr sz="8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l">
              <a:defRPr sz="1400" b="1">
                <a:solidFill>
                  <a:srgbClr val="2D2D2D"/>
                </a:solidFill>
                <a:latin typeface="맑은 고딕"/>
              </a:defRPr>
            </a:pPr>
            <a:r>
              <a:t>❹ 검증이 원천적으로 불가능한 경우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예) "외계 생명체는 존재한다."</a:t>
            </a:r>
            <a:br/>
            <a:r>
              <a:t>→ 현재 기술로 입증 및 반증 모두 곤란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rPr dirty="0"/>
              <a:t>🌱 </a:t>
            </a:r>
            <a:r>
              <a:rPr dirty="0" err="1"/>
              <a:t>수업에서</a:t>
            </a:r>
            <a:r>
              <a:rPr dirty="0"/>
              <a:t> "이 </a:t>
            </a:r>
            <a:r>
              <a:rPr dirty="0" err="1"/>
              <a:t>논제는</a:t>
            </a:r>
            <a:r>
              <a:rPr dirty="0"/>
              <a:t> </a:t>
            </a:r>
            <a:r>
              <a:rPr dirty="0" err="1"/>
              <a:t>적절한가</a:t>
            </a:r>
            <a:r>
              <a:rPr dirty="0"/>
              <a:t>?"를 </a:t>
            </a:r>
            <a:r>
              <a:rPr dirty="0" err="1"/>
              <a:t>학생들과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따져보는</a:t>
            </a:r>
            <a:r>
              <a:rPr dirty="0"/>
              <a:t> </a:t>
            </a:r>
            <a:r>
              <a:rPr dirty="0" err="1"/>
              <a:t>활동은</a:t>
            </a:r>
            <a:r>
              <a:rPr dirty="0"/>
              <a:t>, </a:t>
            </a:r>
            <a:r>
              <a:rPr dirty="0" err="1"/>
              <a:t>토론의</a:t>
            </a:r>
            <a:r>
              <a:rPr dirty="0"/>
              <a:t> </a:t>
            </a:r>
            <a:r>
              <a:rPr dirty="0" err="1"/>
              <a:t>본질을</a:t>
            </a:r>
            <a:r>
              <a:rPr dirty="0"/>
              <a:t> </a:t>
            </a:r>
            <a:r>
              <a:rPr dirty="0" err="1"/>
              <a:t>이해하는</a:t>
            </a:r>
            <a:r>
              <a:rPr dirty="0"/>
              <a:t> </a:t>
            </a:r>
            <a:r>
              <a:rPr dirty="0" err="1"/>
              <a:t>첫걸음이</a:t>
            </a:r>
            <a:r>
              <a:rPr dirty="0"/>
              <a:t> </a:t>
            </a:r>
            <a:r>
              <a:rPr dirty="0" err="1"/>
              <a:t>됩니다</a:t>
            </a:r>
            <a:r>
              <a:rPr dirty="0"/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논제 유형별 쟁점 — 한눈에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10972800" cy="5029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9202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09728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사실논제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가치논제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19" y="109728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정책논제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2103120" cy="7315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핵심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600200"/>
            <a:ext cx="3017520" cy="73152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645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어떤 사실이</a:t>
            </a:r>
            <a:br/>
            <a:r>
              <a:t>참인가, 거짓인가?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600200"/>
            <a:ext cx="3017520" cy="731520"/>
          </a:xfrm>
          <a:prstGeom prst="rect">
            <a:avLst/>
          </a:prstGeom>
          <a:solidFill>
            <a:srgbClr val="F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645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어떤 가치가</a:t>
            </a:r>
            <a:br/>
            <a:r>
              <a:t>더 우선하는가?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1600200"/>
            <a:ext cx="3017520" cy="7315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19" y="16459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이 정책을</a:t>
            </a:r>
            <a:br/>
            <a:r>
              <a:t>시행해야 하는가?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359152"/>
            <a:ext cx="2103120" cy="114300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404872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주요 쟁점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359152"/>
            <a:ext cx="3017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240487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① 개념 정의</a:t>
            </a:r>
            <a:br/>
            <a:r>
              <a:t>② 사실 확인</a:t>
            </a:r>
            <a:br/>
            <a:r>
              <a:t>③ 사실 해석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2359152"/>
            <a:ext cx="3017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240487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① 가치 판단 기준</a:t>
            </a:r>
            <a:br/>
            <a:r>
              <a:t>② 가치 우선순위</a:t>
            </a:r>
            <a:br/>
            <a:r>
              <a:t>③ 가치의 보편성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2359152"/>
            <a:ext cx="3017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19" y="240487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① 문제의 심각성</a:t>
            </a:r>
            <a:br/>
            <a:r>
              <a:t>② 내재성</a:t>
            </a:r>
            <a:br/>
            <a:r>
              <a:t>③ 해결 가능성</a:t>
            </a:r>
            <a:br/>
            <a:r>
              <a:t>④ 실행 가능성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529584"/>
            <a:ext cx="2103120" cy="73152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575304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논증의 초점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529584"/>
            <a:ext cx="3017520" cy="73152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26080" y="357530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객관적 증거와</a:t>
            </a:r>
            <a:br/>
            <a:r>
              <a:t>해석의 타당성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529584"/>
            <a:ext cx="3017520" cy="731520"/>
          </a:xfrm>
          <a:prstGeom prst="rect">
            <a:avLst/>
          </a:prstGeom>
          <a:solidFill>
            <a:srgbClr val="F0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357530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가치 기준 설정과</a:t>
            </a:r>
            <a:br/>
            <a:r>
              <a:t>우열 비교의 논리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3529584"/>
            <a:ext cx="3017520" cy="73152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19" y="3575304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현 상태의 문제와</a:t>
            </a:r>
            <a:br/>
            <a:r>
              <a:t>대안의 실효성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288536"/>
            <a:ext cx="2103120" cy="1005840"/>
          </a:xfrm>
          <a:prstGeom prst="rect">
            <a:avLst/>
          </a:prstGeom>
          <a:solidFill>
            <a:srgbClr val="FD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334256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  <a:latin typeface="맑은 고딕"/>
              </a:defRPr>
            </a:pPr>
            <a:r>
              <a:t>대표 논제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288536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0" y="4334256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"수시 중심 대입제도는</a:t>
            </a:r>
            <a:br/>
            <a:r>
              <a:t>교육 불평등을</a:t>
            </a:r>
            <a:br/>
            <a:r>
              <a:t>증가시켰다"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4288536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0" y="4334256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"경제 성장은</a:t>
            </a:r>
            <a:br/>
            <a:r>
              <a:t>환경 보전보다</a:t>
            </a:r>
            <a:br/>
            <a:r>
              <a:t>우선해야 한다"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4288536"/>
            <a:ext cx="3017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19" y="4334256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"비례대표제를</a:t>
            </a:r>
            <a:br/>
            <a:r>
              <a:t>확대해야 한다"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1051560"/>
            <a:ext cx="18288" cy="4270248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34640" y="1051560"/>
            <a:ext cx="18288" cy="4270248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852160" y="1051560"/>
            <a:ext cx="18288" cy="4270248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869680" y="1051560"/>
            <a:ext cx="18288" cy="4270248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1887200" y="1051560"/>
            <a:ext cx="18288" cy="4270248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이 비교표를 학생들에게 제공하면, 새로운 논제를 접할 때 "어떤 유형인가?"를 먼저 파악하는 습관이 길러집니다.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548640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D2D2D"/>
                </a:solidFill>
                <a:latin typeface="맑은 고딕"/>
              </a:defRPr>
            </a:pPr>
            <a:r>
              <a:t>수업 속으로 — 토론수업 활동 아이디어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97280"/>
            <a:ext cx="2743200" cy="4663440"/>
          </a:xfrm>
          <a:prstGeom prst="roundRect">
            <a:avLst/>
          </a:prstGeom>
          <a:solidFill>
            <a:srgbClr val="EFF5FB"/>
          </a:solidFill>
          <a:ln w="19050">
            <a:solidFill>
              <a:srgbClr val="4A9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234440"/>
            <a:ext cx="1280160" cy="365760"/>
          </a:xfrm>
          <a:prstGeom prst="round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A9BD9"/>
                </a:solidFill>
                <a:latin typeface="맑은 고딕"/>
              </a:defRPr>
            </a:pPr>
            <a:r>
              <a:t>논제 유형 분류하기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다양한 논제 카드를 제시하고</a:t>
            </a:r>
            <a:br/>
            <a:r>
              <a:t>사실·가치·정책으로 분류하는</a:t>
            </a:r>
            <a:br/>
            <a:r>
              <a:t>모둠 활동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83280"/>
            <a:ext cx="1828800" cy="1828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9BD9"/>
                </a:solidFill>
                <a:latin typeface="맑은 고딕"/>
              </a:defRPr>
            </a:pPr>
            <a:r>
              <a:t>💡 수업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신문 사설이나 시사 이슈에서</a:t>
            </a:r>
            <a:br/>
            <a:r>
              <a:t>논제를 직접 뽑아보면</a:t>
            </a:r>
            <a:br/>
            <a:r>
              <a:t>현실감이 높아집니다.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097280"/>
            <a:ext cx="2743200" cy="4663440"/>
          </a:xfrm>
          <a:prstGeom prst="roundRect">
            <a:avLst/>
          </a:prstGeom>
          <a:solidFill>
            <a:srgbClr val="F0F7EC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31920" y="1234440"/>
            <a:ext cx="1280160" cy="365760"/>
          </a:xfrm>
          <a:prstGeom prst="round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37360"/>
            <a:ext cx="237744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BB36A"/>
                </a:solidFill>
                <a:latin typeface="맑은 고딕"/>
              </a:defRPr>
            </a:pPr>
            <a:r>
              <a:rPr spc="-150" dirty="0" err="1"/>
              <a:t>주장-근거-논거</a:t>
            </a:r>
            <a:r>
              <a:rPr spc="-150" dirty="0"/>
              <a:t> </a:t>
            </a:r>
            <a:r>
              <a:rPr spc="-150" dirty="0" err="1"/>
              <a:t>세우기</a:t>
            </a:r>
            <a:endParaRPr spc="-150" dirty="0"/>
          </a:p>
        </p:txBody>
      </p:sp>
      <p:sp>
        <p:nvSpPr>
          <p:cNvPr id="17" name="TextBox 16"/>
          <p:cNvSpPr txBox="1"/>
          <p:nvPr/>
        </p:nvSpPr>
        <p:spPr>
          <a:xfrm>
            <a:off x="3429000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하나의 논제에 대해</a:t>
            </a:r>
            <a:br/>
            <a:r>
              <a:t>주장·근거·논거를 워크시트로</a:t>
            </a:r>
            <a:br/>
            <a:r>
              <a:t>구조화하는 개별 활동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3383280"/>
            <a:ext cx="1828800" cy="1828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3520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B36A"/>
                </a:solidFill>
                <a:latin typeface="맑은 고딕"/>
              </a:defRPr>
            </a:pPr>
            <a:r>
              <a:t>💡 수업 Tip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"왜?"를 세 번 반복하여</a:t>
            </a:r>
            <a:br/>
            <a:r>
              <a:t>묻는 활동으로</a:t>
            </a:r>
            <a:br/>
            <a:r>
              <a:t>논리의 깊이를 체감합니다.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59" y="1097280"/>
            <a:ext cx="2743200" cy="466344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E88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12279" y="1234440"/>
            <a:ext cx="1280160" cy="365760"/>
          </a:xfrm>
          <a:prstGeom prst="round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79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3차시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39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8D3F"/>
                </a:solidFill>
                <a:latin typeface="맑은 고딕"/>
              </a:defRPr>
            </a:pPr>
            <a:r>
              <a:t>쟁점 지도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논제 유형에 맞는 쟁점을</a:t>
            </a:r>
            <a:br/>
            <a:r>
              <a:t>마인드맵 형식으로</a:t>
            </a:r>
            <a:br/>
            <a:r>
              <a:t>시각화하는 모둠 활동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59" y="3383280"/>
            <a:ext cx="1828800" cy="1828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19" y="3520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8D3F"/>
                </a:solidFill>
                <a:latin typeface="맑은 고딕"/>
              </a:defRPr>
            </a:pPr>
            <a:r>
              <a:t>💡 수업 Tip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정책논제의 경우</a:t>
            </a:r>
            <a:br/>
            <a:r>
              <a:t>Stock Issues 4가지를</a:t>
            </a:r>
            <a:br/>
            <a:r>
              <a:t>체크리스트로 활용합니다.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1097280"/>
            <a:ext cx="2743200" cy="4663440"/>
          </a:xfrm>
          <a:prstGeom prst="roundRect">
            <a:avLst/>
          </a:prstGeom>
          <a:solidFill>
            <a:srgbClr val="FDF2F5"/>
          </a:solidFill>
          <a:ln w="19050">
            <a:solidFill>
              <a:srgbClr val="9B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692639" y="1234440"/>
            <a:ext cx="1280160" cy="365760"/>
          </a:xfrm>
          <a:prstGeom prst="round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39" y="1252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4차시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3999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9B7EC8"/>
                </a:solidFill>
                <a:latin typeface="맑은 고딕"/>
              </a:defRPr>
            </a:pPr>
            <a:r>
              <a:t>미니 토론 실전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22860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맑은 고딕"/>
              </a:defRPr>
            </a:pPr>
            <a:r>
              <a:t>1~3차시에서 준비한 내용을</a:t>
            </a:r>
            <a:br/>
            <a:r>
              <a:t>바탕으로 찬반 미니 토론</a:t>
            </a:r>
            <a:br/>
            <a:r>
              <a:t>실시 (10분 형식)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19" y="3383280"/>
            <a:ext cx="1828800" cy="1828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98279" y="3520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B7EC8"/>
                </a:solidFill>
                <a:latin typeface="맑은 고딕"/>
              </a:defRPr>
            </a:pPr>
            <a:r>
              <a:t>💡 수업 Tip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4A4A"/>
                </a:solidFill>
                <a:latin typeface="맑은 고딕"/>
              </a:defRPr>
            </a:pPr>
            <a:r>
              <a:t>청중 투표와 상호 피드백으로</a:t>
            </a:r>
            <a:br/>
            <a:r>
              <a:t>성찰의 기회를 제공하면</a:t>
            </a:r>
            <a:br/>
            <a:r>
              <a:t>학습 효과가 배가됩니다.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B36A"/>
                </a:solidFill>
                <a:latin typeface="맑은 고딕"/>
              </a:defRPr>
            </a:pPr>
            <a:r>
              <a:t>🌱 토론은 기능(skill)이 아니라 사고(thinking)의 문제입니다. 활동의 양보다 성찰의 깊이가 수업의 질을 결정합니다.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F5E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D4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6400800" cy="63500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20040"/>
            <a:ext cx="6172200" cy="63500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"/>
            <a:ext cx="5943600" cy="63500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94359"/>
            <a:ext cx="5715000" cy="63500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5486400" cy="63500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868680"/>
            <a:ext cx="5257800" cy="63500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1005839"/>
            <a:ext cx="5029200" cy="63500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1143000"/>
            <a:ext cx="4800600" cy="63500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286000" y="2011680"/>
            <a:ext cx="75895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B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0" y="2286000"/>
            <a:ext cx="6675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5BB36A"/>
                </a:solidFill>
                <a:latin typeface="맑은 고딕"/>
              </a:defRPr>
            </a:pPr>
            <a:r>
              <a:rPr spc="-300" dirty="0"/>
              <a:t>🌸 토론은 민주시민의 </a:t>
            </a:r>
            <a:r>
              <a:rPr spc="-300" dirty="0" err="1"/>
              <a:t>언어입니다</a:t>
            </a:r>
            <a:r>
              <a:rPr spc="-300" dirty="0"/>
              <a:t> 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0896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D2D2D"/>
                </a:solidFill>
                <a:latin typeface="맑은 고딕"/>
              </a:defRPr>
            </a:pPr>
            <a:r>
              <a:t>논리적으로 말하고, 비판적으로 듣고,</a:t>
            </a:r>
          </a:p>
          <a:p>
            <a:pPr algn="ctr">
              <a:spcBef>
                <a:spcPts val="800"/>
              </a:spcBef>
              <a:defRPr sz="2000" b="0">
                <a:solidFill>
                  <a:srgbClr val="2D2D2D"/>
                </a:solidFill>
                <a:latin typeface="맑은 고딕"/>
              </a:defRPr>
            </a:pPr>
            <a:r>
              <a:t>열린 마음으로 판단하는 힘 —</a:t>
            </a:r>
          </a:p>
          <a:p>
            <a:pPr algn="l">
              <a:defRPr sz="1000" b="0">
                <a:solidFill>
                  <a:srgbClr val="2D2D2D"/>
                </a:solidFill>
                <a:latin typeface="맑은 고딕"/>
              </a:defRPr>
            </a:pPr>
            <a:endParaRPr/>
          </a:p>
          <a:p>
            <a:pPr algn="ctr">
              <a:defRPr sz="1800" b="1">
                <a:solidFill>
                  <a:srgbClr val="5BB36A"/>
                </a:solidFill>
                <a:latin typeface="맑은 고딕"/>
              </a:defRPr>
            </a:pPr>
            <a:r>
              <a:t>그것이 우리가 교실에서 토론을 가르치는 이유입니다.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6B6B"/>
                </a:solidFill>
                <a:latin typeface="맑은 고딕"/>
              </a:defRPr>
            </a:pPr>
            <a:r>
              <a:t>『토론 설득의 기술』 2부 1장 주장, 근거, 논거 · 2장 논제와 쟁점을 중심으로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5029200"/>
            <a:ext cx="365760" cy="365760"/>
          </a:xfrm>
          <a:prstGeom prst="ellipse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" y="4389120"/>
            <a:ext cx="274320" cy="274320"/>
          </a:xfrm>
          <a:prstGeom prst="ellipse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515600" y="4754880"/>
            <a:ext cx="320040" cy="320040"/>
          </a:xfrm>
          <a:prstGeom prst="ellipse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75520" y="4114800"/>
            <a:ext cx="228600" cy="228600"/>
          </a:xfrm>
          <a:prstGeom prst="ellipse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72800" y="5486400"/>
            <a:ext cx="274320" cy="274320"/>
          </a:xfrm>
          <a:prstGeom prst="ellipse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6748272"/>
            <a:ext cx="1524061" cy="109728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23961" y="6748272"/>
            <a:ext cx="1524061" cy="109728"/>
          </a:xfrm>
          <a:prstGeom prst="rect">
            <a:avLst/>
          </a:prstGeom>
          <a:solidFill>
            <a:srgbClr val="E88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7922" y="6748272"/>
            <a:ext cx="1524061" cy="109728"/>
          </a:xfrm>
          <a:prstGeom prst="rect">
            <a:avLst/>
          </a:prstGeom>
          <a:solidFill>
            <a:srgbClr val="5BB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1883" y="6748272"/>
            <a:ext cx="1524061" cy="109728"/>
          </a:xfrm>
          <a:prstGeom prst="rect">
            <a:avLst/>
          </a:prstGeom>
          <a:solidFill>
            <a:srgbClr val="8ED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5844" y="6748272"/>
            <a:ext cx="1524061" cy="109728"/>
          </a:xfrm>
          <a:prstGeom prst="rect">
            <a:avLst/>
          </a:prstGeom>
          <a:solidFill>
            <a:srgbClr val="4A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19805" y="6748272"/>
            <a:ext cx="1524061" cy="109728"/>
          </a:xfrm>
          <a:prstGeom prst="rect">
            <a:avLst/>
          </a:prstGeom>
          <a:solidFill>
            <a:srgbClr val="87C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3766" y="6748272"/>
            <a:ext cx="1524061" cy="109728"/>
          </a:xfrm>
          <a:prstGeom prst="rect">
            <a:avLst/>
          </a:prstGeom>
          <a:solidFill>
            <a:srgbClr val="E88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667727" y="6748272"/>
            <a:ext cx="1524061" cy="109728"/>
          </a:xfrm>
          <a:prstGeom prst="rect">
            <a:avLst/>
          </a:prstGeom>
          <a:solidFill>
            <a:srgbClr val="9B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2555</Words>
  <Application>Microsoft Office PowerPoint</Application>
  <PresentationFormat>와이드스크린</PresentationFormat>
  <Paragraphs>329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9</cp:revision>
  <cp:lastPrinted>2026-04-09T07:29:46Z</cp:lastPrinted>
  <dcterms:created xsi:type="dcterms:W3CDTF">2013-01-27T09:14:16Z</dcterms:created>
  <dcterms:modified xsi:type="dcterms:W3CDTF">2026-04-09T07:49:08Z</dcterms:modified>
  <cp:category/>
</cp:coreProperties>
</file>